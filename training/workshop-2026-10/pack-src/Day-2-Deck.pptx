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5"/>
    <p:sldMasterId id="2147483809" r:id="rId6"/>
  </p:sldMasterIdLst>
  <p:notesMasterIdLst>
    <p:notesMasterId r:id="rId59"/>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structions" id="{28B56CEE-8637-5647-BB74-40F0BFBE79D4}">
          <p14:sldIdLst>
            <p14:sldId id="323"/>
            <p14:sldId id="356"/>
            <p14:sldId id="279"/>
            <p14:sldId id="283"/>
            <p14:sldId id="282"/>
            <p14:sldId id="348"/>
            <p14:sldId id="349"/>
            <p14:sldId id="350"/>
            <p14:sldId id="352"/>
            <p14:sldId id="353"/>
          </p14:sldIdLst>
        </p14:section>
        <p14:section name="2. Cover &amp; intro templates" id="{88BBD5BE-DD25-8C4D-BE7E-104CC9DA3736}">
          <p14:sldIdLst>
            <p14:sldId id="314"/>
            <p14:sldId id="315"/>
            <p14:sldId id="297"/>
            <p14:sldId id="309"/>
            <p14:sldId id="324"/>
            <p14:sldId id="291"/>
          </p14:sldIdLst>
        </p14:section>
        <p14:section name="3. Without section titles" id="{BC278635-3281-452E-8637-B2052F6B0D6D}">
          <p14:sldIdLst>
            <p14:sldId id="316"/>
            <p14:sldId id="273"/>
            <p14:sldId id="299"/>
            <p14:sldId id="343"/>
            <p14:sldId id="307"/>
            <p14:sldId id="277"/>
            <p14:sldId id="300"/>
            <p14:sldId id="276"/>
            <p14:sldId id="301"/>
            <p14:sldId id="310"/>
            <p14:sldId id="305"/>
            <p14:sldId id="308"/>
            <p14:sldId id="329"/>
            <p14:sldId id="325"/>
            <p14:sldId id="336"/>
          </p14:sldIdLst>
        </p14:section>
        <p14:section name="4. With section titles" id="{C5BC6A85-BD31-443C-827C-590F475EBD42}">
          <p14:sldIdLst>
            <p14:sldId id="317"/>
            <p14:sldId id="327"/>
            <p14:sldId id="294"/>
            <p14:sldId id="328"/>
            <p14:sldId id="330"/>
            <p14:sldId id="311"/>
            <p14:sldId id="331"/>
            <p14:sldId id="344"/>
            <p14:sldId id="340"/>
            <p14:sldId id="341"/>
            <p14:sldId id="342"/>
            <p14:sldId id="334"/>
            <p14:sldId id="312"/>
            <p14:sldId id="319"/>
            <p14:sldId id="337"/>
          </p14:sldIdLst>
        </p14:section>
        <p14:section name="4. Dividers" id="{208E833F-810D-034E-9558-A660FB0FF8A3}">
          <p14:sldIdLst>
            <p14:sldId id="287"/>
            <p14:sldId id="269"/>
            <p14:sldId id="271"/>
          </p14:sldIdLst>
        </p14:section>
        <p14:section name="5. Closing Slide" id="{EB3010BC-3C6D-BA4F-B445-106E3E5F873B}">
          <p14:sldIdLst>
            <p14:sldId id="303"/>
            <p14:sldId id="355"/>
            <p14:sldId id="354"/>
          </p14:sldIdLst>
        </p14:section>
      </p14:sectionLst>
    </p:ext>
    <p:ext uri="{EFAFB233-063F-42B5-8137-9DF3F51BA10A}">
      <p15:sldGuideLst xmlns:p15="http://schemas.microsoft.com/office/powerpoint/2012/main">
        <p15:guide id="1" orient="horz" pos="144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becca Stephen" initials="RS" lastIdx="12" clrIdx="0">
    <p:extLst>
      <p:ext uri="{19B8F6BF-5375-455C-9EA6-DF929625EA0E}">
        <p15:presenceInfo xmlns:p15="http://schemas.microsoft.com/office/powerpoint/2012/main" userId="S::Rebecca.Stephen@seadrill.com::9f7275cb-a94a-415d-af92-969a22fc70e8" providerId="AD"/>
      </p:ext>
    </p:extLst>
  </p:cmAuthor>
  <p:cmAuthor id="2" name="Sara Dunne" initials="SD" lastIdx="19" clrIdx="1">
    <p:extLst>
      <p:ext uri="{19B8F6BF-5375-455C-9EA6-DF929625EA0E}">
        <p15:presenceInfo xmlns:p15="http://schemas.microsoft.com/office/powerpoint/2012/main" userId="S::Sara.Dunne@seadrill.com::6cf376d1-5e27-46db-8040-da1d73384485" providerId="AD"/>
      </p:ext>
    </p:extLst>
  </p:cmAuthor>
  <p:cmAuthor id="3" name="Tom Knott" initials="TK" lastIdx="9" clrIdx="2">
    <p:extLst>
      <p:ext uri="{19B8F6BF-5375-455C-9EA6-DF929625EA0E}">
        <p15:presenceInfo xmlns:p15="http://schemas.microsoft.com/office/powerpoint/2012/main" userId="Tom Knott" providerId="None"/>
      </p:ext>
    </p:extLst>
  </p:cmAuthor>
  <p:cmAuthor id="4" name="Jane Linton" initials="JL" lastIdx="8" clrIdx="3">
    <p:extLst>
      <p:ext uri="{19B8F6BF-5375-455C-9EA6-DF929625EA0E}">
        <p15:presenceInfo xmlns:p15="http://schemas.microsoft.com/office/powerpoint/2012/main" userId="S::jane.linton@biggroup.co.uk::e5dacd1a-9615-4cdc-96ea-bbe76d41b6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77"/>
    <a:srgbClr val="DD1DD8"/>
    <a:srgbClr val="6A5000"/>
    <a:srgbClr val="5E2507"/>
    <a:srgbClr val="717F81"/>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97" d="100"/>
          <a:sy n="97" d="100"/>
        </p:scale>
        <p:origin x="1110" y="306"/>
      </p:cViewPr>
      <p:guideLst>
        <p:guide orient="horz" pos="144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59" Type="http://schemas.openxmlformats.org/officeDocument/2006/relationships/notesMaster" Target="notesMasters/notesMaster1.xml"/><Relationship Id="rId60" Type="http://schemas.openxmlformats.org/officeDocument/2006/relationships/commentAuthors" Target="commentAuthors.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E7CF4-1A7C-9F43-888F-B617ABB79FAD}"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9FFAD-4FBC-DE4C-923C-D24C6F4A0A59}" type="slidenum">
              <a:rPr lang="en-US" smtClean="0"/>
              <a:t>‹#›</a:t>
            </a:fld>
            <a:endParaRPr lang="en-US"/>
          </a:p>
        </p:txBody>
      </p:sp>
    </p:spTree>
    <p:extLst>
      <p:ext uri="{BB962C8B-B14F-4D97-AF65-F5344CB8AC3E}">
        <p14:creationId xmlns:p14="http://schemas.microsoft.com/office/powerpoint/2010/main" val="3735686432"/>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4"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3" algn="l" defTabSz="914309" rtl="0" eaLnBrk="1" latinLnBrk="0" hangingPunct="1">
      <a:defRPr sz="1200" kern="1200">
        <a:solidFill>
          <a:schemeClr val="tx1"/>
        </a:solidFill>
        <a:latin typeface="+mn-lt"/>
        <a:ea typeface="+mn-ea"/>
        <a:cs typeface="+mn-cs"/>
      </a:defRPr>
    </a:lvl4pPr>
    <a:lvl5pPr marL="1828617" algn="l" defTabSz="914309" rtl="0" eaLnBrk="1" latinLnBrk="0" hangingPunct="1">
      <a:defRPr sz="1200" kern="1200">
        <a:solidFill>
          <a:schemeClr val="tx1"/>
        </a:solidFill>
        <a:latin typeface="+mn-lt"/>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Yesterday was about getting a report from blank to posted. Today is about what happens to it after that: the precharge loop, the dashboards that read your posts, Argo Navis for Between Well Maintenance, and how the pieces connect.</a:t>
            </a:r>
          </a:p>
          <a:p>
            <a:r>
              <a:t>The one thing we must leave with today is the agreement at the 13:00 hold point on daily reporting.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demonstration and follow-along only. I drive everything on the projector; you follow on your laptops, but you post nothing, save nothing to the server and press no Post buttons. The Training Manual has every step as a how-to guide.</a:t>
            </a:r>
          </a:p>
          <a:p>
            <a:r>
              <a:t>Walk the day. Point out the hold point inside Module 7: that is where we agree the daily reporting requirement for the fleet, and we do not move on until we have.</a:t>
            </a:r>
          </a:p>
          <a:p>
            <a:r>
              <a:t>Breaks are at 10:00 and 14:30, lunch at 12:00. Feedback at the end goes straight onto the action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Two hours on the precharge: how a request becomes an issued sheet and a PDF, who is told, and who 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left to right. The rig asks, we calculate, the calculator produces the issued sheet, and the sheet prints to a PDF.</a:t>
            </a:r>
          </a:p>
          <a:p>
            <a:r>
              <a:t>The request carries the one figure we cannot proceed without: the minimum shear pressure at the ram, subsea.</a:t>
            </a:r>
          </a:p>
          <a:p>
            <a:r>
              <a:t>Say it out loud: the PDF issued by Technical Services is the controlled document. If anyone is charging from a screenshot or an email body, stop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request goes to the office, the issued sheet goes to the rig's people on To, the office on Cc. We put the rig on To deliberately: rigs filter Cc.</a:t>
            </a:r>
          </a:p>
          <a:p>
            <a:r>
              <a:t>The record is the post in PostedReports and the PDF inside it; the dashboard pairs the sheet with its request by rig and well name.</a:t>
            </a:r>
          </a:p>
          <a:p>
            <a:r>
              <a:t>Two signatures at the foot of the PDF: calculated and verified, two different people. The timestamp is not a signature.</a:t>
            </a:r>
          </a:p>
          <a:p>
            <a:r>
              <a:t>Everything is under MOC: the calculator, the rig presets and every change to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work all three requests on the projector; the room follows on their laptops and posts nothing. I load each one with Load .json from the training files.</a:t>
            </a:r>
          </a:p>
          <a:p>
            <a:r>
              <a:t>What the room should see: Tellus sets 3,725 PSIG, checks pass. Neptune gives a per-accumulator table, identical for BOP 1 and BOP 2. Gemini gives an API optimum of 4,750 PSIG.</a:t>
            </a:r>
          </a:p>
          <a:p>
            <a:r>
              <a:t>If time allows, show Tellus with shear 4,105: the sheet fails and the post is refused. The Training Manual has each step.</a:t>
            </a:r>
          </a:p>
          <a:p>
            <a:r>
              <a:t>Nothing is posted from this class. Not one 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Everything you posted yesterday is read by the scanner and shown here. This is where other people see your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dashboard on the screen and go through the tabs left to right, one sentence each.</a:t>
            </a:r>
          </a:p>
          <a:p>
            <a:r>
              <a:t>Then open Monday's demonstration report on SSCE Equipment from the Report list while the room follows on their laptops. If it were not there, that is the Errors button, next slide.</a:t>
            </a:r>
          </a:p>
          <a:p>
            <a:r>
              <a:t>Make the point: if it is on the dashboard, everyone can see it. That is the difference between posted and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heatmap is the fleet view of CBM: one glance shows where the poor grades are. Stress that a blank cell is missing evidence, not good news.</a:t>
            </a:r>
          </a:p>
          <a:p>
            <a:r>
              <a:t>The full-report viewer shows exactly what was posted. Captions and photographs are part of the record.</a:t>
            </a:r>
          </a:p>
          <a:p>
            <a:r>
              <a:t>The Errors button: if your report is missing, look here first. Do not post the same file again until you know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page managers look at first. One tile per rig and BOP: ready date, need date, and the float between them.</a:t>
            </a:r>
          </a:p>
          <a:p>
            <a:r>
              <a:t>The ready date comes from BOP work only, which we will see in Argo Navis this afternoon.</a:t>
            </a:r>
          </a:p>
          <a:p>
            <a:r>
              <a:t>Every daily report the rig posts updates the tile. If the tile is stale, the report is late.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CoC dashboard and search for one certificate live. The habit we want: look here before emailing the office.</a:t>
            </a:r>
          </a:p>
          <a:p>
            <a:r>
              <a:t>If a certificate is missing or wrong, raise an SSCE request. It goes through the Help Centre, so it is tracked and has a receipt; I demonstrate one in Module 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Advisory, acknowledgement, review, close. Show one advisory on the Bulletin Board and its row on the AAB tab.</a:t>
            </a:r>
          </a:p>
          <a:p>
            <a:r>
              <a:t>The trap: a rig acknowledges and thinks it is done. Acknowledging only says you read it; the review is the check on your own equipment.</a:t>
            </a:r>
          </a:p>
          <a:p>
            <a:r>
              <a:t>The office closes it only when every affected rig has reviewed.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demonstrate this live; the room watches. Ask two or three questions the room suggests.</a:t>
            </a:r>
          </a:p>
          <a:p>
            <a:r>
              <a:t>Point out that every answer names the reports it came from. Open one and check it.</a:t>
            </a:r>
          </a:p>
          <a:p>
            <a:r>
              <a:t>It is coming for everyone. It only knows what has been posted, so the quality of the answers is the quality of your reports.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with Lee. Argo Navis is how a BWM plan is built, reviewed, frozen, executed and closed out. Inside this module is the hold point on daily reporting.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steps. Open the landing page: New, or Existing by rig. Existing opens the latest saved plan exactly where it was left.</a:t>
            </a:r>
          </a:p>
          <a:p>
            <a:r>
              <a:t>The freeze is Hold 1, in yellow: nothing is executed before the scope is frozen.</a:t>
            </a:r>
          </a:p>
          <a:p>
            <a:r>
              <a:t>Save whenever you like; it also saves itself at every step and every 30 minutes, so a closed browser does not lose the plan.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work order belongs to an SFI group. 331 and 332 are the BOP group; that is the line at the top of the chronology.</a:t>
            </a:r>
          </a:p>
          <a:p>
            <a:r>
              <a:t>BOP % and the BOP ready date come from BOP work only: on beams, testing complete, drifted, the pre-deployment call, ready to deploy.</a:t>
            </a:r>
          </a:p>
          <a:p>
            <a:r>
              <a:t>Float is the gap to the BOP need date. That is the number on the Fleet Planning tile this morning.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for review sends the plan to the reviewers; they verify in the Help Centre, Plans tab. Refresh review re-reads that state into the plan.</a:t>
            </a:r>
          </a:p>
          <a:p>
            <a:r>
              <a:t>Freeze only when every required reviewer has verified. You can override, but it needs your name and a reason, and the plan shows it in red for everyone.</a:t>
            </a:r>
          </a:p>
          <a:p>
            <a:r>
              <a:t>After the freeze the scope is locked. Anything new is break-in work,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means 100% at the time you mark it, so mark it when it is done.</a:t>
            </a:r>
          </a:p>
          <a:p>
            <a:r>
              <a:t>Break-in work gets a BRK number. The rig controls it, it moves the finish, the float, the critical path and the BOP ready date, and it shows up in the next daily report.</a:t>
            </a:r>
          </a:p>
          <a:p>
            <a:r>
              <a:t>A deferral without a reason is not accepted. Open one job plan checklist and show Done, N/A and Not OK.</a:t>
            </a:r>
          </a:p>
          <a:p>
            <a:r>
              <a:t>The chronology shows real dates, the Now line and the milestone stars.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hold point. Lee leads it.</a:t>
            </a:r>
          </a:p>
          <a:p>
            <a:r>
              <a:t>The Daily Summary Report is posted twice a day by the rig, from Argo Navis, after each shift handover. The planner no longer issues it.</a:t>
            </a:r>
          </a:p>
          <a:p>
            <a:r>
              <a:t>The report time is the rig's own: most will use 0700 and 1900, but it is their handover that sets it.</a:t>
            </a:r>
          </a:p>
          <a:p>
            <a:r>
              <a:t>We do not move on from this until we have agreed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contents. These are the same headings the planner's Word report had, now filled from the plan itself.</a:t>
            </a:r>
          </a:p>
          <a:p>
            <a:r>
              <a:t>Variance and float are in hours. BOP % is BOP work only.</a:t>
            </a:r>
          </a:p>
          <a:p>
            <a:r>
              <a:t>Nobody has to send it: posting it sends the email with the PDF and a dashboard link to the rig's leadership and the office leads, Cc the TSC WCE managers, superintendents and planners, and adds a line to the plan's Teams chat.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this in live with the room; Lee owns the decisions, I write them down.</a:t>
            </a:r>
          </a:p>
          <a:p>
            <a:r>
              <a:t>For each row: what we agreed, and one named owner.</a:t>
            </a:r>
          </a:p>
          <a:p>
            <a:r>
              <a:t>Form control: does the report keep PPDSR030918 at a new revision, or does it get a new number? Leave with an owner for that.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Argo Navis is the route for BWM. P6 projects stay in P6, and the rig posts the same report from WCGRRT's Planning Report, importing the ERT for the numbers.</a:t>
            </a:r>
          </a:p>
          <a:p>
            <a:r>
              <a:t>Both print the same Daily Summary Report from the same code, follow the same rules and send the same email.</a:t>
            </a:r>
          </a:p>
          <a:p>
            <a:r>
              <a:t>The filename carries the report time, so two reports a day never overwrite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Close-out is the last post on the plan.</a:t>
            </a:r>
          </a:p>
          <a:p>
            <a:r>
              <a:t>The close-out pack joins every record for the plan into one PDF, with a contents page listing every file in the project folder.</a:t>
            </a:r>
          </a:p>
          <a:p>
            <a:r>
              <a:t>That one PDF is what goes to eDocs. Today it is filed by hand; automatic filing is on the What is coming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with Lee. How the tools connect, what a failure looks like at each step, and the Help Centre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on the whiteboard as you talk. Four tools post through one intake into PostedReports.</a:t>
            </a:r>
          </a:p>
          <a:p>
            <a:r>
              <a:t>The SACRED scanner reads PostedReports every ten minutes and produces the dashboards, the PDFs and the notifications.</a:t>
            </a:r>
          </a:p>
          <a:p>
            <a:r>
              <a:t>The Help Centre uses the same road. The Fabric database is being built underneath, so the whole fleet's records can be queried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row by row. The key message: at every step there is somewhere you can look.</a:t>
            </a:r>
          </a:p>
          <a:p>
            <a:r>
              <a:t>If the tool says NOT posted, do not post again: the outbox sends it when the connection is back.</a:t>
            </a:r>
          </a:p>
          <a:p>
            <a:r>
              <a:t>If it posted but is not on the dashboard, check the status page and then the Errors button. Flow failures land with me in the run history.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post one request on SSCE Equipment on the projector; the room watches and posts nothing. That asset keeps every notification inside the office.</a:t>
            </a:r>
          </a:p>
          <a:p>
            <a:r>
              <a:t>Then follow it round together: the email, the line in the Teams chat, the receipt, and I acknowledge it from the page.</a:t>
            </a:r>
          </a:p>
          <a:p>
            <a:r>
              <a:t>Make the point that acknowledging is done on the page, so it is recorded; a reply to the email is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things over the next six months. Go quickly; the detail is for questions.</a:t>
            </a:r>
          </a:p>
          <a:p>
            <a:r>
              <a:t>eDocs filing becomes automatic once ISIT give us access. Tablets can work offline once the server is on HTTPS.</a:t>
            </a:r>
          </a:p>
          <a:p>
            <a:r>
              <a:t>Seadrill CORE puts the technical standards beside the tools, by rig, region and SFI.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minutes, everyone speaks. Start with what is hard on the rig today, then what the tools should do next.</a:t>
            </a:r>
          </a:p>
          <a:p>
            <a:r>
              <a:t>Write each point straight onto the action list on screen, with an owner and a date.</a:t>
            </a:r>
          </a:p>
          <a:p>
            <a:r>
              <a:t>Close by reading the list back.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These are the four links; they are also in your Training Manual.</a:t>
            </a:r>
          </a:p>
          <a:p>
            <a:r>
              <a:t>Anything that goes wrong with a tool, or anything you want it to do, comes to 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7"/>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1" y="380941"/>
            <a:ext cx="571288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6" y="1999477"/>
            <a:ext cx="1304767" cy="478341"/>
          </a:xfrm>
          <a:prstGeom prst="rect">
            <a:avLst/>
          </a:prstGeom>
        </p:spPr>
      </p:pic>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394985" y="4183555"/>
            <a:ext cx="5316841" cy="492366"/>
          </a:xfrm>
          <a:prstGeom prst="rect">
            <a:avLst/>
          </a:prstGeom>
        </p:spPr>
        <p:txBody>
          <a:bodyPr lIns="0" rIns="0" anchor="t" anchorCtr="0"/>
          <a:lstStyle>
            <a:lvl1pPr marL="0" indent="0" algn="l">
              <a:spcBef>
                <a:spcPts val="0"/>
              </a:spcBef>
              <a:spcAft>
                <a:spcPts val="200"/>
              </a:spcAft>
              <a:buNone/>
              <a:defRPr sz="36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1884839512"/>
      </p:ext>
    </p:extLst>
  </p:cSld>
  <p:clrMapOvr>
    <a:masterClrMapping/>
  </p:clrMapOvr>
  <p:extLst>
    <p:ext uri="{DCECCB84-F9BA-43D5-87BE-67443E8EF086}">
      <p15:sldGuideLst xmlns:p15="http://schemas.microsoft.com/office/powerpoint/2012/main">
        <p15:guide id="3" pos="234" userDrawn="1">
          <p15:clr>
            <a:srgbClr val="FBAE40"/>
          </p15:clr>
        </p15:guide>
        <p15:guide id="4" pos="7446" userDrawn="1">
          <p15:clr>
            <a:srgbClr val="FBAE40"/>
          </p15:clr>
        </p15:guide>
        <p15:guide id="5" orient="horz" pos="2558">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389468" y="380941"/>
            <a:ext cx="11419417" cy="609611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640795940"/>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2" y="0"/>
            <a:ext cx="12192001" cy="6858000"/>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78872431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guide id="7"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Long Title 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550897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73912"/>
            <a:ext cx="4892449" cy="1329595"/>
          </a:xfrm>
          <a:prstGeom prst="rect">
            <a:avLst/>
          </a:prstGeom>
        </p:spPr>
        <p:txBody>
          <a:bodyPr wrap="square" lIns="0" tIns="0" rIns="0" bIns="0" anchor="b" anchorCtr="0">
            <a:spAutoFit/>
          </a:bodyPr>
          <a:lstStyle>
            <a:lvl1pPr marL="0" indent="0">
              <a:lnSpc>
                <a:spcPct val="80000"/>
              </a:lnSpc>
              <a:spcBef>
                <a:spcPts val="0"/>
              </a:spcBef>
              <a:buNone/>
              <a:defRPr sz="5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Presentation title in one line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356882" y="336207"/>
            <a:ext cx="4305428" cy="365068"/>
          </a:xfrm>
        </p:spPr>
        <p:txBody>
          <a:bodyPr lIns="0" rIns="0" anchor="t" anchorCtr="0"/>
          <a:lstStyle>
            <a:lvl1pPr algn="l">
              <a:defRPr b="1" i="0" u="none">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4206328"/>
            <a:ext cx="4892449"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32061C02-590C-472C-A4E9-BD821E91E0D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6884" y="1913572"/>
            <a:ext cx="1878316" cy="688609"/>
          </a:xfrm>
          <a:prstGeom prst="rect">
            <a:avLst/>
          </a:prstGeom>
        </p:spPr>
      </p:pic>
      <p:sp>
        <p:nvSpPr>
          <p:cNvPr id="8" name="Picture Placeholder 4">
            <a:extLst>
              <a:ext uri="{FF2B5EF4-FFF2-40B4-BE49-F238E27FC236}">
                <a16:creationId xmlns:a16="http://schemas.microsoft.com/office/drawing/2014/main" id="{8BFA3C67-A1F1-A17E-4107-28D8F1CBBCB8}"/>
              </a:ext>
            </a:extLst>
          </p:cNvPr>
          <p:cNvSpPr>
            <a:spLocks noGrp="1"/>
          </p:cNvSpPr>
          <p:nvPr>
            <p:ph type="pic" sz="quarter" idx="17" hasCustomPrompt="1"/>
          </p:nvPr>
        </p:nvSpPr>
        <p:spPr>
          <a:xfrm>
            <a:off x="5508979" y="3438582"/>
            <a:ext cx="632613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9" name="Picture Placeholder 4">
            <a:extLst>
              <a:ext uri="{FF2B5EF4-FFF2-40B4-BE49-F238E27FC236}">
                <a16:creationId xmlns:a16="http://schemas.microsoft.com/office/drawing/2014/main" id="{A589B632-C81B-5144-E0FB-DCAD0320B1E1}"/>
              </a:ext>
            </a:extLst>
          </p:cNvPr>
          <p:cNvSpPr>
            <a:spLocks noGrp="1"/>
          </p:cNvSpPr>
          <p:nvPr>
            <p:ph type="pic" sz="quarter" idx="18" hasCustomPrompt="1"/>
          </p:nvPr>
        </p:nvSpPr>
        <p:spPr>
          <a:xfrm>
            <a:off x="867422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Tree>
    <p:extLst>
      <p:ext uri="{BB962C8B-B14F-4D97-AF65-F5344CB8AC3E}">
        <p14:creationId xmlns:p14="http://schemas.microsoft.com/office/powerpoint/2010/main" val="2396431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7" y="2829549"/>
            <a:ext cx="3397024" cy="1354008"/>
          </a:xfrm>
          <a:prstGeom prst="rect">
            <a:avLst/>
          </a:prstGeom>
        </p:spPr>
        <p:txBody>
          <a:bodyPr wrap="square" lIns="0" tIns="0" rIns="0" bIns="0" anchor="ctr" anchorCtr="0">
            <a:noAutofit/>
          </a:bodyPr>
          <a:lstStyle>
            <a:lvl1pPr marL="0" indent="0" algn="r">
              <a:lnSpc>
                <a:spcPct val="80000"/>
              </a:lnSpc>
              <a:spcBef>
                <a:spcPts val="0"/>
              </a:spcBef>
              <a:buNone/>
              <a:defRPr sz="4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 goes here</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345103"/>
            <a:ext cx="1304767" cy="478341"/>
          </a:xfrm>
          <a:prstGeom prst="rect">
            <a:avLst/>
          </a:prstGeom>
        </p:spPr>
      </p:pic>
      <p:sp>
        <p:nvSpPr>
          <p:cNvPr id="2" name="Picture Placeholder 4">
            <a:extLst>
              <a:ext uri="{FF2B5EF4-FFF2-40B4-BE49-F238E27FC236}">
                <a16:creationId xmlns:a16="http://schemas.microsoft.com/office/drawing/2014/main" id="{05443B0C-0512-817A-F81A-E702614F89FF}"/>
              </a:ext>
            </a:extLst>
          </p:cNvPr>
          <p:cNvSpPr>
            <a:spLocks noGrp="1"/>
          </p:cNvSpPr>
          <p:nvPr>
            <p:ph type="pic" sz="quarter" idx="15" hasCustomPrompt="1"/>
          </p:nvPr>
        </p:nvSpPr>
        <p:spPr>
          <a:xfrm>
            <a:off x="7943850" y="380942"/>
            <a:ext cx="386503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cxnSp>
        <p:nvCxnSpPr>
          <p:cNvPr id="9" name="Straight Connector 8">
            <a:extLst>
              <a:ext uri="{FF2B5EF4-FFF2-40B4-BE49-F238E27FC236}">
                <a16:creationId xmlns:a16="http://schemas.microsoft.com/office/drawing/2014/main" id="{C0FB7F63-005B-A24C-B355-62BC97A93021}"/>
              </a:ext>
            </a:extLst>
          </p:cNvPr>
          <p:cNvCxnSpPr/>
          <p:nvPr userDrawn="1"/>
        </p:nvCxnSpPr>
        <p:spPr>
          <a:xfrm>
            <a:off x="3984097" y="2409002"/>
            <a:ext cx="0" cy="2186482"/>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684A57E6-605C-9298-76D4-758BB261E90B}"/>
              </a:ext>
            </a:extLst>
          </p:cNvPr>
          <p:cNvSpPr>
            <a:spLocks noGrp="1"/>
          </p:cNvSpPr>
          <p:nvPr>
            <p:ph type="body" sz="quarter" idx="16" hasCustomPrompt="1"/>
          </p:nvPr>
        </p:nvSpPr>
        <p:spPr>
          <a:xfrm>
            <a:off x="4176184" y="2829546"/>
            <a:ext cx="3139017" cy="1354458"/>
          </a:xfrm>
        </p:spPr>
        <p:txBody>
          <a:bodyPr anchor="ctr" anchorCtr="0"/>
          <a:lstStyle>
            <a:lvl1pPr marL="0" indent="0">
              <a:lnSpc>
                <a:spcPct val="100000"/>
              </a:lnSpc>
              <a:spcBef>
                <a:spcPts val="800"/>
              </a:spcBef>
              <a:buNone/>
              <a:defRPr sz="1400"/>
            </a:lvl1pPr>
            <a:lvl2pPr marL="0" indent="0">
              <a:buNone/>
              <a:defRPr/>
            </a:lvl2pPr>
            <a:lvl3pPr marL="0" indent="0">
              <a:buNone/>
              <a:defRPr/>
            </a:lvl3pPr>
            <a:lvl4pPr marL="0" indent="0">
              <a:buNone/>
              <a:defRPr/>
            </a:lvl4pPr>
            <a:lvl5pPr marL="0" indent="0">
              <a:buNone/>
              <a:defRPr/>
            </a:lvl5pPr>
          </a:lstStyle>
          <a:p>
            <a:pPr lvl="0"/>
            <a:r>
              <a:rPr lang="en-US"/>
              <a:t>Topic one</a:t>
            </a:r>
          </a:p>
        </p:txBody>
      </p:sp>
    </p:spTree>
    <p:extLst>
      <p:ext uri="{BB962C8B-B14F-4D97-AF65-F5344CB8AC3E}">
        <p14:creationId xmlns:p14="http://schemas.microsoft.com/office/powerpoint/2010/main" val="32201699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Intro_Statem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383117" y="380942"/>
            <a:ext cx="114192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1" name="Text Placeholder 9">
            <a:extLst>
              <a:ext uri="{FF2B5EF4-FFF2-40B4-BE49-F238E27FC236}">
                <a16:creationId xmlns:a16="http://schemas.microsoft.com/office/drawing/2014/main" id="{88C9FF1D-8EC4-64F2-D640-DEA9AE8CF013}"/>
              </a:ext>
            </a:extLst>
          </p:cNvPr>
          <p:cNvSpPr>
            <a:spLocks noGrp="1"/>
          </p:cNvSpPr>
          <p:nvPr>
            <p:ph type="body" sz="quarter" idx="14" hasCustomPrompt="1"/>
          </p:nvPr>
        </p:nvSpPr>
        <p:spPr>
          <a:xfrm>
            <a:off x="1769807" y="3096390"/>
            <a:ext cx="8652387" cy="281103"/>
          </a:xfrm>
          <a:prstGeom prst="rect">
            <a:avLst/>
          </a:prstGeom>
        </p:spPr>
        <p:txBody>
          <a:bodyPr lIns="0" tIns="0" rIns="0" bIns="0" anchor="ctr" anchorCtr="0">
            <a:spAutoFit/>
          </a:bodyPr>
          <a:lstStyle>
            <a:lvl1pPr marL="0" indent="0" algn="ctr">
              <a:lnSpc>
                <a:spcPct val="110000"/>
              </a:lnSpc>
              <a:spcBef>
                <a:spcPts val="0"/>
              </a:spcBef>
              <a:spcAft>
                <a:spcPts val="800"/>
              </a:spcAft>
              <a:buNone/>
              <a:defRPr sz="1800" b="1">
                <a:solidFill>
                  <a:schemeClr val="bg1"/>
                </a:solidFill>
                <a:latin typeface="+mj-lt"/>
              </a:defRPr>
            </a:lvl1pPr>
            <a:lvl2pPr marL="0" indent="0">
              <a:lnSpc>
                <a:spcPct val="110000"/>
              </a:lnSpc>
              <a:buNone/>
              <a:defRPr sz="933"/>
            </a:lvl2pPr>
          </a:lstStyle>
          <a:p>
            <a:pPr lvl="0"/>
            <a:r>
              <a:rPr lang="en-US"/>
              <a:t>Intro text goes here</a:t>
            </a:r>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646669329"/>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Title 1">
            <a:extLst>
              <a:ext uri="{FF2B5EF4-FFF2-40B4-BE49-F238E27FC236}">
                <a16:creationId xmlns:a16="http://schemas.microsoft.com/office/drawing/2014/main" id="{37C35C11-5C4D-4B9D-1E20-2B603B70640D}"/>
              </a:ext>
            </a:extLst>
          </p:cNvPr>
          <p:cNvSpPr>
            <a:spLocks noGrp="1"/>
          </p:cNvSpPr>
          <p:nvPr>
            <p:ph type="title" hasCustomPrompt="1"/>
          </p:nvPr>
        </p:nvSpPr>
        <p:spPr>
          <a:xfrm>
            <a:off x="384000" y="383941"/>
            <a:ext cx="3411009" cy="436733"/>
          </a:xfrm>
        </p:spPr>
        <p:txBody>
          <a:bodyPr tIns="0" bIns="0" anchor="t" anchorCtr="0"/>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68B8C5C5-0BFA-16A2-CAC0-A4328B7C65BA}"/>
              </a:ext>
            </a:extLst>
          </p:cNvPr>
          <p:cNvSpPr>
            <a:spLocks noGrp="1"/>
          </p:cNvSpPr>
          <p:nvPr>
            <p:ph type="body" sz="quarter" idx="13" hasCustomPrompt="1"/>
          </p:nvPr>
        </p:nvSpPr>
        <p:spPr>
          <a:xfrm>
            <a:off x="384000" y="1991693"/>
            <a:ext cx="341100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9EC3CBA-EA7D-94F6-C2CB-D734C887E04D}"/>
              </a:ext>
            </a:extLst>
          </p:cNvPr>
          <p:cNvSpPr>
            <a:spLocks noGrp="1"/>
          </p:cNvSpPr>
          <p:nvPr>
            <p:ph type="body" sz="quarter" idx="14" hasCustomPrompt="1"/>
          </p:nvPr>
        </p:nvSpPr>
        <p:spPr>
          <a:xfrm>
            <a:off x="384000" y="2207662"/>
            <a:ext cx="3411009" cy="3887717"/>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7322694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Subtitle 2">
            <a:extLst>
              <a:ext uri="{FF2B5EF4-FFF2-40B4-BE49-F238E27FC236}">
                <a16:creationId xmlns:a16="http://schemas.microsoft.com/office/drawing/2014/main" id="{6810B706-0219-C317-2DA6-0D4AE49E602B}"/>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3" name="Title 2">
            <a:extLst>
              <a:ext uri="{FF2B5EF4-FFF2-40B4-BE49-F238E27FC236}">
                <a16:creationId xmlns:a16="http://schemas.microsoft.com/office/drawing/2014/main" id="{91691B28-1CB4-E764-6352-07DDF4198020}"/>
              </a:ext>
            </a:extLst>
          </p:cNvPr>
          <p:cNvSpPr>
            <a:spLocks noGrp="1"/>
          </p:cNvSpPr>
          <p:nvPr>
            <p:ph type="title" hasCustomPrompt="1"/>
          </p:nvPr>
        </p:nvSpPr>
        <p:spPr>
          <a:xfrm>
            <a:off x="384000" y="1276606"/>
            <a:ext cx="3406776" cy="822467"/>
          </a:xfrm>
        </p:spPr>
        <p:txBody>
          <a:bodyPr tIns="0" bIns="0" anchor="t"/>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A54DF731-7A35-E91B-12E3-5E586C75C099}"/>
              </a:ext>
            </a:extLst>
          </p:cNvPr>
          <p:cNvSpPr>
            <a:spLocks noGrp="1"/>
          </p:cNvSpPr>
          <p:nvPr>
            <p:ph type="body" sz="quarter" idx="13" hasCustomPrompt="1"/>
          </p:nvPr>
        </p:nvSpPr>
        <p:spPr>
          <a:xfrm>
            <a:off x="384000" y="2615596"/>
            <a:ext cx="3402543"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76BC1D5-CC3C-4C3B-9A2B-ADF2DD9ED9F5}"/>
              </a:ext>
            </a:extLst>
          </p:cNvPr>
          <p:cNvSpPr>
            <a:spLocks noGrp="1"/>
          </p:cNvSpPr>
          <p:nvPr>
            <p:ph type="body" sz="quarter" idx="14" hasCustomPrompt="1"/>
          </p:nvPr>
        </p:nvSpPr>
        <p:spPr>
          <a:xfrm>
            <a:off x="384000" y="2831563"/>
            <a:ext cx="3402543"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84975796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1276603"/>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1" name="Text Placeholder 9">
            <a:extLst>
              <a:ext uri="{FF2B5EF4-FFF2-40B4-BE49-F238E27FC236}">
                <a16:creationId xmlns:a16="http://schemas.microsoft.com/office/drawing/2014/main" id="{1F194FE6-099F-8CC1-4CB5-CD50F655AD91}"/>
              </a:ext>
            </a:extLst>
          </p:cNvPr>
          <p:cNvSpPr>
            <a:spLocks noGrp="1"/>
          </p:cNvSpPr>
          <p:nvPr>
            <p:ph type="body" sz="quarter" idx="13" hasCustomPrompt="1"/>
          </p:nvPr>
        </p:nvSpPr>
        <p:spPr>
          <a:xfrm>
            <a:off x="384000" y="2615596"/>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24200B9D-6238-5414-2FF0-76CEB5F22A18}"/>
              </a:ext>
            </a:extLst>
          </p:cNvPr>
          <p:cNvSpPr>
            <a:spLocks noGrp="1"/>
          </p:cNvSpPr>
          <p:nvPr>
            <p:ph type="body" sz="quarter" idx="14" hasCustomPrompt="1"/>
          </p:nvPr>
        </p:nvSpPr>
        <p:spPr>
          <a:xfrm>
            <a:off x="384000" y="2831563"/>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Subtitle 2">
            <a:extLst>
              <a:ext uri="{FF2B5EF4-FFF2-40B4-BE49-F238E27FC236}">
                <a16:creationId xmlns:a16="http://schemas.microsoft.com/office/drawing/2014/main" id="{3A622A3C-04FB-E753-44B9-525ECC4172CF}"/>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656642790"/>
      </p:ext>
    </p:extLst>
  </p:cSld>
  <p:clrMapOvr>
    <a:masterClrMapping/>
  </p:clrMapOvr>
  <p:extLst>
    <p:ext uri="{DCECCB84-F9BA-43D5-87BE-67443E8EF086}">
      <p15:sldGuideLst xmlns:p15="http://schemas.microsoft.com/office/powerpoint/2012/main">
        <p15:guide id="3" pos="7446" userDrawn="1">
          <p15:clr>
            <a:srgbClr val="FBAE40"/>
          </p15:clr>
        </p15:guide>
        <p15:guide id="4" pos="11158">
          <p15:clr>
            <a:srgbClr val="FBAE40"/>
          </p15:clr>
        </p15:guide>
        <p15:guide id="5" orient="horz" pos="5758">
          <p15:clr>
            <a:srgbClr val="FBAE40"/>
          </p15:clr>
        </p15:guide>
        <p15:guide id="6" pos="234" userDrawn="1">
          <p15:clr>
            <a:srgbClr val="FBAE40"/>
          </p15:clr>
        </p15:guide>
        <p15:guide id="7" pos="3840" userDrawn="1">
          <p15:clr>
            <a:srgbClr val="FBAE40"/>
          </p15:clr>
        </p15:guide>
        <p15:guide id="8" pos="36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383941"/>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Text Placeholder 9">
            <a:extLst>
              <a:ext uri="{FF2B5EF4-FFF2-40B4-BE49-F238E27FC236}">
                <a16:creationId xmlns:a16="http://schemas.microsoft.com/office/drawing/2014/main" id="{8C44FB80-9E6B-F90A-0620-A273055BCCB9}"/>
              </a:ext>
            </a:extLst>
          </p:cNvPr>
          <p:cNvSpPr>
            <a:spLocks noGrp="1"/>
          </p:cNvSpPr>
          <p:nvPr>
            <p:ph type="body" sz="quarter" idx="13" hasCustomPrompt="1"/>
          </p:nvPr>
        </p:nvSpPr>
        <p:spPr>
          <a:xfrm>
            <a:off x="384000" y="1991693"/>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1" name="Text Placeholder 9">
            <a:extLst>
              <a:ext uri="{FF2B5EF4-FFF2-40B4-BE49-F238E27FC236}">
                <a16:creationId xmlns:a16="http://schemas.microsoft.com/office/drawing/2014/main" id="{BA841CAC-9D54-76E5-24EA-01D7CB0F996C}"/>
              </a:ext>
            </a:extLst>
          </p:cNvPr>
          <p:cNvSpPr>
            <a:spLocks noGrp="1"/>
          </p:cNvSpPr>
          <p:nvPr>
            <p:ph type="body" sz="quarter" idx="14" hasCustomPrompt="1"/>
          </p:nvPr>
        </p:nvSpPr>
        <p:spPr>
          <a:xfrm>
            <a:off x="384000" y="2207659"/>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23070012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Tree>
    <p:extLst>
      <p:ext uri="{BB962C8B-B14F-4D97-AF65-F5344CB8AC3E}">
        <p14:creationId xmlns:p14="http://schemas.microsoft.com/office/powerpoint/2010/main" val="248025917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1276603"/>
            <a:ext cx="3408893"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2543607"/>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2759575"/>
            <a:ext cx="3406775" cy="333580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11" name="Subtitle 2">
            <a:extLst>
              <a:ext uri="{FF2B5EF4-FFF2-40B4-BE49-F238E27FC236}">
                <a16:creationId xmlns:a16="http://schemas.microsoft.com/office/drawing/2014/main" id="{4F598440-E671-0975-CDAC-530CC9707630}"/>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81288538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hort 2 Line Title Slide">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4079313797"/>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2638" userDrawn="1">
          <p15:clr>
            <a:srgbClr val="FBAE40"/>
          </p15:clr>
        </p15:guide>
        <p15:guide id="7" pos="3840" userDrawn="1">
          <p15:clr>
            <a:srgbClr val="FBAE40"/>
          </p15:clr>
        </p15:guide>
        <p15:guide id="9" pos="744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954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578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5" y="1276603"/>
            <a:ext cx="11425767"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4" name="Subtitle 2">
            <a:extLst>
              <a:ext uri="{FF2B5EF4-FFF2-40B4-BE49-F238E27FC236}">
                <a16:creationId xmlns:a16="http://schemas.microsoft.com/office/drawing/2014/main" id="{42DE1B81-B08E-5002-45CF-77CD29AC6033}"/>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86867700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52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6" y="383941"/>
            <a:ext cx="11433870"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71087987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2538150"/>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2749317"/>
            <a:ext cx="7614011" cy="3343627"/>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1276603"/>
            <a:ext cx="11407078"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2538150"/>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Subtitle 2">
            <a:extLst>
              <a:ext uri="{FF2B5EF4-FFF2-40B4-BE49-F238E27FC236}">
                <a16:creationId xmlns:a16="http://schemas.microsoft.com/office/drawing/2014/main" id="{BF056422-0546-E069-A22A-0EA29C783151}"/>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5" name="Text Placeholder 4">
            <a:extLst>
              <a:ext uri="{FF2B5EF4-FFF2-40B4-BE49-F238E27FC236}">
                <a16:creationId xmlns:a16="http://schemas.microsoft.com/office/drawing/2014/main" id="{4A2E6A67-3A3F-778F-F2B2-EBBA8A5FC003}"/>
              </a:ext>
            </a:extLst>
          </p:cNvPr>
          <p:cNvSpPr>
            <a:spLocks noGrp="1"/>
          </p:cNvSpPr>
          <p:nvPr>
            <p:ph type="body" sz="quarter" idx="19" hasCustomPrompt="1"/>
          </p:nvPr>
        </p:nvSpPr>
        <p:spPr>
          <a:xfrm>
            <a:off x="383117" y="2749317"/>
            <a:ext cx="3408892" cy="3263396"/>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2878371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1903007"/>
            <a:ext cx="7614011" cy="4228431"/>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383941"/>
            <a:ext cx="11423652"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1655745"/>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Table / graph header</a:t>
            </a:r>
          </a:p>
        </p:txBody>
      </p:sp>
      <p:sp>
        <p:nvSpPr>
          <p:cNvPr id="5" name="Text Placeholder 4">
            <a:extLst>
              <a:ext uri="{FF2B5EF4-FFF2-40B4-BE49-F238E27FC236}">
                <a16:creationId xmlns:a16="http://schemas.microsoft.com/office/drawing/2014/main" id="{E0360B99-C172-B7C3-E277-30F24912F442}"/>
              </a:ext>
            </a:extLst>
          </p:cNvPr>
          <p:cNvSpPr>
            <a:spLocks noGrp="1"/>
          </p:cNvSpPr>
          <p:nvPr>
            <p:ph type="body" sz="quarter" idx="20" hasCustomPrompt="1"/>
          </p:nvPr>
        </p:nvSpPr>
        <p:spPr>
          <a:xfrm>
            <a:off x="395389" y="1895707"/>
            <a:ext cx="3396619" cy="4228447"/>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6779204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2749320"/>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1276603"/>
            <a:ext cx="1143288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20" name="Subtitle 2">
            <a:extLst>
              <a:ext uri="{FF2B5EF4-FFF2-40B4-BE49-F238E27FC236}">
                <a16:creationId xmlns:a16="http://schemas.microsoft.com/office/drawing/2014/main" id="{DFD1D543-EB77-F6A8-A61A-0F4C70916D7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610420658"/>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1871712"/>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383941"/>
            <a:ext cx="11425765"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Tree>
    <p:extLst>
      <p:ext uri="{BB962C8B-B14F-4D97-AF65-F5344CB8AC3E}">
        <p14:creationId xmlns:p14="http://schemas.microsoft.com/office/powerpoint/2010/main" val="20808258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7212"/>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Main line Header</a:t>
            </a:r>
            <a:endParaRPr lang="en-GB" dirty="0"/>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2112283"/>
            <a:ext cx="3406773" cy="3980660"/>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2112283"/>
            <a:ext cx="3380848" cy="398066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Subtitle 2">
            <a:extLst>
              <a:ext uri="{FF2B5EF4-FFF2-40B4-BE49-F238E27FC236}">
                <a16:creationId xmlns:a16="http://schemas.microsoft.com/office/drawing/2014/main" id="{D49BF4C9-4FE1-D86A-DC07-0005CB528CBD}"/>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27938113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215965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sp>
        <p:nvSpPr>
          <p:cNvPr id="45" name="Subtitle 2">
            <a:extLst>
              <a:ext uri="{FF2B5EF4-FFF2-40B4-BE49-F238E27FC236}">
                <a16:creationId xmlns:a16="http://schemas.microsoft.com/office/drawing/2014/main" id="{6E8D00D1-0B68-B475-77C5-3449D19C6C69}"/>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57671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3840" userDrawn="1">
          <p15:clr>
            <a:srgbClr val="FBAE40"/>
          </p15:clr>
        </p15:guide>
        <p15:guide id="3" pos="744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179698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40026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744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304249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8" name="Subtitle 2">
            <a:extLst>
              <a:ext uri="{FF2B5EF4-FFF2-40B4-BE49-F238E27FC236}">
                <a16:creationId xmlns:a16="http://schemas.microsoft.com/office/drawing/2014/main" id="{BC37B91A-0D0E-6CDD-D60B-6D281366D60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97160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7446" userDrawn="1">
          <p15:clr>
            <a:srgbClr val="FBAE40"/>
          </p15:clr>
        </p15:guide>
        <p15:guide id="3" pos="23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2550613"/>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23756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234" userDrawn="1">
          <p15:clr>
            <a:srgbClr val="FBAE40"/>
          </p15:clr>
        </p15:guide>
        <p15:guide id="3" pos="744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Single line Header</a:t>
            </a:r>
            <a:endParaRPr lang="en-GB"/>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1219015"/>
            <a:ext cx="3406773" cy="487393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1219015"/>
            <a:ext cx="3380848" cy="48739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58773130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83365586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Subtitle 2">
            <a:extLst>
              <a:ext uri="{FF2B5EF4-FFF2-40B4-BE49-F238E27FC236}">
                <a16:creationId xmlns:a16="http://schemas.microsoft.com/office/drawing/2014/main" id="{A37DD523-FEAF-8E36-440F-C6B34EAF13B9}"/>
              </a:ext>
            </a:extLst>
          </p:cNvPr>
          <p:cNvSpPr>
            <a:spLocks noGrp="1"/>
          </p:cNvSpPr>
          <p:nvPr>
            <p:ph type="subTitle" idx="1" hasCustomPrompt="1"/>
          </p:nvPr>
        </p:nvSpPr>
        <p:spPr>
          <a:xfrm>
            <a:off x="382715" y="877609"/>
            <a:ext cx="7201301"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27564814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907687"/>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5619884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6603"/>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76130459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5" y="380944"/>
            <a:ext cx="7632699"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4" name="Subtitle 2">
            <a:extLst>
              <a:ext uri="{FF2B5EF4-FFF2-40B4-BE49-F238E27FC236}">
                <a16:creationId xmlns:a16="http://schemas.microsoft.com/office/drawing/2014/main" id="{4754D44E-0F4A-7D5B-2317-B17DB597FC0F}"/>
              </a:ext>
            </a:extLst>
          </p:cNvPr>
          <p:cNvSpPr>
            <a:spLocks noGrp="1"/>
          </p:cNvSpPr>
          <p:nvPr>
            <p:ph type="subTitle" idx="1" hasCustomPrompt="1"/>
          </p:nvPr>
        </p:nvSpPr>
        <p:spPr>
          <a:xfrm>
            <a:off x="356886" y="3348013"/>
            <a:ext cx="3435125"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948481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4" y="380944"/>
            <a:ext cx="765893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538296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1288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3348013"/>
            <a:ext cx="5354942"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0306577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477116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losing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9"/>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4" name="Footer Placeholder 4">
            <a:extLst>
              <a:ext uri="{FF2B5EF4-FFF2-40B4-BE49-F238E27FC236}">
                <a16:creationId xmlns:a16="http://schemas.microsoft.com/office/drawing/2014/main" id="{06702A48-5753-3E14-3FD3-D1CE9D33592F}"/>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1999477"/>
            <a:ext cx="1304767" cy="478341"/>
          </a:xfrm>
          <a:prstGeom prst="rect">
            <a:avLst/>
          </a:prstGeom>
        </p:spPr>
      </p:pic>
    </p:spTree>
    <p:extLst>
      <p:ext uri="{BB962C8B-B14F-4D97-AF65-F5344CB8AC3E}">
        <p14:creationId xmlns:p14="http://schemas.microsoft.com/office/powerpoint/2010/main" val="3500702819"/>
      </p:ext>
    </p:extLst>
  </p:cSld>
  <p:clrMapOvr>
    <a:masterClrMapping/>
  </p:clrMapOvr>
  <p:extLst>
    <p:ext uri="{DCECCB84-F9BA-43D5-87BE-67443E8EF086}">
      <p15:sldGuideLst xmlns:p15="http://schemas.microsoft.com/office/powerpoint/2012/main">
        <p15:guide id="3" pos="257" userDrawn="1">
          <p15:clr>
            <a:srgbClr val="FBAE40"/>
          </p15:clr>
        </p15:guide>
        <p15:guide id="4" pos="11158">
          <p15:clr>
            <a:srgbClr val="FBAE40"/>
          </p15:clr>
        </p15:guide>
        <p15:guide id="5" orient="horz" pos="5758">
          <p15:clr>
            <a:srgbClr val="FBAE40"/>
          </p15:clr>
        </p15:guide>
        <p15:guide id="6" pos="7469" userDrawn="1">
          <p15:clr>
            <a:srgbClr val="FBAE40"/>
          </p15:clr>
        </p15:guide>
        <p15:guide id="7"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losing Slide_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28D50E2-6D26-C8D0-7C31-CA6CF0D85A73}"/>
              </a:ext>
            </a:extLst>
          </p:cNvPr>
          <p:cNvSpPr>
            <a:spLocks noGrp="1"/>
          </p:cNvSpPr>
          <p:nvPr>
            <p:ph type="pic" sz="quarter" idx="13" hasCustomPrompt="1"/>
          </p:nvPr>
        </p:nvSpPr>
        <p:spPr>
          <a:xfrm>
            <a:off x="389467" y="380944"/>
            <a:ext cx="11419200"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6" name="Graphic 5">
            <a:extLst>
              <a:ext uri="{FF2B5EF4-FFF2-40B4-BE49-F238E27FC236}">
                <a16:creationId xmlns:a16="http://schemas.microsoft.com/office/drawing/2014/main" id="{A6C50326-C92D-5471-3FE5-470645DC9E2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3" name="Footer Placeholder 4">
            <a:extLst>
              <a:ext uri="{FF2B5EF4-FFF2-40B4-BE49-F238E27FC236}">
                <a16:creationId xmlns:a16="http://schemas.microsoft.com/office/drawing/2014/main" id="{48F20EB7-D30A-BDB8-523C-E836739B317D}"/>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29091995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Closing Slide_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5" name="Graphic 4">
            <a:extLst>
              <a:ext uri="{FF2B5EF4-FFF2-40B4-BE49-F238E27FC236}">
                <a16:creationId xmlns:a16="http://schemas.microsoft.com/office/drawing/2014/main" id="{369F945E-5ED8-AC85-1513-90DF82F0C90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Footer Placeholder 4">
            <a:extLst>
              <a:ext uri="{FF2B5EF4-FFF2-40B4-BE49-F238E27FC236}">
                <a16:creationId xmlns:a16="http://schemas.microsoft.com/office/drawing/2014/main" id="{DB2A196C-E574-D45B-9959-4540ACE4E595}"/>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38744197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2" name="Graphic 1">
            <a:extLst>
              <a:ext uri="{FF2B5EF4-FFF2-40B4-BE49-F238E27FC236}">
                <a16:creationId xmlns:a16="http://schemas.microsoft.com/office/drawing/2014/main" id="{74BF9C1E-E4CB-55A7-B9E3-E7FA99245F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Footer Placeholder 4">
            <a:extLst>
              <a:ext uri="{FF2B5EF4-FFF2-40B4-BE49-F238E27FC236}">
                <a16:creationId xmlns:a16="http://schemas.microsoft.com/office/drawing/2014/main" id="{E8735C17-CAE8-F301-4DA4-C309BE5E9017}"/>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573708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0"/>
            <a:ext cx="11419200" cy="6095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Graphic 6">
            <a:extLst>
              <a:ext uri="{FF2B5EF4-FFF2-40B4-BE49-F238E27FC236}">
                <a16:creationId xmlns:a16="http://schemas.microsoft.com/office/drawing/2014/main" id="{1F86FAA6-8B8F-4440-844F-06131C176D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450142" y="3054227"/>
            <a:ext cx="1291719" cy="478341"/>
          </a:xfrm>
          <a:prstGeom prst="rect">
            <a:avLst/>
          </a:prstGeom>
        </p:spPr>
      </p:pic>
    </p:spTree>
    <p:extLst>
      <p:ext uri="{BB962C8B-B14F-4D97-AF65-F5344CB8AC3E}">
        <p14:creationId xmlns:p14="http://schemas.microsoft.com/office/powerpoint/2010/main" val="12246371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57-D1F8-4D83-A8A9-E4530B0BA0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2521CB7-0B76-47E8-907D-FB97B873E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E39953A-08B8-40A2-A684-DA7F1F3E8DC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173C34BC-E7D2-4F82-A84B-CB189B14BE43}"/>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CAE5776-139D-4092-AB22-3A24CE548FB7}"/>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32277709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3" name="Picture Placeholder 62">
            <a:extLst>
              <a:ext uri="{FF2B5EF4-FFF2-40B4-BE49-F238E27FC236}">
                <a16:creationId xmlns:a16="http://schemas.microsoft.com/office/drawing/2014/main" id="{331EE4D6-C6CB-46DD-9B81-9EBC0D439D8A}"/>
              </a:ext>
            </a:extLst>
          </p:cNvPr>
          <p:cNvSpPr>
            <a:spLocks noGrp="1"/>
          </p:cNvSpPr>
          <p:nvPr>
            <p:ph type="pic" sz="quarter" idx="14" hasCustomPrompt="1"/>
          </p:nvPr>
        </p:nvSpPr>
        <p:spPr>
          <a:xfrm>
            <a:off x="1537626" y="1727308"/>
            <a:ext cx="1107920" cy="773005"/>
          </a:xfrm>
          <a:noFill/>
        </p:spPr>
        <p:txBody>
          <a:bodyPr/>
          <a:lstStyle>
            <a:lvl1pPr marL="0" indent="0" algn="ctr">
              <a:buNone/>
              <a:defRPr>
                <a:solidFill>
                  <a:srgbClr val="002C77"/>
                </a:solidFill>
              </a:defRPr>
            </a:lvl1pPr>
          </a:lstStyle>
          <a:p>
            <a:r>
              <a:rPr lang="en-GB" dirty="0"/>
              <a:t>Add an icon</a:t>
            </a:r>
          </a:p>
        </p:txBody>
      </p:sp>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cxnSp>
        <p:nvCxnSpPr>
          <p:cNvPr id="38" name="Straight Connector 37">
            <a:extLst>
              <a:ext uri="{FF2B5EF4-FFF2-40B4-BE49-F238E27FC236}">
                <a16:creationId xmlns:a16="http://schemas.microsoft.com/office/drawing/2014/main" id="{339B0E2B-FEED-4EEA-9F54-AC4164667E0F}"/>
              </a:ext>
            </a:extLst>
          </p:cNvPr>
          <p:cNvCxnSpPr/>
          <p:nvPr userDrawn="1"/>
        </p:nvCxnSpPr>
        <p:spPr>
          <a:xfrm>
            <a:off x="5181823"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6A5CD2-1570-4307-8FE5-0CB1E77D0210}"/>
              </a:ext>
            </a:extLst>
          </p:cNvPr>
          <p:cNvCxnSpPr/>
          <p:nvPr userDrawn="1"/>
        </p:nvCxnSpPr>
        <p:spPr>
          <a:xfrm>
            <a:off x="9045515"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CC497B-CF59-4FA7-B7EF-05549A2D75DF}"/>
              </a:ext>
            </a:extLst>
          </p:cNvPr>
          <p:cNvCxnSpPr/>
          <p:nvPr userDrawn="1"/>
        </p:nvCxnSpPr>
        <p:spPr>
          <a:xfrm>
            <a:off x="1151380"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64BA2B-26B7-4BCB-B092-663682E81928}"/>
              </a:ext>
            </a:extLst>
          </p:cNvPr>
          <p:cNvCxnSpPr/>
          <p:nvPr userDrawn="1"/>
        </p:nvCxnSpPr>
        <p:spPr>
          <a:xfrm>
            <a:off x="5181823"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8DEFD73-7700-4CF6-9804-A427AA291967}"/>
              </a:ext>
            </a:extLst>
          </p:cNvPr>
          <p:cNvCxnSpPr/>
          <p:nvPr userDrawn="1"/>
        </p:nvCxnSpPr>
        <p:spPr>
          <a:xfrm>
            <a:off x="9045515"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AE3034-E290-4AE1-9931-A03D28A8793F}"/>
              </a:ext>
            </a:extLst>
          </p:cNvPr>
          <p:cNvCxnSpPr/>
          <p:nvPr userDrawn="1"/>
        </p:nvCxnSpPr>
        <p:spPr>
          <a:xfrm>
            <a:off x="1151380"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64" name="Picture Placeholder 62">
            <a:extLst>
              <a:ext uri="{FF2B5EF4-FFF2-40B4-BE49-F238E27FC236}">
                <a16:creationId xmlns:a16="http://schemas.microsoft.com/office/drawing/2014/main" id="{1D7B62DD-C58E-4CC9-9E58-256AB79E2B56}"/>
              </a:ext>
            </a:extLst>
          </p:cNvPr>
          <p:cNvSpPr>
            <a:spLocks noGrp="1"/>
          </p:cNvSpPr>
          <p:nvPr>
            <p:ph type="pic" sz="quarter" idx="15" hasCustomPrompt="1"/>
          </p:nvPr>
        </p:nvSpPr>
        <p:spPr>
          <a:xfrm>
            <a:off x="5542040" y="1727308"/>
            <a:ext cx="1107920" cy="773005"/>
          </a:xfrm>
          <a:noFill/>
        </p:spPr>
        <p:txBody>
          <a:bodyPr/>
          <a:lstStyle>
            <a:lvl1pPr marL="0" indent="0" algn="ctr">
              <a:buNone/>
              <a:defRPr>
                <a:solidFill>
                  <a:srgbClr val="002C77"/>
                </a:solidFill>
              </a:defRPr>
            </a:lvl1pPr>
          </a:lstStyle>
          <a:p>
            <a:r>
              <a:rPr lang="en-GB" dirty="0"/>
              <a:t>Add an icon</a:t>
            </a:r>
          </a:p>
        </p:txBody>
      </p:sp>
      <p:sp>
        <p:nvSpPr>
          <p:cNvPr id="65" name="Picture Placeholder 62">
            <a:extLst>
              <a:ext uri="{FF2B5EF4-FFF2-40B4-BE49-F238E27FC236}">
                <a16:creationId xmlns:a16="http://schemas.microsoft.com/office/drawing/2014/main" id="{EC3C802E-DC98-417A-8D0E-AEAB4792B30B}"/>
              </a:ext>
            </a:extLst>
          </p:cNvPr>
          <p:cNvSpPr>
            <a:spLocks noGrp="1"/>
          </p:cNvSpPr>
          <p:nvPr>
            <p:ph type="pic" sz="quarter" idx="16" hasCustomPrompt="1"/>
          </p:nvPr>
        </p:nvSpPr>
        <p:spPr>
          <a:xfrm>
            <a:off x="9391555" y="1727308"/>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6" name="Picture Placeholder 62">
            <a:extLst>
              <a:ext uri="{FF2B5EF4-FFF2-40B4-BE49-F238E27FC236}">
                <a16:creationId xmlns:a16="http://schemas.microsoft.com/office/drawing/2014/main" id="{B7729406-A95D-4E1A-B28B-BDF7A84125F3}"/>
              </a:ext>
            </a:extLst>
          </p:cNvPr>
          <p:cNvSpPr>
            <a:spLocks noGrp="1"/>
          </p:cNvSpPr>
          <p:nvPr>
            <p:ph type="pic" sz="quarter" idx="17" hasCustomPrompt="1"/>
          </p:nvPr>
        </p:nvSpPr>
        <p:spPr>
          <a:xfrm>
            <a:off x="1537626"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7" name="Picture Placeholder 62">
            <a:extLst>
              <a:ext uri="{FF2B5EF4-FFF2-40B4-BE49-F238E27FC236}">
                <a16:creationId xmlns:a16="http://schemas.microsoft.com/office/drawing/2014/main" id="{CA0C7B36-2CCB-40E0-99FD-471231F9F48E}"/>
              </a:ext>
            </a:extLst>
          </p:cNvPr>
          <p:cNvSpPr>
            <a:spLocks noGrp="1"/>
          </p:cNvSpPr>
          <p:nvPr>
            <p:ph type="pic" sz="quarter" idx="18" hasCustomPrompt="1"/>
          </p:nvPr>
        </p:nvSpPr>
        <p:spPr>
          <a:xfrm>
            <a:off x="5542040"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8" name="Picture Placeholder 62">
            <a:extLst>
              <a:ext uri="{FF2B5EF4-FFF2-40B4-BE49-F238E27FC236}">
                <a16:creationId xmlns:a16="http://schemas.microsoft.com/office/drawing/2014/main" id="{A8D9687C-F28C-4214-99D9-9AABF1C59CAD}"/>
              </a:ext>
            </a:extLst>
          </p:cNvPr>
          <p:cNvSpPr>
            <a:spLocks noGrp="1"/>
          </p:cNvSpPr>
          <p:nvPr>
            <p:ph type="pic" sz="quarter" idx="19" hasCustomPrompt="1"/>
          </p:nvPr>
        </p:nvSpPr>
        <p:spPr>
          <a:xfrm>
            <a:off x="9391555"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70" name="Text Placeholder 69">
            <a:extLst>
              <a:ext uri="{FF2B5EF4-FFF2-40B4-BE49-F238E27FC236}">
                <a16:creationId xmlns:a16="http://schemas.microsoft.com/office/drawing/2014/main" id="{BFE1453B-E7CF-4073-830B-ED270D48AC45}"/>
              </a:ext>
            </a:extLst>
          </p:cNvPr>
          <p:cNvSpPr>
            <a:spLocks noGrp="1"/>
          </p:cNvSpPr>
          <p:nvPr>
            <p:ph type="body" sz="quarter" idx="20" hasCustomPrompt="1"/>
          </p:nvPr>
        </p:nvSpPr>
        <p:spPr>
          <a:xfrm>
            <a:off x="685370" y="2593975"/>
            <a:ext cx="2812432" cy="744538"/>
          </a:xfrm>
        </p:spPr>
        <p:txBody>
          <a:bodyPr/>
          <a:lstStyle>
            <a:lvl1pPr marL="0" indent="0" algn="ctr">
              <a:buNone/>
              <a:defRPr/>
            </a:lvl1pPr>
          </a:lstStyle>
          <a:p>
            <a:pPr lvl="0"/>
            <a:r>
              <a:rPr lang="en-US" dirty="0"/>
              <a:t>Click to add description</a:t>
            </a:r>
          </a:p>
        </p:txBody>
      </p:sp>
      <p:sp>
        <p:nvSpPr>
          <p:cNvPr id="71" name="Text Placeholder 69">
            <a:extLst>
              <a:ext uri="{FF2B5EF4-FFF2-40B4-BE49-F238E27FC236}">
                <a16:creationId xmlns:a16="http://schemas.microsoft.com/office/drawing/2014/main" id="{7030B450-7373-4001-82AD-C804A8696B21}"/>
              </a:ext>
            </a:extLst>
          </p:cNvPr>
          <p:cNvSpPr>
            <a:spLocks noGrp="1"/>
          </p:cNvSpPr>
          <p:nvPr>
            <p:ph type="body" sz="quarter" idx="21" hasCustomPrompt="1"/>
          </p:nvPr>
        </p:nvSpPr>
        <p:spPr>
          <a:xfrm>
            <a:off x="4675607" y="2593975"/>
            <a:ext cx="2812432" cy="744538"/>
          </a:xfrm>
        </p:spPr>
        <p:txBody>
          <a:bodyPr/>
          <a:lstStyle>
            <a:lvl1pPr marL="0" indent="0" algn="ctr">
              <a:buNone/>
              <a:defRPr/>
            </a:lvl1pPr>
          </a:lstStyle>
          <a:p>
            <a:pPr lvl="0"/>
            <a:r>
              <a:rPr lang="en-US" dirty="0"/>
              <a:t>Click to add description</a:t>
            </a:r>
          </a:p>
        </p:txBody>
      </p:sp>
      <p:sp>
        <p:nvSpPr>
          <p:cNvPr id="72" name="Text Placeholder 69">
            <a:extLst>
              <a:ext uri="{FF2B5EF4-FFF2-40B4-BE49-F238E27FC236}">
                <a16:creationId xmlns:a16="http://schemas.microsoft.com/office/drawing/2014/main" id="{789681D9-89C9-4720-8C17-A29C886CDAB5}"/>
              </a:ext>
            </a:extLst>
          </p:cNvPr>
          <p:cNvSpPr>
            <a:spLocks noGrp="1"/>
          </p:cNvSpPr>
          <p:nvPr>
            <p:ph type="body" sz="quarter" idx="22" hasCustomPrompt="1"/>
          </p:nvPr>
        </p:nvSpPr>
        <p:spPr>
          <a:xfrm>
            <a:off x="8665844" y="2593975"/>
            <a:ext cx="2812432" cy="744538"/>
          </a:xfrm>
        </p:spPr>
        <p:txBody>
          <a:bodyPr/>
          <a:lstStyle>
            <a:lvl1pPr marL="0" indent="0" algn="ctr">
              <a:buNone/>
              <a:defRPr/>
            </a:lvl1pPr>
          </a:lstStyle>
          <a:p>
            <a:pPr lvl="0"/>
            <a:r>
              <a:rPr lang="en-US" dirty="0"/>
              <a:t>Click to add description</a:t>
            </a:r>
          </a:p>
        </p:txBody>
      </p:sp>
      <p:sp>
        <p:nvSpPr>
          <p:cNvPr id="73" name="Text Placeholder 69">
            <a:extLst>
              <a:ext uri="{FF2B5EF4-FFF2-40B4-BE49-F238E27FC236}">
                <a16:creationId xmlns:a16="http://schemas.microsoft.com/office/drawing/2014/main" id="{081B4CC2-DC16-4A54-B871-9FEE4CF7EF4D}"/>
              </a:ext>
            </a:extLst>
          </p:cNvPr>
          <p:cNvSpPr>
            <a:spLocks noGrp="1"/>
          </p:cNvSpPr>
          <p:nvPr>
            <p:ph type="body" sz="quarter" idx="23" hasCustomPrompt="1"/>
          </p:nvPr>
        </p:nvSpPr>
        <p:spPr>
          <a:xfrm>
            <a:off x="685370" y="4848969"/>
            <a:ext cx="2812432" cy="744538"/>
          </a:xfrm>
        </p:spPr>
        <p:txBody>
          <a:bodyPr/>
          <a:lstStyle>
            <a:lvl1pPr marL="0" indent="0" algn="ctr">
              <a:buNone/>
              <a:defRPr/>
            </a:lvl1pPr>
          </a:lstStyle>
          <a:p>
            <a:pPr lvl="0"/>
            <a:r>
              <a:rPr lang="en-US" dirty="0"/>
              <a:t>Click to add description</a:t>
            </a:r>
          </a:p>
        </p:txBody>
      </p:sp>
      <p:sp>
        <p:nvSpPr>
          <p:cNvPr id="74" name="Text Placeholder 69">
            <a:extLst>
              <a:ext uri="{FF2B5EF4-FFF2-40B4-BE49-F238E27FC236}">
                <a16:creationId xmlns:a16="http://schemas.microsoft.com/office/drawing/2014/main" id="{6046AF4B-3995-49C3-8B0C-A006BA4C3FBA}"/>
              </a:ext>
            </a:extLst>
          </p:cNvPr>
          <p:cNvSpPr>
            <a:spLocks noGrp="1"/>
          </p:cNvSpPr>
          <p:nvPr>
            <p:ph type="body" sz="quarter" idx="24" hasCustomPrompt="1"/>
          </p:nvPr>
        </p:nvSpPr>
        <p:spPr>
          <a:xfrm>
            <a:off x="4675607" y="4848969"/>
            <a:ext cx="2812432" cy="744538"/>
          </a:xfrm>
        </p:spPr>
        <p:txBody>
          <a:bodyPr/>
          <a:lstStyle>
            <a:lvl1pPr marL="0" indent="0" algn="ctr">
              <a:buNone/>
              <a:defRPr/>
            </a:lvl1pPr>
          </a:lstStyle>
          <a:p>
            <a:pPr lvl="0"/>
            <a:r>
              <a:rPr lang="en-US" dirty="0"/>
              <a:t>Click to add description</a:t>
            </a:r>
          </a:p>
        </p:txBody>
      </p:sp>
      <p:sp>
        <p:nvSpPr>
          <p:cNvPr id="75" name="Text Placeholder 69">
            <a:extLst>
              <a:ext uri="{FF2B5EF4-FFF2-40B4-BE49-F238E27FC236}">
                <a16:creationId xmlns:a16="http://schemas.microsoft.com/office/drawing/2014/main" id="{CFB51604-32D9-4DC0-A358-B600FC11549E}"/>
              </a:ext>
            </a:extLst>
          </p:cNvPr>
          <p:cNvSpPr>
            <a:spLocks noGrp="1"/>
          </p:cNvSpPr>
          <p:nvPr>
            <p:ph type="body" sz="quarter" idx="25" hasCustomPrompt="1"/>
          </p:nvPr>
        </p:nvSpPr>
        <p:spPr>
          <a:xfrm>
            <a:off x="8665844" y="4848969"/>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8894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25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25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
                                            <p:txEl>
                                              <p:pRg st="0" end="0"/>
                                            </p:txEl>
                                          </p:spTgt>
                                        </p:tgtEl>
                                        <p:attrNameLst>
                                          <p:attrName>style.visibility</p:attrName>
                                        </p:attrNameLst>
                                      </p:cBhvr>
                                      <p:to>
                                        <p:strVal val="visible"/>
                                      </p:to>
                                    </p:set>
                                    <p:animEffect transition="in" filter="fade">
                                      <p:cBhvr>
                                        <p:cTn id="16" dur="250"/>
                                        <p:tgtEl>
                                          <p:spTgt spid="70">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250"/>
                                        <p:tgtEl>
                                          <p:spTgt spid="6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
                                            <p:txEl>
                                              <p:pRg st="0" end="0"/>
                                            </p:txEl>
                                          </p:spTgt>
                                        </p:tgtEl>
                                        <p:attrNameLst>
                                          <p:attrName>style.visibility</p:attrName>
                                        </p:attrNameLst>
                                      </p:cBhvr>
                                      <p:to>
                                        <p:strVal val="visible"/>
                                      </p:to>
                                    </p:set>
                                    <p:animEffect transition="in" filter="fade">
                                      <p:cBhvr>
                                        <p:cTn id="23" dur="250"/>
                                        <p:tgtEl>
                                          <p:spTgt spid="71">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50"/>
                                        <p:tgtEl>
                                          <p:spTgt spid="38"/>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25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2">
                                            <p:txEl>
                                              <p:pRg st="0" end="0"/>
                                            </p:txEl>
                                          </p:spTgt>
                                        </p:tgtEl>
                                        <p:attrNameLst>
                                          <p:attrName>style.visibility</p:attrName>
                                        </p:attrNameLst>
                                      </p:cBhvr>
                                      <p:to>
                                        <p:strVal val="visible"/>
                                      </p:to>
                                    </p:set>
                                    <p:animEffect transition="in" filter="fade">
                                      <p:cBhvr>
                                        <p:cTn id="33" dur="250"/>
                                        <p:tgtEl>
                                          <p:spTgt spid="72">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250"/>
                                        <p:tgtEl>
                                          <p:spTgt spid="42"/>
                                        </p:tgtEl>
                                      </p:cBhvr>
                                    </p:animEffect>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250"/>
                                        <p:tgtEl>
                                          <p:spTgt spid="6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3">
                                            <p:txEl>
                                              <p:pRg st="0" end="0"/>
                                            </p:txEl>
                                          </p:spTgt>
                                        </p:tgtEl>
                                        <p:attrNameLst>
                                          <p:attrName>style.visibility</p:attrName>
                                        </p:attrNameLst>
                                      </p:cBhvr>
                                      <p:to>
                                        <p:strVal val="visible"/>
                                      </p:to>
                                    </p:set>
                                    <p:animEffect transition="in" filter="fade">
                                      <p:cBhvr>
                                        <p:cTn id="43" dur="250"/>
                                        <p:tgtEl>
                                          <p:spTgt spid="73">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250"/>
                                        <p:tgtEl>
                                          <p:spTgt spid="46"/>
                                        </p:tgtEl>
                                      </p:cBhvr>
                                    </p:animEffect>
                                  </p:childTnLst>
                                </p:cTn>
                              </p:par>
                            </p:childTnLst>
                          </p:cTn>
                        </p:par>
                        <p:par>
                          <p:cTn id="47" fill="hold">
                            <p:stCondLst>
                              <p:cond delay="1250"/>
                            </p:stCondLst>
                            <p:childTnLst>
                              <p:par>
                                <p:cTn id="48" presetID="10" presetClass="entr" presetSubtype="0" fill="hold" grpId="0" nodeType="after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250"/>
                                        <p:tgtEl>
                                          <p:spTgt spid="6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xEl>
                                              <p:pRg st="0" end="0"/>
                                            </p:txEl>
                                          </p:spTgt>
                                        </p:tgtEl>
                                        <p:attrNameLst>
                                          <p:attrName>style.visibility</p:attrName>
                                        </p:attrNameLst>
                                      </p:cBhvr>
                                      <p:to>
                                        <p:strVal val="visible"/>
                                      </p:to>
                                    </p:set>
                                    <p:animEffect transition="in" filter="fade">
                                      <p:cBhvr>
                                        <p:cTn id="53" dur="250"/>
                                        <p:tgtEl>
                                          <p:spTgt spid="74">
                                            <p:txEl>
                                              <p:pRg st="0" end="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250"/>
                                        <p:tgtEl>
                                          <p:spTgt spid="50"/>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25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animEffect transition="in" filter="fade">
                                      <p:cBhvr>
                                        <p:cTn id="63" dur="250"/>
                                        <p:tgtEl>
                                          <p:spTgt spid="75">
                                            <p:txEl>
                                              <p:pRg st="0" end="0"/>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64" grpId="0"/>
      <p:bldP spid="65" grpId="0"/>
      <p:bldP spid="66" grpId="0"/>
      <p:bldP spid="67" grpId="0"/>
      <p:bldP spid="68" grpId="0"/>
      <p:bldP spid="70" grpId="0" build="p">
        <p:tmplLst>
          <p:tmpl lvl="1">
            <p:tnLst>
              <p:par>
                <p:cTn presetID="10" presetClass="entr" presetSubtype="0" fill="hold" nodeType="with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fade">
                      <p:cBhvr>
                        <p:cTn dur="250"/>
                        <p:tgtEl>
                          <p:spTgt spid="70"/>
                        </p:tgtEl>
                      </p:cBhvr>
                    </p:animEffect>
                  </p:childTnLst>
                </p:cTn>
              </p:par>
            </p:tnLst>
          </p:tmpl>
        </p:tmplLst>
      </p:bldP>
      <p:bldP spid="71" grpId="0" build="p"/>
      <p:bldP spid="72" grpId="0" build="p"/>
      <p:bldP spid="73" grpId="0" build="p"/>
      <p:bldP spid="74" grpId="0" build="p"/>
      <p:bldP spid="75" grpId="0" bui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25" name="Picture Placeholder 62">
            <a:extLst>
              <a:ext uri="{FF2B5EF4-FFF2-40B4-BE49-F238E27FC236}">
                <a16:creationId xmlns:a16="http://schemas.microsoft.com/office/drawing/2014/main" id="{7FB27108-0AE7-43DB-8B4D-D6869E415DC6}"/>
              </a:ext>
            </a:extLst>
          </p:cNvPr>
          <p:cNvSpPr>
            <a:spLocks noGrp="1"/>
          </p:cNvSpPr>
          <p:nvPr>
            <p:ph type="pic" sz="quarter" idx="14" hasCustomPrompt="1"/>
          </p:nvPr>
        </p:nvSpPr>
        <p:spPr>
          <a:xfrm>
            <a:off x="1537626" y="3042497"/>
            <a:ext cx="1107920" cy="773005"/>
          </a:xfrm>
          <a:noFill/>
        </p:spPr>
        <p:txBody>
          <a:bodyPr/>
          <a:lstStyle>
            <a:lvl1pPr marL="0" indent="0" algn="ctr">
              <a:buNone/>
              <a:defRPr>
                <a:solidFill>
                  <a:srgbClr val="002C77"/>
                </a:solidFill>
              </a:defRPr>
            </a:lvl1pPr>
          </a:lstStyle>
          <a:p>
            <a:r>
              <a:rPr lang="en-GB" dirty="0"/>
              <a:t>Add an icon</a:t>
            </a:r>
          </a:p>
        </p:txBody>
      </p:sp>
      <p:cxnSp>
        <p:nvCxnSpPr>
          <p:cNvPr id="26" name="Straight Connector 25">
            <a:extLst>
              <a:ext uri="{FF2B5EF4-FFF2-40B4-BE49-F238E27FC236}">
                <a16:creationId xmlns:a16="http://schemas.microsoft.com/office/drawing/2014/main" id="{B2E6DFBD-1B42-4A6C-8E11-80B1E7209507}"/>
              </a:ext>
            </a:extLst>
          </p:cNvPr>
          <p:cNvCxnSpPr/>
          <p:nvPr userDrawn="1"/>
        </p:nvCxnSpPr>
        <p:spPr>
          <a:xfrm>
            <a:off x="5181823"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855F836-257C-43F7-92F6-39F3DF030BC0}"/>
              </a:ext>
            </a:extLst>
          </p:cNvPr>
          <p:cNvCxnSpPr/>
          <p:nvPr userDrawn="1"/>
        </p:nvCxnSpPr>
        <p:spPr>
          <a:xfrm>
            <a:off x="9045515"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6D6CDA-D5A2-4697-9F74-47FBC3829D33}"/>
              </a:ext>
            </a:extLst>
          </p:cNvPr>
          <p:cNvCxnSpPr/>
          <p:nvPr userDrawn="1"/>
        </p:nvCxnSpPr>
        <p:spPr>
          <a:xfrm>
            <a:off x="1151380"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29" name="Picture Placeholder 62">
            <a:extLst>
              <a:ext uri="{FF2B5EF4-FFF2-40B4-BE49-F238E27FC236}">
                <a16:creationId xmlns:a16="http://schemas.microsoft.com/office/drawing/2014/main" id="{80596D57-4E64-45DA-ABAD-AD295E7D1E8F}"/>
              </a:ext>
            </a:extLst>
          </p:cNvPr>
          <p:cNvSpPr>
            <a:spLocks noGrp="1"/>
          </p:cNvSpPr>
          <p:nvPr>
            <p:ph type="pic" sz="quarter" idx="15" hasCustomPrompt="1"/>
          </p:nvPr>
        </p:nvSpPr>
        <p:spPr>
          <a:xfrm>
            <a:off x="5542040"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0" name="Picture Placeholder 62">
            <a:extLst>
              <a:ext uri="{FF2B5EF4-FFF2-40B4-BE49-F238E27FC236}">
                <a16:creationId xmlns:a16="http://schemas.microsoft.com/office/drawing/2014/main" id="{F13A5D06-69CC-4F22-A92C-AE9CE3B35333}"/>
              </a:ext>
            </a:extLst>
          </p:cNvPr>
          <p:cNvSpPr>
            <a:spLocks noGrp="1"/>
          </p:cNvSpPr>
          <p:nvPr>
            <p:ph type="pic" sz="quarter" idx="16" hasCustomPrompt="1"/>
          </p:nvPr>
        </p:nvSpPr>
        <p:spPr>
          <a:xfrm>
            <a:off x="9391555"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1" name="Text Placeholder 69">
            <a:extLst>
              <a:ext uri="{FF2B5EF4-FFF2-40B4-BE49-F238E27FC236}">
                <a16:creationId xmlns:a16="http://schemas.microsoft.com/office/drawing/2014/main" id="{A91601A4-8DCD-49D4-8AE2-A9487BBFB257}"/>
              </a:ext>
            </a:extLst>
          </p:cNvPr>
          <p:cNvSpPr>
            <a:spLocks noGrp="1"/>
          </p:cNvSpPr>
          <p:nvPr>
            <p:ph type="body" sz="quarter" idx="20" hasCustomPrompt="1"/>
          </p:nvPr>
        </p:nvSpPr>
        <p:spPr>
          <a:xfrm>
            <a:off x="685370" y="3909164"/>
            <a:ext cx="2812432" cy="744538"/>
          </a:xfrm>
        </p:spPr>
        <p:txBody>
          <a:bodyPr/>
          <a:lstStyle>
            <a:lvl1pPr marL="0" indent="0" algn="ctr">
              <a:buNone/>
              <a:defRPr/>
            </a:lvl1pPr>
          </a:lstStyle>
          <a:p>
            <a:pPr lvl="0"/>
            <a:r>
              <a:rPr lang="en-US" dirty="0"/>
              <a:t>Click to add description</a:t>
            </a:r>
          </a:p>
        </p:txBody>
      </p:sp>
      <p:sp>
        <p:nvSpPr>
          <p:cNvPr id="32" name="Text Placeholder 69">
            <a:extLst>
              <a:ext uri="{FF2B5EF4-FFF2-40B4-BE49-F238E27FC236}">
                <a16:creationId xmlns:a16="http://schemas.microsoft.com/office/drawing/2014/main" id="{7FA8F0E2-8311-4361-8086-0EC4D0BC1C22}"/>
              </a:ext>
            </a:extLst>
          </p:cNvPr>
          <p:cNvSpPr>
            <a:spLocks noGrp="1"/>
          </p:cNvSpPr>
          <p:nvPr>
            <p:ph type="body" sz="quarter" idx="21" hasCustomPrompt="1"/>
          </p:nvPr>
        </p:nvSpPr>
        <p:spPr>
          <a:xfrm>
            <a:off x="4675607" y="3909164"/>
            <a:ext cx="2812432" cy="744538"/>
          </a:xfrm>
        </p:spPr>
        <p:txBody>
          <a:bodyPr/>
          <a:lstStyle>
            <a:lvl1pPr marL="0" indent="0" algn="ctr">
              <a:buNone/>
              <a:defRPr/>
            </a:lvl1pPr>
          </a:lstStyle>
          <a:p>
            <a:pPr lvl="0"/>
            <a:r>
              <a:rPr lang="en-US" dirty="0"/>
              <a:t>Click to add description</a:t>
            </a:r>
          </a:p>
        </p:txBody>
      </p:sp>
      <p:sp>
        <p:nvSpPr>
          <p:cNvPr id="33" name="Text Placeholder 69">
            <a:extLst>
              <a:ext uri="{FF2B5EF4-FFF2-40B4-BE49-F238E27FC236}">
                <a16:creationId xmlns:a16="http://schemas.microsoft.com/office/drawing/2014/main" id="{7C1B3366-43D3-4B1E-A23E-1896244841C3}"/>
              </a:ext>
            </a:extLst>
          </p:cNvPr>
          <p:cNvSpPr>
            <a:spLocks noGrp="1"/>
          </p:cNvSpPr>
          <p:nvPr>
            <p:ph type="body" sz="quarter" idx="22" hasCustomPrompt="1"/>
          </p:nvPr>
        </p:nvSpPr>
        <p:spPr>
          <a:xfrm>
            <a:off x="8665844" y="3909164"/>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43551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25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xEl>
                                              <p:pRg st="0" end="0"/>
                                            </p:txEl>
                                          </p:spTgt>
                                        </p:tgtEl>
                                        <p:attrNameLst>
                                          <p:attrName>style.visibility</p:attrName>
                                        </p:attrNameLst>
                                      </p:cBhvr>
                                      <p:to>
                                        <p:strVal val="visible"/>
                                      </p:to>
                                    </p:set>
                                    <p:animEffect transition="in" filter="fade">
                                      <p:cBhvr>
                                        <p:cTn id="16" dur="250"/>
                                        <p:tgtEl>
                                          <p:spTgt spid="3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25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animEffect transition="in" filter="fade">
                                      <p:cBhvr>
                                        <p:cTn id="23" dur="250"/>
                                        <p:tgtEl>
                                          <p:spTgt spid="32">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50"/>
                                        <p:tgtEl>
                                          <p:spTgt spid="26"/>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xEl>
                                              <p:pRg st="0" end="0"/>
                                            </p:txEl>
                                          </p:spTgt>
                                        </p:tgtEl>
                                        <p:attrNameLst>
                                          <p:attrName>style.visibility</p:attrName>
                                        </p:attrNameLst>
                                      </p:cBhvr>
                                      <p:to>
                                        <p:strVal val="visible"/>
                                      </p:to>
                                    </p:set>
                                    <p:animEffect transition="in" filter="fade">
                                      <p:cBhvr>
                                        <p:cTn id="33" dur="250"/>
                                        <p:tgtEl>
                                          <p:spTgt spid="33">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25" grpId="0"/>
      <p:bldP spid="29" grpId="0"/>
      <p:bldP spid="30" grpId="0"/>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2" grpId="0" build="p"/>
      <p:bldP spid="33" grpId="0" bui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4E61AD-2C33-4707-9D27-D0F5AE011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33243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F05C-B75D-4DB0-BA04-FFD79C1C40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652ECE-B89B-451D-AAB3-55416C542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96EA6-BEDB-4160-90B1-8BBFBF52DE1F}"/>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99438A6F-0A53-49FA-B9DB-D3BD67DCCA01}"/>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4F7CD9CD-3589-4EDD-A762-A60E1977C6CA}"/>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5936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8BE2-9879-4EC1-8A60-C2D061A18C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115BC3-F0D6-410E-BA50-0FF4C95C39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03F89B-F41E-4E74-8311-3C0D0639B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B338C7-8D11-458E-B0E4-76A42ECC004D}"/>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689896F6-E364-49A8-8462-6FC93572FE6E}"/>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0C1E67C-D5C3-4E01-9DFC-07EBF56A151E}"/>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862251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1D2D-E857-439E-B45C-936C39D3E1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34F689-245A-4ED1-A96B-28D4E14F0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FB5BE-1754-4C73-85A2-E44CA0C6A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099FA27-5AA5-49A9-BC81-4B24D5755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5D0AC-3C1B-40F0-A72A-F41BAE227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2F3A0AE-0A91-4C78-8294-BC603CD115F1}"/>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8" name="Footer Placeholder 7">
            <a:extLst>
              <a:ext uri="{FF2B5EF4-FFF2-40B4-BE49-F238E27FC236}">
                <a16:creationId xmlns:a16="http://schemas.microsoft.com/office/drawing/2014/main" id="{53D27831-1EA4-4F07-AC5B-7986B6E74F5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9" name="Slide Number Placeholder 8">
            <a:extLst>
              <a:ext uri="{FF2B5EF4-FFF2-40B4-BE49-F238E27FC236}">
                <a16:creationId xmlns:a16="http://schemas.microsoft.com/office/drawing/2014/main" id="{BD919C61-ED9F-4A01-A566-37873D46D64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7052760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970A-2304-4223-B05C-F51CF2926E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4CD726-0578-46F5-B3E1-F8411DFFF1C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4" name="Footer Placeholder 3">
            <a:extLst>
              <a:ext uri="{FF2B5EF4-FFF2-40B4-BE49-F238E27FC236}">
                <a16:creationId xmlns:a16="http://schemas.microsoft.com/office/drawing/2014/main" id="{2B6F0EEC-1D48-4E86-8AD7-F63005522920}"/>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6476204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EB3C2-20F5-42CE-BD4B-FD8A1C96182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3" name="Footer Placeholder 2">
            <a:extLst>
              <a:ext uri="{FF2B5EF4-FFF2-40B4-BE49-F238E27FC236}">
                <a16:creationId xmlns:a16="http://schemas.microsoft.com/office/drawing/2014/main" id="{E510C591-E614-40E1-AF26-6F90EED01FA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4" name="Slide Number Placeholder 3">
            <a:extLst>
              <a:ext uri="{FF2B5EF4-FFF2-40B4-BE49-F238E27FC236}">
                <a16:creationId xmlns:a16="http://schemas.microsoft.com/office/drawing/2014/main" id="{2FD7AA01-87B5-46B4-8A3D-9E7359A07EBD}"/>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37533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BBFB-8F25-4274-8818-778019E8C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E3A5DFD-5921-4BE6-8FD3-00777F8C1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DFCFE7-AF08-4F9B-A07D-199619EDE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7D94E-AA89-47A7-B95A-A830DCCC1F76}"/>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1D9F6848-F2BC-4513-866A-5743CFCC88B6}"/>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E72388BB-FB4E-46B6-A8FD-DA2C1E0BDBF3}"/>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181693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35CD-13B8-4DEC-B6E4-BC0623EA8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30BCE6-3121-4443-8097-259E55169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79BF8F43-AFE5-4A7E-BF45-8F38468C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84E2A-52B4-4AB2-8CF5-238EECC444D2}"/>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551955FA-0632-4971-9044-23AB962DDE1B}"/>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DC9EF11-90F2-4ED0-8D70-B86EDABEB7C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8047111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348B-D9CA-4FF0-A4DC-0A00C012CD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28E4FD-D156-4385-9D5F-154CE1C71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61F5B6-FFDD-4338-BA9A-C0EABE1F9CA5}"/>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835A685A-8E99-4CE7-A00A-03F237CB4B3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2F049CA9-B32E-4DCD-953E-8CB03A8FA5EB}"/>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042946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0F98F-50DA-4B3B-BC78-53E85B3C7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1A0EA9-4EB6-447B-A8B1-CDC58F4EC3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1B3330-9702-4A5E-9B18-EFF9DA493F3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5B1AD834-E2AE-45B6-8EE3-DFDA775B9C6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1F2B724F-5B33-4B68-935C-C842BE0935F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550482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theme" Target="../theme/theme2.xml"/><Relationship Id="rId15"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EEBE83-9086-68AF-2457-497EE4BD3E31}"/>
              </a:ext>
            </a:extLst>
          </p:cNvPr>
          <p:cNvSpPr>
            <a:spLocks noGrp="1"/>
          </p:cNvSpPr>
          <p:nvPr>
            <p:ph type="dt" sz="half" idx="2"/>
          </p:nvPr>
        </p:nvSpPr>
        <p:spPr>
          <a:xfrm>
            <a:off x="367589" y="6399815"/>
            <a:ext cx="2743200" cy="365068"/>
          </a:xfrm>
          <a:prstGeom prst="rect">
            <a:avLst/>
          </a:prstGeom>
        </p:spPr>
        <p:txBody>
          <a:bodyPr vert="horz" lIns="91440" tIns="45720" rIns="91440" bIns="45720" rtlCol="0" anchor="ctr"/>
          <a:lstStyle>
            <a:lvl1pPr algn="l">
              <a:defRPr sz="800" b="1">
                <a:solidFill>
                  <a:schemeClr val="accent1"/>
                </a:solidFill>
              </a:defRPr>
            </a:lvl1pPr>
          </a:lstStyle>
          <a:p>
            <a:pPr defTabSz="304770"/>
            <a:endParaRPr lang="en-US">
              <a:solidFill>
                <a:srgbClr val="002C77"/>
              </a:solidFill>
            </a:endParaRPr>
          </a:p>
        </p:txBody>
      </p:sp>
      <p:sp>
        <p:nvSpPr>
          <p:cNvPr id="5" name="Footer Placeholder 4">
            <a:extLst>
              <a:ext uri="{FF2B5EF4-FFF2-40B4-BE49-F238E27FC236}">
                <a16:creationId xmlns:a16="http://schemas.microsoft.com/office/drawing/2014/main" id="{B8B090F6-5F84-36D7-2D31-1F6F5ED402C1}"/>
              </a:ext>
            </a:extLst>
          </p:cNvPr>
          <p:cNvSpPr>
            <a:spLocks noGrp="1"/>
          </p:cNvSpPr>
          <p:nvPr>
            <p:ph type="ftr" sz="quarter" idx="3"/>
          </p:nvPr>
        </p:nvSpPr>
        <p:spPr>
          <a:xfrm>
            <a:off x="4038600" y="6399815"/>
            <a:ext cx="4114800" cy="365068"/>
          </a:xfrm>
          <a:prstGeom prst="rect">
            <a:avLst/>
          </a:prstGeom>
        </p:spPr>
        <p:txBody>
          <a:bodyPr vert="horz" lIns="91440" tIns="45720" rIns="91440" bIns="45720" rtlCol="0" anchor="ctr"/>
          <a:lstStyle>
            <a:lvl1pPr algn="ctr">
              <a:defRPr sz="800" b="1">
                <a:solidFill>
                  <a:schemeClr val="accent1"/>
                </a:solidFill>
              </a:defRPr>
            </a:lvl1pPr>
          </a:lstStyle>
          <a:p>
            <a:pPr defTabSz="304770"/>
            <a:endParaRPr lang="en-US">
              <a:solidFill>
                <a:srgbClr val="002C77"/>
              </a:solidFill>
            </a:endParaRPr>
          </a:p>
        </p:txBody>
      </p:sp>
      <p:sp>
        <p:nvSpPr>
          <p:cNvPr id="6" name="Slide Number Placeholder 5">
            <a:extLst>
              <a:ext uri="{FF2B5EF4-FFF2-40B4-BE49-F238E27FC236}">
                <a16:creationId xmlns:a16="http://schemas.microsoft.com/office/drawing/2014/main" id="{45897E31-4D26-1628-F67E-61E73139CF79}"/>
              </a:ext>
            </a:extLst>
          </p:cNvPr>
          <p:cNvSpPr>
            <a:spLocks noGrp="1"/>
          </p:cNvSpPr>
          <p:nvPr>
            <p:ph type="sldNum" sz="quarter" idx="4"/>
          </p:nvPr>
        </p:nvSpPr>
        <p:spPr>
          <a:xfrm>
            <a:off x="9064800" y="6399815"/>
            <a:ext cx="2743200" cy="365068"/>
          </a:xfrm>
          <a:prstGeom prst="rect">
            <a:avLst/>
          </a:prstGeom>
        </p:spPr>
        <p:txBody>
          <a:bodyPr vert="horz" lIns="91440" tIns="45720" rIns="91440" bIns="45720" rtlCol="0" anchor="ctr"/>
          <a:lstStyle>
            <a:lvl1pPr algn="r">
              <a:defRPr sz="800" b="1">
                <a:solidFill>
                  <a:schemeClr val="accent1"/>
                </a:solidFill>
              </a:defRPr>
            </a:lvl1p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
        <p:nvSpPr>
          <p:cNvPr id="2" name="Title Placeholder 1">
            <a:extLst>
              <a:ext uri="{FF2B5EF4-FFF2-40B4-BE49-F238E27FC236}">
                <a16:creationId xmlns:a16="http://schemas.microsoft.com/office/drawing/2014/main" id="{39C850F6-5A57-0521-D120-D59958D3D59F}"/>
              </a:ext>
            </a:extLst>
          </p:cNvPr>
          <p:cNvSpPr>
            <a:spLocks noGrp="1"/>
          </p:cNvSpPr>
          <p:nvPr>
            <p:ph type="title"/>
          </p:nvPr>
        </p:nvSpPr>
        <p:spPr>
          <a:xfrm>
            <a:off x="381001" y="794327"/>
            <a:ext cx="10598217" cy="436733"/>
          </a:xfrm>
          <a:prstGeom prst="rect">
            <a:avLst/>
          </a:prstGeom>
        </p:spPr>
        <p:txBody>
          <a:bodyPr vert="horz" lIns="0" tIns="45720" rIns="0" bIns="45720" rtlCol="0" anchor="ctr">
            <a:noAutofit/>
          </a:bodyPr>
          <a:lstStyle/>
          <a:p>
            <a:r>
              <a:rPr lang="en-US"/>
              <a:t>Click to edit Master title style</a:t>
            </a:r>
          </a:p>
        </p:txBody>
      </p:sp>
      <p:sp>
        <p:nvSpPr>
          <p:cNvPr id="7" name="Text Placeholder 2">
            <a:extLst>
              <a:ext uri="{FF2B5EF4-FFF2-40B4-BE49-F238E27FC236}">
                <a16:creationId xmlns:a16="http://schemas.microsoft.com/office/drawing/2014/main" id="{B3509D7C-BA36-AD2E-0120-44597B0970C9}"/>
              </a:ext>
            </a:extLst>
          </p:cNvPr>
          <p:cNvSpPr>
            <a:spLocks noGrp="1"/>
          </p:cNvSpPr>
          <p:nvPr>
            <p:ph type="body" idx="1"/>
          </p:nvPr>
        </p:nvSpPr>
        <p:spPr>
          <a:xfrm>
            <a:off x="381000" y="1869314"/>
            <a:ext cx="11430000" cy="4132772"/>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9009392"/>
      </p:ext>
    </p:extLst>
  </p:cSld>
  <p:clrMap bg1="lt1" tx1="dk1" bg2="lt2" tx2="dk2" accent1="accent1" accent2="accent2" accent3="accent3" accent4="accent4" accent5="accent5" accent6="accent6" hlink="hlink" folHlink="folHlink"/>
  <p:sldLayoutIdLst>
    <p:sldLayoutId id="2147483807"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 id="2147483802" r:id="rId35"/>
    <p:sldLayoutId id="2147483803" r:id="rId36"/>
    <p:sldLayoutId id="2147483804" r:id="rId37"/>
    <p:sldLayoutId id="2147483805" r:id="rId38"/>
  </p:sldLayoutIdLst>
  <p:hf hdr="0" ftr="0" dt="0"/>
  <p:txStyles>
    <p:titleStyle>
      <a:lvl1pPr algn="l" defTabSz="609539"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0" indent="0" algn="l" defTabSz="609539" rtl="0" eaLnBrk="1" latinLnBrk="0" hangingPunct="1">
        <a:lnSpc>
          <a:spcPct val="90000"/>
        </a:lnSpc>
        <a:spcBef>
          <a:spcPts val="667"/>
        </a:spcBef>
        <a:buClr>
          <a:schemeClr val="accent1"/>
        </a:buClr>
        <a:buFont typeface="Arial" panose="020B0604020202020204" pitchFamily="34" charset="0"/>
        <a:buNone/>
        <a:defRPr sz="1400" b="1" kern="1200">
          <a:solidFill>
            <a:schemeClr val="accent1"/>
          </a:solidFill>
          <a:latin typeface="+mn-lt"/>
          <a:ea typeface="+mn-ea"/>
          <a:cs typeface="+mn-cs"/>
        </a:defRPr>
      </a:lvl1pPr>
      <a:lvl2pPr marL="0" indent="0" algn="l" defTabSz="609539" rtl="0" eaLnBrk="1" latinLnBrk="0" hangingPunct="1">
        <a:lnSpc>
          <a:spcPct val="100000"/>
        </a:lnSpc>
        <a:spcBef>
          <a:spcPts val="0"/>
        </a:spcBef>
        <a:buClrTx/>
        <a:buFont typeface="Arial" panose="020B0604020202020204" pitchFamily="34" charset="0"/>
        <a:buNone/>
        <a:defRPr sz="1100" kern="1200">
          <a:solidFill>
            <a:schemeClr val="tx1"/>
          </a:solidFill>
          <a:latin typeface="+mn-lt"/>
          <a:ea typeface="+mn-ea"/>
          <a:cs typeface="+mn-cs"/>
        </a:defRPr>
      </a:lvl2pPr>
      <a:lvl3pPr marL="143919" indent="-143919" algn="l" defTabSz="609539" rtl="0" eaLnBrk="1" latinLnBrk="0" hangingPunct="1">
        <a:lnSpc>
          <a:spcPct val="100000"/>
        </a:lnSpc>
        <a:spcBef>
          <a:spcPts val="333"/>
        </a:spcBef>
        <a:buClrTx/>
        <a:buFont typeface="Arial" panose="020B0604020202020204" pitchFamily="34" charset="0"/>
        <a:buChar char="•"/>
        <a:defRPr sz="1100" kern="1200">
          <a:solidFill>
            <a:schemeClr val="tx1"/>
          </a:solidFill>
          <a:latin typeface="+mn-lt"/>
          <a:ea typeface="+mn-ea"/>
          <a:cs typeface="+mn-cs"/>
        </a:defRPr>
      </a:lvl3pPr>
      <a:lvl4pPr marL="287971" indent="-143986" algn="l" defTabSz="609539" rtl="0" eaLnBrk="1" latinLnBrk="0" hangingPunct="1">
        <a:lnSpc>
          <a:spcPct val="100000"/>
        </a:lnSpc>
        <a:spcBef>
          <a:spcPts val="333"/>
        </a:spcBef>
        <a:buClr>
          <a:schemeClr val="accent1"/>
        </a:buClr>
        <a:buFont typeface="System Font Regular"/>
        <a:buChar char="−"/>
        <a:defRPr sz="1100" kern="1200">
          <a:solidFill>
            <a:schemeClr val="tx1"/>
          </a:solidFill>
          <a:latin typeface="+mn-lt"/>
          <a:ea typeface="+mn-ea"/>
          <a:cs typeface="+mn-cs"/>
        </a:defRPr>
      </a:lvl4pPr>
      <a:lvl5pPr marL="1371462" indent="-152385" algn="l" defTabSz="609539" rtl="0" eaLnBrk="1" latinLnBrk="0" hangingPunct="1">
        <a:lnSpc>
          <a:spcPct val="90000"/>
        </a:lnSpc>
        <a:spcBef>
          <a:spcPts val="333"/>
        </a:spcBef>
        <a:buClr>
          <a:schemeClr val="accent1"/>
        </a:buClr>
        <a:buFont typeface="System Font Regular"/>
        <a:buChar char="−"/>
        <a:defRPr sz="1067" kern="1200">
          <a:solidFill>
            <a:schemeClr val="tx1"/>
          </a:solidFill>
          <a:latin typeface="+mn-lt"/>
          <a:ea typeface="+mn-ea"/>
          <a:cs typeface="+mn-cs"/>
        </a:defRPr>
      </a:lvl5pPr>
      <a:lvl6pPr marL="167623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00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77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54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199">
          <p15:clr>
            <a:srgbClr val="F26B43"/>
          </p15:clr>
        </p15:guide>
        <p15:guide id="4" orient="horz" pos="2084">
          <p15:clr>
            <a:srgbClr val="F26B43"/>
          </p15:clr>
        </p15:guide>
        <p15:guide id="6" orient="horz" pos="360">
          <p15:clr>
            <a:srgbClr val="F26B43"/>
          </p15:clr>
        </p15:guide>
        <p15:guide id="7" orient="horz" pos="2674">
          <p15:clr>
            <a:srgbClr val="F26B43"/>
          </p15:clr>
        </p15:guide>
        <p15:guide id="8" orient="horz" pos="625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A picture containing drawing&#10;&#10;Description automatically generated">
            <a:extLst>
              <a:ext uri="{FF2B5EF4-FFF2-40B4-BE49-F238E27FC236}">
                <a16:creationId xmlns:a16="http://schemas.microsoft.com/office/drawing/2014/main" id="{BD9ADBC1-B9FC-4B1B-9E6B-E569BC6FB4B7}"/>
              </a:ext>
            </a:extLst>
          </p:cNvPr>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11066083" y="85232"/>
            <a:ext cx="893853" cy="328988"/>
          </a:xfrm>
          <a:prstGeom prst="rect">
            <a:avLst/>
          </a:prstGeom>
        </p:spPr>
      </p:pic>
      <p:sp>
        <p:nvSpPr>
          <p:cNvPr id="3" name="Text Placeholder 2">
            <a:extLst>
              <a:ext uri="{FF2B5EF4-FFF2-40B4-BE49-F238E27FC236}">
                <a16:creationId xmlns:a16="http://schemas.microsoft.com/office/drawing/2014/main" id="{5486E81E-755E-40B4-B57A-E890B60F963B}"/>
              </a:ext>
            </a:extLst>
          </p:cNvPr>
          <p:cNvSpPr>
            <a:spLocks noGrp="1"/>
          </p:cNvSpPr>
          <p:nvPr>
            <p:ph type="body" idx="1"/>
          </p:nvPr>
        </p:nvSpPr>
        <p:spPr>
          <a:xfrm>
            <a:off x="382385" y="106916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3C6A3783-D47D-4620-B9B6-74B034A93F04}"/>
              </a:ext>
            </a:extLst>
          </p:cNvPr>
          <p:cNvSpPr>
            <a:spLocks noGrp="1"/>
          </p:cNvSpPr>
          <p:nvPr>
            <p:ph type="sldNum" sz="quarter" idx="4"/>
          </p:nvPr>
        </p:nvSpPr>
        <p:spPr>
          <a:xfrm>
            <a:off x="11504122" y="6364663"/>
            <a:ext cx="455815" cy="365125"/>
          </a:xfrm>
          <a:prstGeom prst="rect">
            <a:avLst/>
          </a:prstGeom>
        </p:spPr>
        <p:txBody>
          <a:bodyPr vert="horz" lIns="91440" tIns="45720" rIns="91440" bIns="45720" rtlCol="0" anchor="ctr"/>
          <a:lstStyle>
            <a:lvl1pPr algn="ctr">
              <a:defRPr sz="1000">
                <a:solidFill>
                  <a:schemeClr val="tx1">
                    <a:lumMod val="75000"/>
                    <a:lumOff val="25000"/>
                  </a:schemeClr>
                </a:solidFill>
                <a:latin typeface="MetaPro-Normal" panose="02000503040000020004" pitchFamily="2" charset="0"/>
              </a:defRPr>
            </a:lvl1pPr>
          </a:lstStyle>
          <a:p>
            <a:fld id="{8E913856-EC6D-448E-9427-9BACCD9E10C2}" type="slidenum">
              <a:rPr lang="en-GB" smtClean="0"/>
              <a:pPr/>
              <a:t>‹#›</a:t>
            </a:fld>
            <a:endParaRPr lang="en-GB" dirty="0"/>
          </a:p>
        </p:txBody>
      </p:sp>
      <p:sp>
        <p:nvSpPr>
          <p:cNvPr id="2" name="Title Placeholder 1">
            <a:extLst>
              <a:ext uri="{FF2B5EF4-FFF2-40B4-BE49-F238E27FC236}">
                <a16:creationId xmlns:a16="http://schemas.microsoft.com/office/drawing/2014/main" id="{0B07654C-02A0-4751-B3EF-F6DE296885B0}"/>
              </a:ext>
            </a:extLst>
          </p:cNvPr>
          <p:cNvSpPr>
            <a:spLocks noGrp="1"/>
          </p:cNvSpPr>
          <p:nvPr>
            <p:ph type="title"/>
          </p:nvPr>
        </p:nvSpPr>
        <p:spPr>
          <a:xfrm>
            <a:off x="382385" y="172857"/>
            <a:ext cx="9767455" cy="290003"/>
          </a:xfrm>
          <a:prstGeom prst="rect">
            <a:avLst/>
          </a:prstGeom>
        </p:spPr>
        <p:txBody>
          <a:bodyPr vert="horz" lIns="91440" tIns="45720" rIns="91440" bIns="45720" rtlCol="0" anchor="t">
            <a:normAutofit/>
          </a:bodyPr>
          <a:lstStyle/>
          <a:p>
            <a:r>
              <a:rPr lang="en-US" dirty="0"/>
              <a:t>CLICK TO EDIT MASTER TITLE STYLE</a:t>
            </a:r>
            <a:endParaRPr lang="en-GB" dirty="0"/>
          </a:p>
        </p:txBody>
      </p:sp>
      <p:cxnSp>
        <p:nvCxnSpPr>
          <p:cNvPr id="10" name="Straight Connector 9">
            <a:extLst>
              <a:ext uri="{FF2B5EF4-FFF2-40B4-BE49-F238E27FC236}">
                <a16:creationId xmlns:a16="http://schemas.microsoft.com/office/drawing/2014/main" id="{2972C50E-7F28-4145-AE89-9C6D746D9525}"/>
              </a:ext>
            </a:extLst>
          </p:cNvPr>
          <p:cNvCxnSpPr>
            <a:cxnSpLocks/>
          </p:cNvCxnSpPr>
          <p:nvPr userDrawn="1"/>
        </p:nvCxnSpPr>
        <p:spPr>
          <a:xfrm>
            <a:off x="0" y="6533803"/>
            <a:ext cx="11499860" cy="0"/>
          </a:xfrm>
          <a:prstGeom prst="line">
            <a:avLst/>
          </a:prstGeom>
          <a:ln w="9525">
            <a:solidFill>
              <a:schemeClr val="tx1">
                <a:lumMod val="75000"/>
                <a:lumOff val="25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6670DED-A389-43F5-96CA-9B6BBD9DFFD1}"/>
              </a:ext>
            </a:extLst>
          </p:cNvPr>
          <p:cNvSpPr/>
          <p:nvPr userDrawn="1"/>
        </p:nvSpPr>
        <p:spPr>
          <a:xfrm>
            <a:off x="0" y="0"/>
            <a:ext cx="108000" cy="900000"/>
          </a:xfrm>
          <a:prstGeom prst="rect">
            <a:avLst/>
          </a:prstGeom>
          <a:solidFill>
            <a:srgbClr val="EDB7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etaPro-Normal" panose="02000503040000020004" pitchFamily="50" charset="0"/>
            </a:endParaRPr>
          </a:p>
        </p:txBody>
      </p:sp>
    </p:spTree>
    <p:extLst>
      <p:ext uri="{BB962C8B-B14F-4D97-AF65-F5344CB8AC3E}">
        <p14:creationId xmlns:p14="http://schemas.microsoft.com/office/powerpoint/2010/main" val="3992785906"/>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9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txStyles>
    <p:titleStyle>
      <a:lvl1pPr algn="l" defTabSz="914400" rtl="0" eaLnBrk="1" latinLnBrk="0" hangingPunct="1">
        <a:lnSpc>
          <a:spcPct val="90000"/>
        </a:lnSpc>
        <a:spcBef>
          <a:spcPct val="0"/>
        </a:spcBef>
        <a:buNone/>
        <a:defRPr sz="2400" kern="1200">
          <a:solidFill>
            <a:schemeClr val="tx1">
              <a:lumMod val="75000"/>
              <a:lumOff val="25000"/>
            </a:schemeClr>
          </a:solidFill>
          <a:latin typeface="MetaPro-Normal" panose="02000503040000020004"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393192" y="2743200"/>
            <a:ext cx="11402568" cy="1005840"/>
          </a:xfrm>
        </p:spPr>
        <p:txBody>
          <a:bodyPr wrap="square"/>
          <a:lstStyle/>
          <a:p>
            <a:pPr>
              <a:spcAft>
                <a:spcPts val="600"/>
              </a:spcAft>
            </a:pPr>
            <a:r>
              <a:rPr sz="4000" b="1"/>
              <a:t>WCE Reporting Tools — Day 2</a:t>
            </a:r>
          </a:p>
        </p:txBody>
      </p:sp>
      <p:sp>
        <p:nvSpPr>
          <p:cNvPr id="4" name="Subtitle 3"/>
          <p:cNvSpPr>
            <a:spLocks noGrp="1"/>
          </p:cNvSpPr>
          <p:nvPr>
            <p:ph type="subTitle" idx="1"/>
          </p:nvPr>
        </p:nvSpPr>
        <p:spPr>
          <a:xfrm>
            <a:off x="393192" y="3840480"/>
            <a:ext cx="11402568" cy="640080"/>
          </a:xfrm>
        </p:spPr>
        <p:txBody>
          <a:bodyPr wrap="square"/>
          <a:lstStyle/>
          <a:p>
            <a:pPr>
              <a:spcAft>
                <a:spcPts val="600"/>
              </a:spcAft>
            </a:pPr>
            <a:r>
              <a:rPr sz="2000" b="0"/>
              <a:t>Tuesday 20 October 2026  ·  Precharge, the SACRED dashboards, Argo Navis, the loop</a:t>
            </a:r>
          </a:p>
        </p:txBody>
      </p:sp>
      <p:sp>
        <p:nvSpPr>
          <p:cNvPr id="5" name="TextBox 4"/>
          <p:cNvSpPr txBox="1"/>
          <p:nvPr/>
        </p:nvSpPr>
        <p:spPr>
          <a:xfrm>
            <a:off x="393192" y="4754880"/>
            <a:ext cx="11402568" cy="822960"/>
          </a:xfrm>
          <a:prstGeom prst="rect">
            <a:avLst/>
          </a:prstGeom>
          <a:noFill/>
        </p:spPr>
        <p:txBody>
          <a:bodyPr wrap="square" lIns="0" rIns="0" tIns="0" bIns="0">
            <a:spAutoFit/>
          </a:bodyPr>
          <a:lstStyle/>
          <a:p>
            <a:pPr>
              <a:spcAft>
                <a:spcPts val="400"/>
              </a:spcAft>
            </a:pPr>
            <a:r>
              <a:rPr sz="1600" b="0">
                <a:solidFill>
                  <a:srgbClr val="1F2D3D"/>
                </a:solidFill>
              </a:rPr>
              <a:t>Dan Plant, Technical Services – Subsea</a:t>
            </a:r>
          </a:p>
          <a:p>
            <a:pPr>
              <a:spcAft>
                <a:spcPts val="400"/>
              </a:spcAft>
            </a:pPr>
            <a:r>
              <a:rPr sz="1600" b="0">
                <a:solidFill>
                  <a:srgbClr val="1F2D3D"/>
                </a:solidFill>
              </a:rPr>
              <a:t>Lee Arnold, WCE Manager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Day 2 agenda</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Tuesday 20 October 2026</a:t>
            </a:r>
          </a:p>
        </p:txBody>
      </p:sp>
      <p:graphicFrame>
        <p:nvGraphicFramePr>
          <p:cNvPr id="5" name="Table 4"/>
          <p:cNvGraphicFramePr>
            <a:graphicFrameLocks noGrp="1"/>
          </p:cNvGraphicFramePr>
          <p:nvPr/>
        </p:nvGraphicFramePr>
        <p:xfrm>
          <a:off x="384048" y="1783080"/>
          <a:ext cx="11411709" cy="3657600"/>
        </p:xfrm>
        <a:graphic>
          <a:graphicData uri="http://schemas.openxmlformats.org/drawingml/2006/table">
            <a:tbl>
              <a:tblPr firstRow="1" bandRow="1">
                <a:tableStyleId>{5C22544A-7EE6-4342-B048-85BDC9FD1C3A}</a:tableStyleId>
              </a:tblPr>
              <a:tblGrid>
                <a:gridCol w="1551992"/>
                <a:gridCol w="912936"/>
                <a:gridCol w="7303495"/>
                <a:gridCol w="1643286"/>
              </a:tblGrid>
              <a:tr h="365760">
                <a:tc>
                  <a:txBody>
                    <a:bodyPr wrap="square"/>
                    <a:lstStyle/>
                    <a:p>
                      <a:pPr>
                        <a:spcAft>
                          <a:spcPts val="0"/>
                        </a:spcAft>
                      </a:pPr>
                      <a:r>
                        <a:rPr sz="1400" b="1">
                          <a:solidFill>
                            <a:srgbClr val="FFFFFF"/>
                          </a:solidFill>
                        </a:rPr>
                        <a:t>Time</a:t>
                      </a:r>
                    </a:p>
                  </a:txBody>
                  <a:tcPr marT="45720" marB="45720" marL="73152" marR="73152" anchor="ctr"/>
                </a:tc>
                <a:tc>
                  <a:txBody>
                    <a:bodyPr wrap="square"/>
                    <a:lstStyle/>
                    <a:p>
                      <a:pPr>
                        <a:spcAft>
                          <a:spcPts val="0"/>
                        </a:spcAft>
                      </a:pPr>
                      <a:r>
                        <a:rPr sz="1400" b="1">
                          <a:solidFill>
                            <a:srgbClr val="FFFFFF"/>
                          </a:solidFill>
                        </a:rPr>
                        <a:t>Module</a:t>
                      </a:r>
                    </a:p>
                  </a:txBody>
                  <a:tcPr marT="45720" marB="45720" marL="73152" marR="73152" anchor="ctr"/>
                </a:tc>
                <a:tc>
                  <a:txBody>
                    <a:bodyPr wrap="square"/>
                    <a:lstStyle/>
                    <a:p>
                      <a:pPr>
                        <a:spcAft>
                          <a:spcPts val="0"/>
                        </a:spcAft>
                      </a:pPr>
                      <a:r>
                        <a:rPr sz="1400" b="1">
                          <a:solidFill>
                            <a:srgbClr val="FFFFFF"/>
                          </a:solidFill>
                        </a:rPr>
                        <a:t>Session</a:t>
                      </a:r>
                    </a:p>
                  </a:txBody>
                  <a:tcPr marT="45720" marB="45720" marL="73152" marR="73152" anchor="ctr"/>
                </a:tc>
                <a:tc>
                  <a:txBody>
                    <a:bodyPr wrap="square"/>
                    <a:lstStyle/>
                    <a:p>
                      <a:pPr>
                        <a:spcAft>
                          <a:spcPts val="0"/>
                        </a:spcAft>
                      </a:pPr>
                      <a:r>
                        <a:rPr sz="1400" b="1">
                          <a:solidFill>
                            <a:srgbClr val="FFFFFF"/>
                          </a:solidFill>
                        </a:rPr>
                        <a:t>Who</a:t>
                      </a:r>
                    </a:p>
                  </a:txBody>
                  <a:tcPr marT="45720" marB="45720" marL="73152" marR="73152" anchor="ctr"/>
                </a:tc>
              </a:tr>
              <a:tr h="365760">
                <a:tc>
                  <a:txBody>
                    <a:bodyPr wrap="square"/>
                    <a:lstStyle/>
                    <a:p>
                      <a:pPr>
                        <a:spcAft>
                          <a:spcPts val="0"/>
                        </a:spcAft>
                      </a:pPr>
                      <a:r>
                        <a:rPr sz="1400" b="1"/>
                        <a:t>08:00–10:00</a:t>
                      </a:r>
                    </a:p>
                  </a:txBody>
                  <a:tcPr marT="45720" marB="45720" marL="73152" marR="73152" anchor="ctr"/>
                </a:tc>
                <a:tc>
                  <a:txBody>
                    <a:bodyPr wrap="square"/>
                    <a:lstStyle/>
                    <a:p>
                      <a:pPr>
                        <a:spcAft>
                          <a:spcPts val="0"/>
                        </a:spcAft>
                      </a:pPr>
                      <a:r>
                        <a:rPr sz="1400" b="0"/>
                        <a:t>5</a:t>
                      </a:r>
                    </a:p>
                  </a:txBody>
                  <a:tcPr marT="45720" marB="45720" marL="73152" marR="73152" anchor="ctr"/>
                </a:tc>
                <a:tc>
                  <a:txBody>
                    <a:bodyPr wrap="square"/>
                    <a:lstStyle/>
                    <a:p>
                      <a:pPr>
                        <a:spcAft>
                          <a:spcPts val="0"/>
                        </a:spcAft>
                      </a:pPr>
                      <a:r>
                        <a:rPr sz="1400" b="0"/>
                        <a:t>The precharge process</a:t>
                      </a:r>
                    </a:p>
                  </a:txBody>
                  <a:tcPr marT="45720" marB="45720" marL="73152" marR="73152" anchor="ctr"/>
                </a:tc>
                <a:tc>
                  <a:txBody>
                    <a:bodyPr wrap="square"/>
                    <a:lstStyle/>
                    <a:p>
                      <a:pPr>
                        <a:spcAft>
                          <a:spcPts val="0"/>
                        </a:spcAft>
                      </a:pPr>
                      <a:r>
                        <a:rPr sz="1400" b="0"/>
                        <a:t>Dan</a:t>
                      </a:r>
                    </a:p>
                  </a:txBody>
                  <a:tcPr marT="45720" marB="45720" marL="73152" marR="73152" anchor="ctr"/>
                </a:tc>
              </a:tr>
              <a:tr h="365760">
                <a:tc>
                  <a:txBody>
                    <a:bodyPr wrap="square"/>
                    <a:lstStyle/>
                    <a:p>
                      <a:pPr>
                        <a:spcAft>
                          <a:spcPts val="0"/>
                        </a:spcAft>
                      </a:pPr>
                      <a:r>
                        <a:rPr sz="1400" b="0" i="1">
                          <a:solidFill>
                            <a:srgbClr val="5A6472"/>
                          </a:solidFill>
                        </a:rPr>
                        <a:t>10:00–10:15</a:t>
                      </a:r>
                    </a:p>
                  </a:txBody>
                  <a:tcPr marT="45720" marB="45720" marL="73152" marR="73152" anchor="ctr"/>
                </a:tc>
                <a:tc>
                  <a:txBody>
                    <a:bodyPr wrap="square"/>
                    <a:lstStyle/>
                    <a:p>
                      <a:pPr>
                        <a:spcAft>
                          <a:spcPts val="0"/>
                        </a:spcAft>
                      </a:pPr>
                      <a:r>
                        <a:rPr sz="1400" b="0" i="1">
                          <a:solidFill>
                            <a:srgbClr val="5A6472"/>
                          </a:solidFill>
                        </a:rPr>
                        <a:t/>
                      </a:r>
                    </a:p>
                  </a:txBody>
                  <a:tcPr marT="45720" marB="45720" marL="73152" marR="73152" anchor="ctr"/>
                </a:tc>
                <a:tc>
                  <a:txBody>
                    <a:bodyPr wrap="square"/>
                    <a:lstStyle/>
                    <a:p>
                      <a:pPr>
                        <a:spcAft>
                          <a:spcPts val="0"/>
                        </a:spcAft>
                      </a:pPr>
                      <a:r>
                        <a:rPr sz="1400" b="0" i="1">
                          <a:solidFill>
                            <a:srgbClr val="5A6472"/>
                          </a:solidFill>
                        </a:rPr>
                        <a:t>Break</a:t>
                      </a:r>
                    </a:p>
                  </a:txBody>
                  <a:tcPr marT="45720" marB="45720" marL="73152" marR="73152" anchor="ctr"/>
                </a:tc>
                <a:tc>
                  <a:txBody>
                    <a:bodyPr wrap="square"/>
                    <a:lstStyle/>
                    <a:p>
                      <a:pPr>
                        <a:spcAft>
                          <a:spcPts val="0"/>
                        </a:spcAft>
                      </a:pPr>
                      <a:r>
                        <a:rPr sz="1400" b="0" i="1">
                          <a:solidFill>
                            <a:srgbClr val="5A6472"/>
                          </a:solidFill>
                        </a:rPr>
                        <a:t/>
                      </a:r>
                    </a:p>
                  </a:txBody>
                  <a:tcPr marT="45720" marB="45720" marL="73152" marR="73152" anchor="ctr"/>
                </a:tc>
              </a:tr>
              <a:tr h="365760">
                <a:tc>
                  <a:txBody>
                    <a:bodyPr wrap="square"/>
                    <a:lstStyle/>
                    <a:p>
                      <a:pPr>
                        <a:spcAft>
                          <a:spcPts val="0"/>
                        </a:spcAft>
                      </a:pPr>
                      <a:r>
                        <a:rPr sz="1400" b="1"/>
                        <a:t>10:15–12:00</a:t>
                      </a:r>
                    </a:p>
                  </a:txBody>
                  <a:tcPr marT="45720" marB="45720" marL="73152" marR="73152" anchor="ctr"/>
                </a:tc>
                <a:tc>
                  <a:txBody>
                    <a:bodyPr wrap="square"/>
                    <a:lstStyle/>
                    <a:p>
                      <a:pPr>
                        <a:spcAft>
                          <a:spcPts val="0"/>
                        </a:spcAft>
                      </a:pPr>
                      <a:r>
                        <a:rPr sz="1400" b="0"/>
                        <a:t>6</a:t>
                      </a:r>
                    </a:p>
                  </a:txBody>
                  <a:tcPr marT="45720" marB="45720" marL="73152" marR="73152" anchor="ctr"/>
                </a:tc>
                <a:tc>
                  <a:txBody>
                    <a:bodyPr wrap="square"/>
                    <a:lstStyle/>
                    <a:p>
                      <a:pPr>
                        <a:spcAft>
                          <a:spcPts val="0"/>
                        </a:spcAft>
                      </a:pPr>
                      <a:r>
                        <a:rPr sz="1400" b="0"/>
                        <a:t>The SACRED dashboards</a:t>
                      </a:r>
                    </a:p>
                  </a:txBody>
                  <a:tcPr marT="45720" marB="45720" marL="73152" marR="73152" anchor="ctr"/>
                </a:tc>
                <a:tc>
                  <a:txBody>
                    <a:bodyPr wrap="square"/>
                    <a:lstStyle/>
                    <a:p>
                      <a:pPr>
                        <a:spcAft>
                          <a:spcPts val="0"/>
                        </a:spcAft>
                      </a:pPr>
                      <a:r>
                        <a:rPr sz="1400" b="0"/>
                        <a:t>Dan</a:t>
                      </a:r>
                    </a:p>
                  </a:txBody>
                  <a:tcPr marT="45720" marB="45720" marL="73152" marR="73152" anchor="ctr"/>
                </a:tc>
              </a:tr>
              <a:tr h="365760">
                <a:tc>
                  <a:txBody>
                    <a:bodyPr wrap="square"/>
                    <a:lstStyle/>
                    <a:p>
                      <a:pPr>
                        <a:spcAft>
                          <a:spcPts val="0"/>
                        </a:spcAft>
                      </a:pPr>
                      <a:r>
                        <a:rPr sz="1400" b="0" i="1">
                          <a:solidFill>
                            <a:srgbClr val="5A6472"/>
                          </a:solidFill>
                        </a:rPr>
                        <a:t>12:00–13:00</a:t>
                      </a:r>
                    </a:p>
                  </a:txBody>
                  <a:tcPr marT="45720" marB="45720" marL="73152" marR="73152" anchor="ctr"/>
                </a:tc>
                <a:tc>
                  <a:txBody>
                    <a:bodyPr wrap="square"/>
                    <a:lstStyle/>
                    <a:p>
                      <a:pPr>
                        <a:spcAft>
                          <a:spcPts val="0"/>
                        </a:spcAft>
                      </a:pPr>
                      <a:r>
                        <a:rPr sz="1400" b="0" i="1">
                          <a:solidFill>
                            <a:srgbClr val="5A6472"/>
                          </a:solidFill>
                        </a:rPr>
                        <a:t/>
                      </a:r>
                    </a:p>
                  </a:txBody>
                  <a:tcPr marT="45720" marB="45720" marL="73152" marR="73152" anchor="ctr"/>
                </a:tc>
                <a:tc>
                  <a:txBody>
                    <a:bodyPr wrap="square"/>
                    <a:lstStyle/>
                    <a:p>
                      <a:pPr>
                        <a:spcAft>
                          <a:spcPts val="0"/>
                        </a:spcAft>
                      </a:pPr>
                      <a:r>
                        <a:rPr sz="1400" b="0" i="1">
                          <a:solidFill>
                            <a:srgbClr val="5A6472"/>
                          </a:solidFill>
                        </a:rPr>
                        <a:t>Lunch</a:t>
                      </a:r>
                    </a:p>
                  </a:txBody>
                  <a:tcPr marT="45720" marB="45720" marL="73152" marR="73152" anchor="ctr"/>
                </a:tc>
                <a:tc>
                  <a:txBody>
                    <a:bodyPr wrap="square"/>
                    <a:lstStyle/>
                    <a:p>
                      <a:pPr>
                        <a:spcAft>
                          <a:spcPts val="0"/>
                        </a:spcAft>
                      </a:pPr>
                      <a:r>
                        <a:rPr sz="1400" b="0" i="1">
                          <a:solidFill>
                            <a:srgbClr val="5A6472"/>
                          </a:solidFill>
                        </a:rPr>
                        <a:t/>
                      </a:r>
                    </a:p>
                  </a:txBody>
                  <a:tcPr marT="45720" marB="45720" marL="73152" marR="73152" anchor="ctr"/>
                </a:tc>
              </a:tr>
              <a:tr h="365760">
                <a:tc>
                  <a:txBody>
                    <a:bodyPr wrap="square"/>
                    <a:lstStyle/>
                    <a:p>
                      <a:pPr>
                        <a:spcAft>
                          <a:spcPts val="0"/>
                        </a:spcAft>
                      </a:pPr>
                      <a:r>
                        <a:rPr sz="1400" b="1"/>
                        <a:t>13:00–14:30</a:t>
                      </a:r>
                    </a:p>
                  </a:txBody>
                  <a:tcPr marT="45720" marB="45720" marL="73152" marR="73152" anchor="ctr"/>
                </a:tc>
                <a:tc>
                  <a:txBody>
                    <a:bodyPr wrap="square"/>
                    <a:lstStyle/>
                    <a:p>
                      <a:pPr>
                        <a:spcAft>
                          <a:spcPts val="0"/>
                        </a:spcAft>
                      </a:pPr>
                      <a:r>
                        <a:rPr sz="1400" b="0"/>
                        <a:t>7</a:t>
                      </a:r>
                    </a:p>
                  </a:txBody>
                  <a:tcPr marT="45720" marB="45720" marL="73152" marR="73152" anchor="ctr"/>
                </a:tc>
                <a:tc>
                  <a:txBody>
                    <a:bodyPr wrap="square"/>
                    <a:lstStyle/>
                    <a:p>
                      <a:pPr>
                        <a:spcAft>
                          <a:spcPts val="0"/>
                        </a:spcAft>
                      </a:pPr>
                      <a:r>
                        <a:rPr sz="1400" b="0"/>
                        <a:t>Argo Navis: planning and executing BWM, with the </a:t>
                      </a:r>
                      <a:r>
                        <a:rPr sz="1400" b="1">
                          <a:solidFill>
                            <a:srgbClr val="002C77"/>
                          </a:solidFill>
                        </a:rPr>
                        <a:t>daily reporting hold point</a:t>
                      </a:r>
                    </a:p>
                  </a:txBody>
                  <a:tcPr marT="45720" marB="45720" marL="73152" marR="73152" anchor="ctr"/>
                </a:tc>
                <a:tc>
                  <a:txBody>
                    <a:bodyPr wrap="square"/>
                    <a:lstStyle/>
                    <a:p>
                      <a:pPr>
                        <a:spcAft>
                          <a:spcPts val="0"/>
                        </a:spcAft>
                      </a:pPr>
                      <a:r>
                        <a:rPr sz="1400" b="0"/>
                        <a:t>Dan, Lee</a:t>
                      </a:r>
                    </a:p>
                  </a:txBody>
                  <a:tcPr marT="45720" marB="45720" marL="73152" marR="73152" anchor="ctr"/>
                </a:tc>
              </a:tr>
              <a:tr h="365760">
                <a:tc>
                  <a:txBody>
                    <a:bodyPr wrap="square"/>
                    <a:lstStyle/>
                    <a:p>
                      <a:pPr>
                        <a:spcAft>
                          <a:spcPts val="0"/>
                        </a:spcAft>
                      </a:pPr>
                      <a:r>
                        <a:rPr sz="1400" b="0" i="1">
                          <a:solidFill>
                            <a:srgbClr val="5A6472"/>
                          </a:solidFill>
                        </a:rPr>
                        <a:t>14:30–14:45</a:t>
                      </a:r>
                    </a:p>
                  </a:txBody>
                  <a:tcPr marT="45720" marB="45720" marL="73152" marR="73152" anchor="ctr"/>
                </a:tc>
                <a:tc>
                  <a:txBody>
                    <a:bodyPr wrap="square"/>
                    <a:lstStyle/>
                    <a:p>
                      <a:pPr>
                        <a:spcAft>
                          <a:spcPts val="0"/>
                        </a:spcAft>
                      </a:pPr>
                      <a:r>
                        <a:rPr sz="1400" b="0" i="1">
                          <a:solidFill>
                            <a:srgbClr val="5A6472"/>
                          </a:solidFill>
                        </a:rPr>
                        <a:t/>
                      </a:r>
                    </a:p>
                  </a:txBody>
                  <a:tcPr marT="45720" marB="45720" marL="73152" marR="73152" anchor="ctr"/>
                </a:tc>
                <a:tc>
                  <a:txBody>
                    <a:bodyPr wrap="square"/>
                    <a:lstStyle/>
                    <a:p>
                      <a:pPr>
                        <a:spcAft>
                          <a:spcPts val="0"/>
                        </a:spcAft>
                      </a:pPr>
                      <a:r>
                        <a:rPr sz="1400" b="0" i="1">
                          <a:solidFill>
                            <a:srgbClr val="5A6472"/>
                          </a:solidFill>
                        </a:rPr>
                        <a:t>Break</a:t>
                      </a:r>
                    </a:p>
                  </a:txBody>
                  <a:tcPr marT="45720" marB="45720" marL="73152" marR="73152" anchor="ctr"/>
                </a:tc>
                <a:tc>
                  <a:txBody>
                    <a:bodyPr wrap="square"/>
                    <a:lstStyle/>
                    <a:p>
                      <a:pPr>
                        <a:spcAft>
                          <a:spcPts val="0"/>
                        </a:spcAft>
                      </a:pPr>
                      <a:r>
                        <a:rPr sz="1400" b="0" i="1">
                          <a:solidFill>
                            <a:srgbClr val="5A6472"/>
                          </a:solidFill>
                        </a:rPr>
                        <a:t/>
                      </a:r>
                    </a:p>
                  </a:txBody>
                  <a:tcPr marT="45720" marB="45720" marL="73152" marR="73152" anchor="ctr"/>
                </a:tc>
              </a:tr>
              <a:tr h="365760">
                <a:tc>
                  <a:txBody>
                    <a:bodyPr wrap="square"/>
                    <a:lstStyle/>
                    <a:p>
                      <a:pPr>
                        <a:spcAft>
                          <a:spcPts val="0"/>
                        </a:spcAft>
                      </a:pPr>
                      <a:r>
                        <a:rPr sz="1400" b="1"/>
                        <a:t>14:45–15:30</a:t>
                      </a:r>
                    </a:p>
                  </a:txBody>
                  <a:tcPr marT="45720" marB="45720" marL="73152" marR="73152" anchor="ctr"/>
                </a:tc>
                <a:tc>
                  <a:txBody>
                    <a:bodyPr wrap="square"/>
                    <a:lstStyle/>
                    <a:p>
                      <a:pPr>
                        <a:spcAft>
                          <a:spcPts val="0"/>
                        </a:spcAft>
                      </a:pPr>
                      <a:r>
                        <a:rPr sz="1400" b="0"/>
                        <a:t>8</a:t>
                      </a:r>
                    </a:p>
                  </a:txBody>
                  <a:tcPr marT="45720" marB="45720" marL="73152" marR="73152" anchor="ctr"/>
                </a:tc>
                <a:tc>
                  <a:txBody>
                    <a:bodyPr wrap="square"/>
                    <a:lstStyle/>
                    <a:p>
                      <a:pPr>
                        <a:spcAft>
                          <a:spcPts val="0"/>
                        </a:spcAft>
                      </a:pPr>
                      <a:r>
                        <a:rPr sz="1400" b="0"/>
                        <a:t>The loop</a:t>
                      </a:r>
                    </a:p>
                  </a:txBody>
                  <a:tcPr marT="45720" marB="45720" marL="73152" marR="73152" anchor="ctr"/>
                </a:tc>
                <a:tc>
                  <a:txBody>
                    <a:bodyPr wrap="square"/>
                    <a:lstStyle/>
                    <a:p>
                      <a:pPr>
                        <a:spcAft>
                          <a:spcPts val="0"/>
                        </a:spcAft>
                      </a:pPr>
                      <a:r>
                        <a:rPr sz="1400" b="0"/>
                        <a:t>Dan, Lee</a:t>
                      </a:r>
                    </a:p>
                  </a:txBody>
                  <a:tcPr marT="45720" marB="45720" marL="73152" marR="73152" anchor="ctr"/>
                </a:tc>
              </a:tr>
              <a:tr h="365760">
                <a:tc>
                  <a:txBody>
                    <a:bodyPr wrap="square"/>
                    <a:lstStyle/>
                    <a:p>
                      <a:pPr>
                        <a:spcAft>
                          <a:spcPts val="0"/>
                        </a:spcAft>
                      </a:pPr>
                      <a:r>
                        <a:rPr sz="1400" b="1"/>
                        <a:t>15:30–16:15</a:t>
                      </a:r>
                    </a:p>
                  </a:txBody>
                  <a:tcPr marT="45720" marB="45720" marL="73152" marR="73152" anchor="ctr"/>
                </a:tc>
                <a:tc>
                  <a:txBody>
                    <a:bodyPr wrap="square"/>
                    <a:lstStyle/>
                    <a:p>
                      <a:pPr>
                        <a:spcAft>
                          <a:spcPts val="0"/>
                        </a:spcAft>
                      </a:pPr>
                      <a:r>
                        <a:rPr sz="1400" b="0"/>
                        <a:t>9</a:t>
                      </a:r>
                    </a:p>
                  </a:txBody>
                  <a:tcPr marT="45720" marB="45720" marL="73152" marR="73152" anchor="ctr"/>
                </a:tc>
                <a:tc>
                  <a:txBody>
                    <a:bodyPr wrap="square"/>
                    <a:lstStyle/>
                    <a:p>
                      <a:pPr>
                        <a:spcAft>
                          <a:spcPts val="0"/>
                        </a:spcAft>
                      </a:pPr>
                      <a:r>
                        <a:rPr sz="1400" b="0"/>
                        <a:t>What is coming</a:t>
                      </a:r>
                    </a:p>
                  </a:txBody>
                  <a:tcPr marT="45720" marB="45720" marL="73152" marR="73152" anchor="ctr"/>
                </a:tc>
                <a:tc>
                  <a:txBody>
                    <a:bodyPr wrap="square"/>
                    <a:lstStyle/>
                    <a:p>
                      <a:pPr>
                        <a:spcAft>
                          <a:spcPts val="0"/>
                        </a:spcAft>
                      </a:pPr>
                      <a:r>
                        <a:rPr sz="1400" b="0"/>
                        <a:t>Dan</a:t>
                      </a:r>
                    </a:p>
                  </a:txBody>
                  <a:tcPr marT="45720" marB="45720" marL="73152" marR="73152" anchor="ctr"/>
                </a:tc>
              </a:tr>
              <a:tr h="365760">
                <a:tc>
                  <a:txBody>
                    <a:bodyPr wrap="square"/>
                    <a:lstStyle/>
                    <a:p>
                      <a:pPr>
                        <a:spcAft>
                          <a:spcPts val="0"/>
                        </a:spcAft>
                      </a:pPr>
                      <a:r>
                        <a:rPr sz="1400" b="1"/>
                        <a:t>16:15–17:00</a:t>
                      </a:r>
                    </a:p>
                  </a:txBody>
                  <a:tcPr marT="45720" marB="45720" marL="73152" marR="73152" anchor="ctr"/>
                </a:tc>
                <a:tc>
                  <a:txBody>
                    <a:bodyPr wrap="square"/>
                    <a:lstStyle/>
                    <a:p>
                      <a:pPr>
                        <a:spcAft>
                          <a:spcPts val="0"/>
                        </a:spcAft>
                      </a:pPr>
                      <a:r>
                        <a:rPr sz="1400" b="0"/>
                        <a:t>10</a:t>
                      </a:r>
                    </a:p>
                  </a:txBody>
                  <a:tcPr marT="45720" marB="45720" marL="73152" marR="73152" anchor="ctr"/>
                </a:tc>
                <a:tc>
                  <a:txBody>
                    <a:bodyPr wrap="square"/>
                    <a:lstStyle/>
                    <a:p>
                      <a:pPr>
                        <a:spcAft>
                          <a:spcPts val="0"/>
                        </a:spcAft>
                      </a:pPr>
                      <a:r>
                        <a:rPr sz="1400" b="0"/>
                        <a:t>Feedback</a:t>
                      </a:r>
                    </a:p>
                  </a:txBody>
                  <a:tcPr marT="45720" marB="45720" marL="73152" marR="73152" anchor="ctr"/>
                </a:tc>
                <a:tc>
                  <a:txBody>
                    <a:bodyPr wrap="square"/>
                    <a:lstStyle/>
                    <a:p>
                      <a:pPr>
                        <a:spcAft>
                          <a:spcPts val="0"/>
                        </a:spcAft>
                      </a:pPr>
                      <a:r>
                        <a:rPr sz="1400" b="0"/>
                        <a:t>All</a:t>
                      </a:r>
                    </a:p>
                  </a:txBody>
                  <a:tcPr marT="45720" marB="45720" marL="73152" marR="73152" anchor="ctr"/>
                </a:tc>
              </a:tr>
            </a:tbl>
          </a:graphicData>
        </a:graphic>
      </p:graphicFrame>
      <p:sp>
        <p:nvSpPr>
          <p:cNvPr id="6" name="Rounded Rectangle 5"/>
          <p:cNvSpPr/>
          <p:nvPr/>
        </p:nvSpPr>
        <p:spPr>
          <a:xfrm>
            <a:off x="384048" y="5596128"/>
            <a:ext cx="11411712" cy="45720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96012" bIns="96012" wrap="square"/>
          <a:lstStyle/>
          <a:p>
            <a:pPr algn="l">
              <a:spcAft>
                <a:spcPts val="0"/>
              </a:spcAft>
            </a:pPr>
            <a:r>
              <a:rPr sz="1500" b="1">
                <a:solidFill>
                  <a:srgbClr val="002C77"/>
                </a:solidFill>
              </a:rPr>
              <a:t>Today is a demonstration.  </a:t>
            </a:r>
            <a:r>
              <a:rPr sz="1500" b="0">
                <a:solidFill>
                  <a:srgbClr val="1F2D3D"/>
                </a:solidFill>
              </a:rPr>
              <a:t>Follow along on your laptop — don’t post. The Training Manual has every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wrap="square"/>
          <a:lstStyle/>
          <a:p>
            <a:pPr>
              <a:spcAft>
                <a:spcPts val="600"/>
              </a:spcAft>
            </a:pPr>
            <a:r>
              <a:rPr sz="3000" b="1"/>
              <a:t>Module 5</a:t>
            </a:r>
          </a:p>
        </p:txBody>
      </p:sp>
      <p:sp>
        <p:nvSpPr>
          <p:cNvPr id="4" name="Subtitle 3"/>
          <p:cNvSpPr>
            <a:spLocks noGrp="1"/>
          </p:cNvSpPr>
          <p:nvPr>
            <p:ph type="subTitle" idx="1"/>
          </p:nvPr>
        </p:nvSpPr>
        <p:spPr>
          <a:xfrm>
            <a:off x="356616" y="3346704"/>
            <a:ext cx="11439144" cy="548640"/>
          </a:xfrm>
        </p:spPr>
        <p:txBody>
          <a:bodyPr wrap="square"/>
          <a:lstStyle/>
          <a:p>
            <a:pPr>
              <a:spcAft>
                <a:spcPts val="600"/>
              </a:spcAft>
            </a:pPr>
            <a:r>
              <a:rPr sz="1400" b="0"/>
              <a:t>The precharge process   ·   08:00–10:00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Precharge: from request to issued PDF</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Four steps, one record</a:t>
            </a:r>
          </a:p>
        </p:txBody>
      </p:sp>
      <p:sp>
        <p:nvSpPr>
          <p:cNvPr id="5" name="Oval 4"/>
          <p:cNvSpPr/>
          <p:nvPr/>
        </p:nvSpPr>
        <p:spPr>
          <a:xfrm>
            <a:off x="384048" y="1828800"/>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1</a:t>
            </a:r>
          </a:p>
        </p:txBody>
      </p:sp>
      <p:sp>
        <p:nvSpPr>
          <p:cNvPr id="6" name="TextBox 5"/>
          <p:cNvSpPr txBox="1"/>
          <p:nvPr/>
        </p:nvSpPr>
        <p:spPr>
          <a:xfrm>
            <a:off x="886968" y="1828800"/>
            <a:ext cx="2112263" cy="384048"/>
          </a:xfrm>
          <a:prstGeom prst="rect">
            <a:avLst/>
          </a:prstGeom>
          <a:noFill/>
        </p:spPr>
        <p:txBody>
          <a:bodyPr wrap="square" lIns="0" rIns="0" tIns="0" bIns="0" anchor="ctr">
            <a:spAutoFit/>
          </a:bodyPr>
          <a:lstStyle/>
          <a:p>
            <a:pPr>
              <a:spcAft>
                <a:spcPts val="0"/>
              </a:spcAft>
            </a:pPr>
            <a:r>
              <a:rPr sz="1600" b="1">
                <a:solidFill>
                  <a:srgbClr val="002C77"/>
                </a:solidFill>
              </a:rPr>
              <a:t>The request</a:t>
            </a:r>
          </a:p>
        </p:txBody>
      </p:sp>
      <p:sp>
        <p:nvSpPr>
          <p:cNvPr id="7" name="TextBox 6"/>
          <p:cNvSpPr txBox="1"/>
          <p:nvPr/>
        </p:nvSpPr>
        <p:spPr>
          <a:xfrm>
            <a:off x="384048" y="2331720"/>
            <a:ext cx="2615184" cy="1188720"/>
          </a:xfrm>
          <a:prstGeom prst="rect">
            <a:avLst/>
          </a:prstGeom>
          <a:noFill/>
        </p:spPr>
        <p:txBody>
          <a:bodyPr wrap="square" lIns="0" rIns="0" tIns="0" bIns="0">
            <a:spAutoFit/>
          </a:bodyPr>
          <a:lstStyle/>
          <a:p>
            <a:pPr>
              <a:spcAft>
                <a:spcPts val="0"/>
              </a:spcAft>
            </a:pPr>
            <a:r>
              <a:rPr sz="1300" b="0">
                <a:solidFill>
                  <a:srgbClr val="1F2D3D"/>
                </a:solidFill>
              </a:rPr>
              <a:t>The rig fills in the BOP Precharge Request: rig, BOP, well name, minimum shear pressure, well conditions.</a:t>
            </a:r>
          </a:p>
        </p:txBody>
      </p:sp>
      <p:pic>
        <p:nvPicPr>
          <p:cNvPr id="8" name="Picture 7" descr="pc_request.png"/>
          <p:cNvPicPr>
            <a:picLocks noChangeAspect="1"/>
          </p:cNvPicPr>
          <p:nvPr/>
        </p:nvPicPr>
        <p:blipFill>
          <a:blip r:embed="rId2"/>
          <a:stretch>
            <a:fillRect/>
          </a:stretch>
        </p:blipFill>
        <p:spPr>
          <a:xfrm>
            <a:off x="384048" y="3611880"/>
            <a:ext cx="2615184" cy="1332738"/>
          </a:xfrm>
          <a:prstGeom prst="rect">
            <a:avLst/>
          </a:prstGeom>
          <a:ln w="9525">
            <a:solidFill>
              <a:srgbClr val="D0D7E1"/>
            </a:solidFill>
          </a:ln>
        </p:spPr>
      </p:pic>
      <p:sp>
        <p:nvSpPr>
          <p:cNvPr id="9" name="Chevron 8"/>
          <p:cNvSpPr/>
          <p:nvPr/>
        </p:nvSpPr>
        <p:spPr>
          <a:xfrm>
            <a:off x="3072384" y="1901952"/>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0" name="Oval 9"/>
          <p:cNvSpPr/>
          <p:nvPr/>
        </p:nvSpPr>
        <p:spPr>
          <a:xfrm>
            <a:off x="3310127" y="1828800"/>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2</a:t>
            </a:r>
          </a:p>
        </p:txBody>
      </p:sp>
      <p:sp>
        <p:nvSpPr>
          <p:cNvPr id="11" name="TextBox 10"/>
          <p:cNvSpPr txBox="1"/>
          <p:nvPr/>
        </p:nvSpPr>
        <p:spPr>
          <a:xfrm>
            <a:off x="3813048" y="1828800"/>
            <a:ext cx="2112263" cy="384048"/>
          </a:xfrm>
          <a:prstGeom prst="rect">
            <a:avLst/>
          </a:prstGeom>
          <a:noFill/>
        </p:spPr>
        <p:txBody>
          <a:bodyPr wrap="square" lIns="0" rIns="0" tIns="0" bIns="0" anchor="ctr">
            <a:spAutoFit/>
          </a:bodyPr>
          <a:lstStyle/>
          <a:p>
            <a:pPr>
              <a:spcAft>
                <a:spcPts val="0"/>
              </a:spcAft>
            </a:pPr>
            <a:r>
              <a:rPr sz="1600" b="1">
                <a:solidFill>
                  <a:srgbClr val="002C77"/>
                </a:solidFill>
              </a:rPr>
              <a:t>The calculation</a:t>
            </a:r>
          </a:p>
        </p:txBody>
      </p:sp>
      <p:sp>
        <p:nvSpPr>
          <p:cNvPr id="12" name="TextBox 11"/>
          <p:cNvSpPr txBox="1"/>
          <p:nvPr/>
        </p:nvSpPr>
        <p:spPr>
          <a:xfrm>
            <a:off x="3310127" y="2331720"/>
            <a:ext cx="2615184" cy="1188720"/>
          </a:xfrm>
          <a:prstGeom prst="rect">
            <a:avLst/>
          </a:prstGeom>
          <a:noFill/>
        </p:spPr>
        <p:txBody>
          <a:bodyPr wrap="square" lIns="0" rIns="0" tIns="0" bIns="0">
            <a:spAutoFit/>
          </a:bodyPr>
          <a:lstStyle/>
          <a:p>
            <a:pPr>
              <a:spcAft>
                <a:spcPts val="0"/>
              </a:spcAft>
            </a:pPr>
            <a:r>
              <a:rPr sz="1300" b="0">
                <a:solidFill>
                  <a:srgbClr val="1F2D3D"/>
                </a:solidFill>
              </a:rPr>
              <a:t>Technical Services loads the request into the calculator. Rig preset, OEM table or API method, every check shown.</a:t>
            </a:r>
          </a:p>
        </p:txBody>
      </p:sp>
      <p:pic>
        <p:nvPicPr>
          <p:cNvPr id="13" name="Picture 12" descr="pc_calc.png"/>
          <p:cNvPicPr>
            <a:picLocks noChangeAspect="1"/>
          </p:cNvPicPr>
          <p:nvPr/>
        </p:nvPicPr>
        <p:blipFill>
          <a:blip r:embed="rId3"/>
          <a:stretch>
            <a:fillRect/>
          </a:stretch>
        </p:blipFill>
        <p:spPr>
          <a:xfrm>
            <a:off x="3310127" y="3611880"/>
            <a:ext cx="2615184" cy="573191"/>
          </a:xfrm>
          <a:prstGeom prst="rect">
            <a:avLst/>
          </a:prstGeom>
          <a:ln w="9525">
            <a:solidFill>
              <a:srgbClr val="D0D7E1"/>
            </a:solidFill>
          </a:ln>
        </p:spPr>
      </p:pic>
      <p:sp>
        <p:nvSpPr>
          <p:cNvPr id="14" name="Chevron 13"/>
          <p:cNvSpPr/>
          <p:nvPr/>
        </p:nvSpPr>
        <p:spPr>
          <a:xfrm>
            <a:off x="5998464" y="1901952"/>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5" name="Oval 14"/>
          <p:cNvSpPr/>
          <p:nvPr/>
        </p:nvSpPr>
        <p:spPr>
          <a:xfrm>
            <a:off x="6236207" y="1828800"/>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3</a:t>
            </a:r>
          </a:p>
        </p:txBody>
      </p:sp>
      <p:sp>
        <p:nvSpPr>
          <p:cNvPr id="16" name="TextBox 15"/>
          <p:cNvSpPr txBox="1"/>
          <p:nvPr/>
        </p:nvSpPr>
        <p:spPr>
          <a:xfrm>
            <a:off x="6739127" y="1828800"/>
            <a:ext cx="2112263" cy="384048"/>
          </a:xfrm>
          <a:prstGeom prst="rect">
            <a:avLst/>
          </a:prstGeom>
          <a:noFill/>
        </p:spPr>
        <p:txBody>
          <a:bodyPr wrap="square" lIns="0" rIns="0" tIns="0" bIns="0" anchor="ctr">
            <a:spAutoFit/>
          </a:bodyPr>
          <a:lstStyle/>
          <a:p>
            <a:pPr>
              <a:spcAft>
                <a:spcPts val="0"/>
              </a:spcAft>
            </a:pPr>
            <a:r>
              <a:rPr sz="1600" b="1">
                <a:solidFill>
                  <a:srgbClr val="002C77"/>
                </a:solidFill>
              </a:rPr>
              <a:t>The issued sheet</a:t>
            </a:r>
          </a:p>
        </p:txBody>
      </p:sp>
      <p:sp>
        <p:nvSpPr>
          <p:cNvPr id="17" name="TextBox 16"/>
          <p:cNvSpPr txBox="1"/>
          <p:nvPr/>
        </p:nvSpPr>
        <p:spPr>
          <a:xfrm>
            <a:off x="6236207" y="2331720"/>
            <a:ext cx="2615184" cy="1188720"/>
          </a:xfrm>
          <a:prstGeom prst="rect">
            <a:avLst/>
          </a:prstGeom>
          <a:noFill/>
        </p:spPr>
        <p:txBody>
          <a:bodyPr wrap="square" lIns="0" rIns="0" tIns="0" bIns="0">
            <a:spAutoFit/>
          </a:bodyPr>
          <a:lstStyle/>
          <a:p>
            <a:pPr>
              <a:spcAft>
                <a:spcPts val="0"/>
              </a:spcAft>
            </a:pPr>
            <a:r>
              <a:rPr sz="1300" b="0">
                <a:solidFill>
                  <a:srgbClr val="1F2D3D"/>
                </a:solidFill>
              </a:rPr>
              <a:t>Figures per accumulator, the drawdown, PASS or FAIL against shear and FVR. A sheet that fails cannot be posted.</a:t>
            </a:r>
          </a:p>
        </p:txBody>
      </p:sp>
      <p:pic>
        <p:nvPicPr>
          <p:cNvPr id="18" name="Picture 17" descr="pc_sheet.png"/>
          <p:cNvPicPr>
            <a:picLocks noChangeAspect="1"/>
          </p:cNvPicPr>
          <p:nvPr/>
        </p:nvPicPr>
        <p:blipFill>
          <a:blip r:embed="rId4"/>
          <a:stretch>
            <a:fillRect/>
          </a:stretch>
        </p:blipFill>
        <p:spPr>
          <a:xfrm>
            <a:off x="6236207" y="3611880"/>
            <a:ext cx="2615184" cy="1576275"/>
          </a:xfrm>
          <a:prstGeom prst="rect">
            <a:avLst/>
          </a:prstGeom>
          <a:ln w="9525">
            <a:solidFill>
              <a:srgbClr val="D0D7E1"/>
            </a:solidFill>
          </a:ln>
        </p:spPr>
      </p:pic>
      <p:sp>
        <p:nvSpPr>
          <p:cNvPr id="19" name="Chevron 18"/>
          <p:cNvSpPr/>
          <p:nvPr/>
        </p:nvSpPr>
        <p:spPr>
          <a:xfrm>
            <a:off x="8924544" y="1901952"/>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20" name="Oval 19"/>
          <p:cNvSpPr/>
          <p:nvPr/>
        </p:nvSpPr>
        <p:spPr>
          <a:xfrm>
            <a:off x="9162288" y="1828800"/>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4</a:t>
            </a:r>
          </a:p>
        </p:txBody>
      </p:sp>
      <p:sp>
        <p:nvSpPr>
          <p:cNvPr id="21" name="TextBox 20"/>
          <p:cNvSpPr txBox="1"/>
          <p:nvPr/>
        </p:nvSpPr>
        <p:spPr>
          <a:xfrm>
            <a:off x="9665208" y="1828800"/>
            <a:ext cx="2112263" cy="384048"/>
          </a:xfrm>
          <a:prstGeom prst="rect">
            <a:avLst/>
          </a:prstGeom>
          <a:noFill/>
        </p:spPr>
        <p:txBody>
          <a:bodyPr wrap="square" lIns="0" rIns="0" tIns="0" bIns="0" anchor="ctr">
            <a:spAutoFit/>
          </a:bodyPr>
          <a:lstStyle/>
          <a:p>
            <a:pPr>
              <a:spcAft>
                <a:spcPts val="0"/>
              </a:spcAft>
            </a:pPr>
            <a:r>
              <a:rPr sz="1600" b="1">
                <a:solidFill>
                  <a:srgbClr val="002C77"/>
                </a:solidFill>
              </a:rPr>
              <a:t>The PDF</a:t>
            </a:r>
          </a:p>
        </p:txBody>
      </p:sp>
      <p:sp>
        <p:nvSpPr>
          <p:cNvPr id="22" name="TextBox 21"/>
          <p:cNvSpPr txBox="1"/>
          <p:nvPr/>
        </p:nvSpPr>
        <p:spPr>
          <a:xfrm>
            <a:off x="9162288" y="2331720"/>
            <a:ext cx="2615184" cy="1188720"/>
          </a:xfrm>
          <a:prstGeom prst="rect">
            <a:avLst/>
          </a:prstGeom>
          <a:noFill/>
        </p:spPr>
        <p:txBody>
          <a:bodyPr wrap="square" lIns="0" rIns="0" tIns="0" bIns="0">
            <a:spAutoFit/>
          </a:bodyPr>
          <a:lstStyle/>
          <a:p>
            <a:pPr>
              <a:spcAft>
                <a:spcPts val="0"/>
              </a:spcAft>
            </a:pPr>
            <a:r>
              <a:rPr sz="1300" b="0">
                <a:solidFill>
                  <a:srgbClr val="1F2D3D"/>
                </a:solidFill>
              </a:rPr>
              <a:t>The controlled document. Not the screen, not the email, not a screenshot.</a:t>
            </a:r>
          </a:p>
        </p:txBody>
      </p:sp>
      <p:pic>
        <p:nvPicPr>
          <p:cNvPr id="23" name="Picture 22" descr="pc_pdf.png"/>
          <p:cNvPicPr>
            <a:picLocks noChangeAspect="1"/>
          </p:cNvPicPr>
          <p:nvPr/>
        </p:nvPicPr>
        <p:blipFill>
          <a:blip r:embed="rId5"/>
          <a:stretch>
            <a:fillRect/>
          </a:stretch>
        </p:blipFill>
        <p:spPr>
          <a:xfrm>
            <a:off x="9162288" y="3611880"/>
            <a:ext cx="2615184" cy="1943717"/>
          </a:xfrm>
          <a:prstGeom prst="rect">
            <a:avLst/>
          </a:prstGeom>
          <a:ln w="9525">
            <a:solidFill>
              <a:srgbClr val="D0D7E1"/>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384048" y="1655064"/>
            <a:ext cx="3456432" cy="274320"/>
          </a:xfrm>
        </p:spPr>
        <p:txBody>
          <a:bodyPr wrap="square"/>
          <a:lstStyle/>
          <a:p>
            <a:pPr>
              <a:spcAft>
                <a:spcPts val="600"/>
              </a:spcAft>
            </a:pPr>
            <a:r>
              <a:rPr sz="1700" b="1">
                <a:solidFill>
                  <a:srgbClr val="002C77"/>
                </a:solidFill>
              </a:rPr>
              <a:t>The notification loop</a:t>
            </a:r>
          </a:p>
        </p:txBody>
      </p:sp>
      <p:sp>
        <p:nvSpPr>
          <p:cNvPr id="3" name="Text Placeholder 2"/>
          <p:cNvSpPr>
            <a:spLocks noGrp="1"/>
          </p:cNvSpPr>
          <p:nvPr>
            <p:ph type="body" idx="14" sz="quarter"/>
          </p:nvPr>
        </p:nvSpPr>
        <p:spPr>
          <a:xfrm>
            <a:off x="384048" y="2011680"/>
            <a:ext cx="3456432" cy="2651760"/>
          </a:xfrm>
        </p:spPr>
        <p:txBody>
          <a:bodyPr wrap="square"/>
          <a:lstStyle/>
          <a:p>
            <a:pPr>
              <a:spcAft>
                <a:spcPts val="1000"/>
              </a:spcAft>
            </a:pPr>
            <a:r>
              <a:rPr sz="1600" b="0"/>
              <a:t>The rig posts the request. The office is emailed.</a:t>
            </a:r>
          </a:p>
          <a:p>
            <a:pPr>
              <a:spcAft>
                <a:spcPts val="1000"/>
              </a:spcAft>
            </a:pPr>
            <a:r>
              <a:rPr sz="1600" b="0"/>
              <a:t>We post the issued sheet. The rig is emailed: Subsea Supervisor, TSL, ARM and Rig Manager.</a:t>
            </a:r>
          </a:p>
          <a:p>
            <a:pPr>
              <a:spcAft>
                <a:spcPts val="1000"/>
              </a:spcAft>
            </a:pPr>
            <a:r>
              <a:rPr sz="1600" b="0"/>
              <a:t>Rig people are always on To, never Cc, so a precharge is never missed. The office is on Cc.</a:t>
            </a:r>
          </a:p>
        </p:txBody>
      </p:sp>
      <p:sp>
        <p:nvSpPr>
          <p:cNvPr id="4" name="Text Placeholder 3"/>
          <p:cNvSpPr>
            <a:spLocks noGrp="1"/>
          </p:cNvSpPr>
          <p:nvPr>
            <p:ph type="body" idx="15" sz="quarter"/>
          </p:nvPr>
        </p:nvSpPr>
        <p:spPr>
          <a:xfrm>
            <a:off x="4343400" y="1655064"/>
            <a:ext cx="3456432" cy="274320"/>
          </a:xfrm>
        </p:spPr>
        <p:txBody>
          <a:bodyPr wrap="square"/>
          <a:lstStyle/>
          <a:p>
            <a:pPr>
              <a:spcAft>
                <a:spcPts val="600"/>
              </a:spcAft>
            </a:pPr>
            <a:r>
              <a:rPr sz="1700" b="1">
                <a:solidFill>
                  <a:srgbClr val="0082C0"/>
                </a:solidFill>
              </a:rPr>
              <a:t>Where the record lives</a:t>
            </a:r>
          </a:p>
        </p:txBody>
      </p:sp>
      <p:sp>
        <p:nvSpPr>
          <p:cNvPr id="5" name="Text Placeholder 4"/>
          <p:cNvSpPr>
            <a:spLocks noGrp="1"/>
          </p:cNvSpPr>
          <p:nvPr>
            <p:ph type="body" idx="16" sz="quarter"/>
          </p:nvPr>
        </p:nvSpPr>
        <p:spPr>
          <a:xfrm>
            <a:off x="4343400" y="2011680"/>
            <a:ext cx="3456432" cy="2651760"/>
          </a:xfrm>
        </p:spPr>
        <p:txBody>
          <a:bodyPr wrap="square"/>
          <a:lstStyle/>
          <a:p>
            <a:pPr>
              <a:spcAft>
                <a:spcPts val="1000"/>
              </a:spcAft>
            </a:pPr>
            <a:r>
              <a:rPr sz="1600" b="0"/>
              <a:t>Both posts land in PostedReports, matched by rig and well name.</a:t>
            </a:r>
          </a:p>
          <a:p>
            <a:pPr>
              <a:spcAft>
                <a:spcPts val="1000"/>
              </a:spcAft>
            </a:pPr>
            <a:r>
              <a:rPr sz="1600" b="0"/>
              <a:t>The dashboard shows the issued sheet against the original request.</a:t>
            </a:r>
          </a:p>
          <a:p>
            <a:pPr>
              <a:spcAft>
                <a:spcPts val="1000"/>
              </a:spcAft>
            </a:pPr>
            <a:r>
              <a:rPr sz="1600" b="0"/>
              <a:t>The PDF inside the post is the controlled document.</a:t>
            </a:r>
          </a:p>
        </p:txBody>
      </p:sp>
      <p:sp>
        <p:nvSpPr>
          <p:cNvPr id="6" name="Text Placeholder 5"/>
          <p:cNvSpPr>
            <a:spLocks noGrp="1"/>
          </p:cNvSpPr>
          <p:nvPr>
            <p:ph type="body" idx="17" sz="quarter"/>
          </p:nvPr>
        </p:nvSpPr>
        <p:spPr>
          <a:xfrm>
            <a:off x="8366760" y="1655064"/>
            <a:ext cx="3456432" cy="274320"/>
          </a:xfrm>
        </p:spPr>
        <p:txBody>
          <a:bodyPr wrap="square"/>
          <a:lstStyle/>
          <a:p>
            <a:pPr>
              <a:spcAft>
                <a:spcPts val="600"/>
              </a:spcAft>
            </a:pPr>
            <a:r>
              <a:rPr sz="1700" b="1">
                <a:solidFill>
                  <a:srgbClr val="E25303"/>
                </a:solidFill>
              </a:rPr>
              <a:t>The two signatures</a:t>
            </a:r>
          </a:p>
        </p:txBody>
      </p:sp>
      <p:sp>
        <p:nvSpPr>
          <p:cNvPr id="7" name="Text Placeholder 6"/>
          <p:cNvSpPr>
            <a:spLocks noGrp="1"/>
          </p:cNvSpPr>
          <p:nvPr>
            <p:ph type="body" idx="18" sz="quarter"/>
          </p:nvPr>
        </p:nvSpPr>
        <p:spPr>
          <a:xfrm>
            <a:off x="8366760" y="2011680"/>
            <a:ext cx="3456432" cy="2651760"/>
          </a:xfrm>
        </p:spPr>
        <p:txBody>
          <a:bodyPr wrap="square"/>
          <a:lstStyle/>
          <a:p>
            <a:pPr>
              <a:spcAft>
                <a:spcPts val="1000"/>
              </a:spcAft>
            </a:pPr>
            <a:r>
              <a:rPr sz="1600" b="1"/>
              <a:t>Calculated: </a:t>
            </a:r>
            <a:r>
              <a:rPr sz="1600" b="0"/>
              <a:t>one person works it up.</a:t>
            </a:r>
          </a:p>
          <a:p>
            <a:pPr>
              <a:spcAft>
                <a:spcPts val="1000"/>
              </a:spcAft>
            </a:pPr>
            <a:r>
              <a:rPr sz="1600" b="1"/>
              <a:t>Verified: </a:t>
            </a:r>
            <a:r>
              <a:rPr sz="1600" b="0"/>
              <a:t>a second person checks it.</a:t>
            </a:r>
          </a:p>
          <a:p>
            <a:pPr>
              <a:spcAft>
                <a:spcPts val="1000"/>
              </a:spcAft>
            </a:pPr>
            <a:r>
              <a:rPr sz="1600" b="0"/>
              <a:t>The tool’s timestamp is its own record, not a signature. It replaces neither name.</a:t>
            </a:r>
          </a:p>
        </p:txBody>
      </p:sp>
      <p:sp>
        <p:nvSpPr>
          <p:cNvPr id="8" name="Text Placeholder 7"/>
          <p:cNvSpPr>
            <a:spLocks noGrp="1"/>
          </p:cNvSpPr>
          <p:nvPr>
            <p:ph type="body" idx="12" sz="quarter"/>
          </p:nvPr>
        </p:nvSpPr>
        <p:spPr/>
        <p:txBody>
          <a:bodyPr wrap="square"/>
          <a:lstStyle/>
          <a:p>
            <a:pPr>
              <a:spcAft>
                <a:spcPts val="600"/>
              </a:spcAft>
            </a:pPr>
            <a:r>
              <a:rPr sz="2800" b="1"/>
              <a:t>Precharge: who is told, where it lives, who signs</a:t>
            </a:r>
          </a:p>
        </p:txBody>
      </p:sp>
      <p:pic>
        <p:nvPicPr>
          <p:cNvPr id="9" name="Picture 8" descr="pc_sign.png"/>
          <p:cNvPicPr>
            <a:picLocks noChangeAspect="1"/>
          </p:cNvPicPr>
          <p:nvPr/>
        </p:nvPicPr>
        <p:blipFill>
          <a:blip r:embed="rId2"/>
          <a:stretch>
            <a:fillRect/>
          </a:stretch>
        </p:blipFill>
        <p:spPr>
          <a:xfrm>
            <a:off x="8366760" y="4754880"/>
            <a:ext cx="3456432" cy="684377"/>
          </a:xfrm>
          <a:prstGeom prst="rect">
            <a:avLst/>
          </a:prstGeom>
          <a:ln w="9525">
            <a:solidFill>
              <a:srgbClr val="D0D7E1"/>
            </a:solidFill>
          </a:ln>
        </p:spPr>
      </p:pic>
      <p:sp>
        <p:nvSpPr>
          <p:cNvPr id="10" name="Rounded Rectangle 9"/>
          <p:cNvSpPr/>
          <p:nvPr/>
        </p:nvSpPr>
        <p:spPr>
          <a:xfrm>
            <a:off x="384048" y="5532120"/>
            <a:ext cx="7406640" cy="45720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96012" bIns="96012" wrap="square"/>
          <a:lstStyle/>
          <a:p>
            <a:pPr algn="l">
              <a:spcAft>
                <a:spcPts val="0"/>
              </a:spcAft>
            </a:pPr>
            <a:r>
              <a:rPr sz="1600" b="1">
                <a:solidFill>
                  <a:srgbClr val="FFFFFF"/>
                </a:solidFill>
              </a:rPr>
              <a:t>Everything is under MOC.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spcAft>
                <a:spcPts val="600"/>
              </a:spcAft>
            </a:pPr>
            <a:r>
              <a:rPr sz="1300" b="1">
                <a:solidFill>
                  <a:srgbClr val="5A6472"/>
                </a:solidFill>
              </a:rPr>
              <a:t>How it runs</a:t>
            </a:r>
          </a:p>
        </p:txBody>
      </p:sp>
      <p:sp>
        <p:nvSpPr>
          <p:cNvPr id="4" name="Text Placeholder 3"/>
          <p:cNvSpPr>
            <a:spLocks noGrp="1"/>
          </p:cNvSpPr>
          <p:nvPr>
            <p:ph type="body" idx="12" sz="quarter"/>
          </p:nvPr>
        </p:nvSpPr>
        <p:spPr/>
        <p:txBody>
          <a:bodyPr wrap="square"/>
          <a:lstStyle/>
          <a:p>
            <a:pPr>
              <a:spcAft>
                <a:spcPts val="600"/>
              </a:spcAft>
            </a:pPr>
            <a:r>
              <a:rPr sz="2800" b="1"/>
              <a:t>Precharge, worked through on screen</a:t>
            </a:r>
          </a:p>
        </p:txBody>
      </p:sp>
      <p:sp>
        <p:nvSpPr>
          <p:cNvPr id="5" name="Text Placeholder 4"/>
          <p:cNvSpPr>
            <a:spLocks noGrp="1"/>
          </p:cNvSpPr>
          <p:nvPr>
            <p:ph type="body" idx="15" sz="quarter"/>
          </p:nvPr>
        </p:nvSpPr>
        <p:spPr/>
        <p:txBody>
          <a:bodyPr wrap="square"/>
          <a:lstStyle/>
          <a:p>
            <a:pPr>
              <a:spcAft>
                <a:spcPts val="600"/>
              </a:spcAft>
            </a:pPr>
            <a:r>
              <a:rPr sz="1300" b="1">
                <a:solidFill>
                  <a:srgbClr val="5A6472"/>
                </a:solidFill>
              </a:rPr>
              <a:t>The three training requests</a:t>
            </a:r>
          </a:p>
        </p:txBody>
      </p:sp>
      <p:sp>
        <p:nvSpPr>
          <p:cNvPr id="6" name="Text Placeholder 5"/>
          <p:cNvSpPr>
            <a:spLocks noGrp="1"/>
          </p:cNvSpPr>
          <p:nvPr>
            <p:ph type="body" idx="20" sz="quarter"/>
          </p:nvPr>
        </p:nvSpPr>
        <p:spPr/>
        <p:txBody>
          <a:bodyPr wrap="square"/>
          <a:lstStyle/>
          <a:p>
            <a:pPr>
              <a:spcAft>
                <a:spcPts val="600"/>
              </a:spcAft>
            </a:pPr>
            <a:r>
              <a:rPr sz="1400" b="1"/>
              <a:t>Dan works the three training requests </a:t>
            </a:r>
            <a:r>
              <a:rPr sz="1400" b="0"/>
              <a:t>on the projector, one at a time.</a:t>
            </a:r>
          </a:p>
          <a:p>
            <a:pPr>
              <a:spcAft>
                <a:spcPts val="600"/>
              </a:spcAft>
            </a:pPr>
            <a:r>
              <a:rPr sz="1400" b="1"/>
              <a:t>You follow on your laptop. </a:t>
            </a:r>
            <a:r>
              <a:rPr sz="1400" b="0"/>
              <a:t>Post nothing, save nothing to the server.</a:t>
            </a:r>
          </a:p>
          <a:p>
            <a:pPr>
              <a:spcAft>
                <a:spcPts val="600"/>
              </a:spcAft>
            </a:pPr>
            <a:r>
              <a:rPr sz="1400" b="1"/>
              <a:t>Verified rigs, training well names. </a:t>
            </a:r>
            <a:r>
              <a:rPr sz="1400" b="0"/>
              <a:t>The marker shows on the sheet, the PDF and the filename.</a:t>
            </a:r>
          </a:p>
          <a:p>
            <a:pPr>
              <a:spcAft>
                <a:spcPts val="600"/>
              </a:spcAft>
            </a:pPr>
            <a:r>
              <a:rPr sz="1400" b="1"/>
              <a:t>The Training Manual </a:t>
            </a:r>
            <a:r>
              <a:rPr sz="1400" b="0"/>
              <a:t>has the how-to, step by step.</a:t>
            </a:r>
          </a:p>
        </p:txBody>
      </p:sp>
      <p:graphicFrame>
        <p:nvGraphicFramePr>
          <p:cNvPr id="7" name="Table 6"/>
          <p:cNvGraphicFramePr>
            <a:graphicFrameLocks noGrp="1"/>
          </p:cNvGraphicFramePr>
          <p:nvPr/>
        </p:nvGraphicFramePr>
        <p:xfrm>
          <a:off x="4197096" y="1938528"/>
          <a:ext cx="7616949" cy="2267712"/>
        </p:xfrm>
        <a:graphic>
          <a:graphicData uri="http://schemas.openxmlformats.org/drawingml/2006/table">
            <a:tbl>
              <a:tblPr firstRow="1" bandRow="1">
                <a:tableStyleId>{5C22544A-7EE6-4342-B048-85BDC9FD1C3A}</a:tableStyleId>
              </a:tblPr>
              <a:tblGrid>
                <a:gridCol w="1307050"/>
                <a:gridCol w="1352121"/>
                <a:gridCol w="2343677"/>
                <a:gridCol w="2614101"/>
              </a:tblGrid>
              <a:tr h="566928">
                <a:tc>
                  <a:txBody>
                    <a:bodyPr wrap="square"/>
                    <a:lstStyle/>
                    <a:p>
                      <a:pPr>
                        <a:spcAft>
                          <a:spcPts val="0"/>
                        </a:spcAft>
                      </a:pPr>
                      <a:r>
                        <a:rPr sz="1200" b="1">
                          <a:solidFill>
                            <a:srgbClr val="FFFFFF"/>
                          </a:solidFill>
                        </a:rPr>
                        <a:t>Well</a:t>
                      </a:r>
                    </a:p>
                  </a:txBody>
                  <a:tcPr marT="45720" marB="45720" marL="73152" marR="73152" anchor="ctr"/>
                </a:tc>
                <a:tc>
                  <a:txBody>
                    <a:bodyPr wrap="square"/>
                    <a:lstStyle/>
                    <a:p>
                      <a:pPr>
                        <a:spcAft>
                          <a:spcPts val="0"/>
                        </a:spcAft>
                      </a:pPr>
                      <a:r>
                        <a:rPr sz="1200" b="1">
                          <a:solidFill>
                            <a:srgbClr val="FFFFFF"/>
                          </a:solidFill>
                        </a:rPr>
                        <a:t>Rig</a:t>
                      </a:r>
                    </a:p>
                  </a:txBody>
                  <a:tcPr marT="45720" marB="45720" marL="73152" marR="73152" anchor="ctr"/>
                </a:tc>
                <a:tc>
                  <a:txBody>
                    <a:bodyPr wrap="square"/>
                    <a:lstStyle/>
                    <a:p>
                      <a:pPr>
                        <a:spcAft>
                          <a:spcPts val="0"/>
                        </a:spcAft>
                      </a:pPr>
                      <a:r>
                        <a:rPr sz="1200" b="1">
                          <a:solidFill>
                            <a:srgbClr val="FFFFFF"/>
                          </a:solidFill>
                        </a:rPr>
                        <a:t>What it is</a:t>
                      </a:r>
                    </a:p>
                  </a:txBody>
                  <a:tcPr marT="45720" marB="45720" marL="73152" marR="73152" anchor="ctr"/>
                </a:tc>
                <a:tc>
                  <a:txBody>
                    <a:bodyPr wrap="square"/>
                    <a:lstStyle/>
                    <a:p>
                      <a:pPr>
                        <a:spcAft>
                          <a:spcPts val="0"/>
                        </a:spcAft>
                      </a:pPr>
                      <a:r>
                        <a:rPr sz="1200" b="1">
                          <a:solidFill>
                            <a:srgbClr val="FFFFFF"/>
                          </a:solidFill>
                        </a:rPr>
                        <a:t>What to notice</a:t>
                      </a:r>
                    </a:p>
                  </a:txBody>
                  <a:tcPr marT="45720" marB="45720" marL="73152" marR="73152" anchor="ctr"/>
                </a:tc>
              </a:tr>
              <a:tr h="566928">
                <a:tc>
                  <a:txBody>
                    <a:bodyPr wrap="square"/>
                    <a:lstStyle/>
                    <a:p>
                      <a:pPr>
                        <a:spcAft>
                          <a:spcPts val="0"/>
                        </a:spcAft>
                      </a:pPr>
                      <a:r>
                        <a:rPr sz="1200" b="1"/>
                        <a:t>TRAINING-01</a:t>
                      </a:r>
                    </a:p>
                  </a:txBody>
                  <a:tcPr marT="45720" marB="45720" marL="73152" marR="73152" anchor="ctr"/>
                </a:tc>
                <a:tc>
                  <a:txBody>
                    <a:bodyPr wrap="square"/>
                    <a:lstStyle/>
                    <a:p>
                      <a:pPr>
                        <a:spcAft>
                          <a:spcPts val="0"/>
                        </a:spcAft>
                      </a:pPr>
                      <a:r>
                        <a:rPr sz="1200" b="0"/>
                        <a:t>West Tellus</a:t>
                      </a:r>
                    </a:p>
                  </a:txBody>
                  <a:tcPr marT="45720" marB="45720" marL="73152" marR="73152" anchor="ctr"/>
                </a:tc>
                <a:tc>
                  <a:txBody>
                    <a:bodyPr wrap="square"/>
                    <a:lstStyle/>
                    <a:p>
                      <a:pPr>
                        <a:spcAft>
                          <a:spcPts val="0"/>
                        </a:spcAft>
                      </a:pPr>
                      <a:r>
                        <a:rPr sz="1200" b="0"/>
                        <a:t>DCB dedicated shear, single stack</a:t>
                      </a:r>
                    </a:p>
                  </a:txBody>
                  <a:tcPr marT="45720" marB="45720" marL="73152" marR="73152" anchor="ctr"/>
                </a:tc>
                <a:tc>
                  <a:txBody>
                    <a:bodyPr wrap="square"/>
                    <a:lstStyle/>
                    <a:p>
                      <a:pPr>
                        <a:spcAft>
                          <a:spcPts val="0"/>
                        </a:spcAft>
                      </a:pPr>
                      <a:r>
                        <a:rPr sz="1200" b="0"/>
                        <a:t>Read from the OEM DCB table</a:t>
                      </a:r>
                    </a:p>
                  </a:txBody>
                  <a:tcPr marT="45720" marB="45720" marL="73152" marR="73152" anchor="ctr"/>
                </a:tc>
              </a:tr>
              <a:tr h="566928">
                <a:tc>
                  <a:txBody>
                    <a:bodyPr wrap="square"/>
                    <a:lstStyle/>
                    <a:p>
                      <a:pPr>
                        <a:spcAft>
                          <a:spcPts val="0"/>
                        </a:spcAft>
                      </a:pPr>
                      <a:r>
                        <a:rPr sz="1200" b="1"/>
                        <a:t>TRAINING-02</a:t>
                      </a:r>
                    </a:p>
                  </a:txBody>
                  <a:tcPr marT="45720" marB="45720" marL="73152" marR="73152" anchor="ctr"/>
                </a:tc>
                <a:tc>
                  <a:txBody>
                    <a:bodyPr wrap="square"/>
                    <a:lstStyle/>
                    <a:p>
                      <a:pPr>
                        <a:spcAft>
                          <a:spcPts val="0"/>
                        </a:spcAft>
                      </a:pPr>
                      <a:r>
                        <a:rPr sz="1200" b="0"/>
                        <a:t>West Neptune</a:t>
                      </a:r>
                    </a:p>
                  </a:txBody>
                  <a:tcPr marT="45720" marB="45720" marL="73152" marR="73152" anchor="ctr"/>
                </a:tc>
                <a:tc>
                  <a:txBody>
                    <a:bodyPr wrap="square"/>
                    <a:lstStyle/>
                    <a:p>
                      <a:pPr>
                        <a:spcAft>
                          <a:spcPts val="0"/>
                        </a:spcAft>
                      </a:pPr>
                      <a:r>
                        <a:rPr sz="1200" b="0"/>
                        <a:t>DCB, split 4+4, dual stack</a:t>
                      </a:r>
                    </a:p>
                  </a:txBody>
                  <a:tcPr marT="45720" marB="45720" marL="73152" marR="73152" anchor="ctr"/>
                </a:tc>
                <a:tc>
                  <a:txBody>
                    <a:bodyPr wrap="square"/>
                    <a:lstStyle/>
                    <a:p>
                      <a:pPr>
                        <a:spcAft>
                          <a:spcPts val="0"/>
                        </a:spcAft>
                      </a:pPr>
                      <a:r>
                        <a:rPr sz="1200" b="0"/>
                        <a:t>Change BOP 1 to BOP 2: only the header changes</a:t>
                      </a:r>
                    </a:p>
                  </a:txBody>
                  <a:tcPr marT="45720" marB="45720" marL="73152" marR="73152" anchor="ctr"/>
                </a:tc>
              </a:tr>
              <a:tr h="566928">
                <a:tc>
                  <a:txBody>
                    <a:bodyPr wrap="square"/>
                    <a:lstStyle/>
                    <a:p>
                      <a:pPr>
                        <a:spcAft>
                          <a:spcPts val="0"/>
                        </a:spcAft>
                      </a:pPr>
                      <a:r>
                        <a:rPr sz="1200" b="1"/>
                        <a:t>TRAINING-03</a:t>
                      </a:r>
                    </a:p>
                  </a:txBody>
                  <a:tcPr marT="45720" marB="45720" marL="73152" marR="73152" anchor="ctr"/>
                </a:tc>
                <a:tc>
                  <a:txBody>
                    <a:bodyPr wrap="square"/>
                    <a:lstStyle/>
                    <a:p>
                      <a:pPr>
                        <a:spcAft>
                          <a:spcPts val="0"/>
                        </a:spcAft>
                      </a:pPr>
                      <a:r>
                        <a:rPr sz="1200" b="0"/>
                        <a:t>West Gemini</a:t>
                      </a:r>
                    </a:p>
                  </a:txBody>
                  <a:tcPr marT="45720" marB="45720" marL="73152" marR="73152" anchor="ctr"/>
                </a:tc>
                <a:tc>
                  <a:txBody>
                    <a:bodyPr wrap="square"/>
                    <a:lstStyle/>
                    <a:p>
                      <a:pPr>
                        <a:spcAft>
                          <a:spcPts val="0"/>
                        </a:spcAft>
                      </a:pPr>
                      <a:r>
                        <a:rPr sz="1200" b="0"/>
                        <a:t>Piston dedicated shear</a:t>
                      </a:r>
                    </a:p>
                  </a:txBody>
                  <a:tcPr marT="45720" marB="45720" marL="73152" marR="73152" anchor="ctr"/>
                </a:tc>
                <a:tc>
                  <a:txBody>
                    <a:bodyPr wrap="square"/>
                    <a:lstStyle/>
                    <a:p>
                      <a:pPr>
                        <a:spcAft>
                          <a:spcPts val="0"/>
                        </a:spcAft>
                      </a:pPr>
                      <a:r>
                        <a:rPr sz="1200" b="0"/>
                        <a:t>No OEM table: the tool works out an API optimum</a:t>
                      </a:r>
                    </a:p>
                  </a:txBody>
                  <a:tcPr marT="45720" marB="45720" marL="73152" marR="73152" anchor="ctr"/>
                </a:tc>
              </a:tr>
            </a:tbl>
          </a:graphicData>
        </a:graphic>
      </p:graphicFrame>
      <p:pic>
        <p:nvPicPr>
          <p:cNvPr id="8" name="Picture 7" descr="pc_header.png"/>
          <p:cNvPicPr>
            <a:picLocks noChangeAspect="1"/>
          </p:cNvPicPr>
          <p:nvPr/>
        </p:nvPicPr>
        <p:blipFill>
          <a:blip r:embed="rId2"/>
          <a:stretch>
            <a:fillRect/>
          </a:stretch>
        </p:blipFill>
        <p:spPr>
          <a:xfrm>
            <a:off x="4197096" y="4572000"/>
            <a:ext cx="7616952" cy="782563"/>
          </a:xfrm>
          <a:prstGeom prst="rect">
            <a:avLst/>
          </a:prstGeom>
          <a:ln w="9525">
            <a:solidFill>
              <a:srgbClr val="D0D7E1"/>
            </a:solidFill>
          </a:ln>
        </p:spPr>
      </p:pic>
      <p:sp>
        <p:nvSpPr>
          <p:cNvPr id="9" name="TextBox 8"/>
          <p:cNvSpPr txBox="1"/>
          <p:nvPr/>
        </p:nvSpPr>
        <p:spPr>
          <a:xfrm>
            <a:off x="4197096" y="5596128"/>
            <a:ext cx="7616952" cy="320040"/>
          </a:xfrm>
          <a:prstGeom prst="rect">
            <a:avLst/>
          </a:prstGeom>
          <a:noFill/>
        </p:spPr>
        <p:txBody>
          <a:bodyPr wrap="square" lIns="0" rIns="0" tIns="0" bIns="0">
            <a:spAutoFit/>
          </a:bodyPr>
          <a:lstStyle/>
          <a:p>
            <a:pPr>
              <a:spcAft>
                <a:spcPts val="0"/>
              </a:spcAft>
            </a:pPr>
            <a:r>
              <a:rPr sz="1200" b="0">
                <a:solidFill>
                  <a:srgbClr val="5A6472"/>
                </a:solidFill>
              </a:rPr>
              <a:t>The training marker on the issued sheet header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wrap="square"/>
          <a:lstStyle/>
          <a:p>
            <a:pPr>
              <a:spcAft>
                <a:spcPts val="600"/>
              </a:spcAft>
            </a:pPr>
            <a:r>
              <a:rPr sz="3000" b="1"/>
              <a:t>Module 6</a:t>
            </a:r>
          </a:p>
        </p:txBody>
      </p:sp>
      <p:sp>
        <p:nvSpPr>
          <p:cNvPr id="4" name="Subtitle 3"/>
          <p:cNvSpPr>
            <a:spLocks noGrp="1"/>
          </p:cNvSpPr>
          <p:nvPr>
            <p:ph type="subTitle" idx="1"/>
          </p:nvPr>
        </p:nvSpPr>
        <p:spPr>
          <a:xfrm>
            <a:off x="356616" y="3346704"/>
            <a:ext cx="11439144" cy="548640"/>
          </a:xfrm>
        </p:spPr>
        <p:txBody>
          <a:bodyPr wrap="square"/>
          <a:lstStyle/>
          <a:p>
            <a:pPr>
              <a:spcAft>
                <a:spcPts val="600"/>
              </a:spcAft>
            </a:pPr>
            <a:r>
              <a:rPr sz="1400" b="0"/>
              <a:t>The SACRED dashboards   ·   10:15–12:00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The Rig Visit Dashboard</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Eight tabs, one place</a:t>
            </a:r>
          </a:p>
        </p:txBody>
      </p:sp>
      <p:sp>
        <p:nvSpPr>
          <p:cNvPr id="5" name="Rounded Rectangle 4"/>
          <p:cNvSpPr/>
          <p:nvPr/>
        </p:nvSpPr>
        <p:spPr>
          <a:xfrm>
            <a:off x="384048" y="1828800"/>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Report list</a:t>
            </a:r>
          </a:p>
          <a:p>
            <a:pPr algn="l">
              <a:spcAft>
                <a:spcPts val="0"/>
              </a:spcAft>
            </a:pPr>
            <a:r>
              <a:rPr sz="1300" b="0">
                <a:solidFill>
                  <a:srgbClr val="1F2D3D"/>
                </a:solidFill>
              </a:rPr>
              <a:t>Every posted report, by rig and date.</a:t>
            </a:r>
          </a:p>
        </p:txBody>
      </p:sp>
      <p:sp>
        <p:nvSpPr>
          <p:cNvPr id="6" name="Rounded Rectangle 5"/>
          <p:cNvSpPr/>
          <p:nvPr/>
        </p:nvSpPr>
        <p:spPr>
          <a:xfrm>
            <a:off x="3291839" y="1828800"/>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Rig monitoring</a:t>
            </a:r>
          </a:p>
          <a:p>
            <a:pPr algn="l">
              <a:spcAft>
                <a:spcPts val="0"/>
              </a:spcAft>
            </a:pPr>
            <a:r>
              <a:rPr sz="1300" b="0">
                <a:solidFill>
                  <a:srgbClr val="1F2D3D"/>
                </a:solidFill>
              </a:rPr>
              <a:t>What each rig has posted, and what is missing.</a:t>
            </a:r>
          </a:p>
        </p:txBody>
      </p:sp>
      <p:sp>
        <p:nvSpPr>
          <p:cNvPr id="7" name="Rounded Rectangle 6"/>
          <p:cNvSpPr/>
          <p:nvPr/>
        </p:nvSpPr>
        <p:spPr>
          <a:xfrm>
            <a:off x="6199631" y="1828800"/>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CBM heatmap</a:t>
            </a:r>
          </a:p>
          <a:p>
            <a:pPr algn="l">
              <a:spcAft>
                <a:spcPts val="0"/>
              </a:spcAft>
            </a:pPr>
            <a:r>
              <a:rPr sz="1300" b="0">
                <a:solidFill>
                  <a:srgbClr val="1F2D3D"/>
                </a:solidFill>
              </a:rPr>
              <a:t>Component condition across the fleet.</a:t>
            </a:r>
          </a:p>
        </p:txBody>
      </p:sp>
      <p:sp>
        <p:nvSpPr>
          <p:cNvPr id="8" name="Rounded Rectangle 7"/>
          <p:cNvSpPr/>
          <p:nvPr/>
        </p:nvSpPr>
        <p:spPr>
          <a:xfrm>
            <a:off x="9107424" y="1828800"/>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Compliance</a:t>
            </a:r>
          </a:p>
          <a:p>
            <a:pPr algn="l">
              <a:spcAft>
                <a:spcPts val="0"/>
              </a:spcAft>
            </a:pPr>
            <a:r>
              <a:rPr sz="1300" b="0">
                <a:solidFill>
                  <a:srgbClr val="1F2D3D"/>
                </a:solidFill>
              </a:rPr>
              <a:t>What is required against what has arrived.</a:t>
            </a:r>
          </a:p>
        </p:txBody>
      </p:sp>
      <p:sp>
        <p:nvSpPr>
          <p:cNvPr id="9" name="Rounded Rectangle 8"/>
          <p:cNvSpPr/>
          <p:nvPr/>
        </p:nvSpPr>
        <p:spPr>
          <a:xfrm>
            <a:off x="384048" y="3465576"/>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Investigations</a:t>
            </a:r>
          </a:p>
          <a:p>
            <a:pPr algn="l">
              <a:spcAft>
                <a:spcPts val="0"/>
              </a:spcAft>
            </a:pPr>
            <a:r>
              <a:rPr sz="1300" b="0">
                <a:solidFill>
                  <a:srgbClr val="1F2D3D"/>
                </a:solidFill>
              </a:rPr>
              <a:t>Open investigations and their records.</a:t>
            </a:r>
          </a:p>
        </p:txBody>
      </p:sp>
      <p:sp>
        <p:nvSpPr>
          <p:cNvPr id="10" name="Rounded Rectangle 9"/>
          <p:cNvSpPr/>
          <p:nvPr/>
        </p:nvSpPr>
        <p:spPr>
          <a:xfrm>
            <a:off x="3291839" y="3465576"/>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Failures</a:t>
            </a:r>
          </a:p>
          <a:p>
            <a:pPr algn="l">
              <a:spcAft>
                <a:spcPts val="0"/>
              </a:spcAft>
            </a:pPr>
            <a:r>
              <a:rPr sz="1300" b="0">
                <a:solidFill>
                  <a:srgbClr val="1F2D3D"/>
                </a:solidFill>
              </a:rPr>
              <a:t>Equipment failures taken from the reports.</a:t>
            </a:r>
          </a:p>
        </p:txBody>
      </p:sp>
      <p:sp>
        <p:nvSpPr>
          <p:cNvPr id="11" name="Rounded Rectangle 10"/>
          <p:cNvSpPr/>
          <p:nvPr/>
        </p:nvSpPr>
        <p:spPr>
          <a:xfrm>
            <a:off x="6199631" y="3465576"/>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Lessons learned</a:t>
            </a:r>
          </a:p>
          <a:p>
            <a:pPr algn="l">
              <a:spcAft>
                <a:spcPts val="0"/>
              </a:spcAft>
            </a:pPr>
            <a:r>
              <a:rPr sz="1300" b="0">
                <a:solidFill>
                  <a:srgbClr val="1F2D3D"/>
                </a:solidFill>
              </a:rPr>
              <a:t>Captured on the rig, open to everyone.</a:t>
            </a:r>
          </a:p>
        </p:txBody>
      </p:sp>
      <p:sp>
        <p:nvSpPr>
          <p:cNvPr id="12" name="Rounded Rectangle 11"/>
          <p:cNvSpPr/>
          <p:nvPr/>
        </p:nvSpPr>
        <p:spPr>
          <a:xfrm>
            <a:off x="9107424" y="3465576"/>
            <a:ext cx="2688336"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AABs</a:t>
            </a:r>
          </a:p>
          <a:p>
            <a:pPr algn="l">
              <a:spcAft>
                <a:spcPts val="0"/>
              </a:spcAft>
            </a:pPr>
            <a:r>
              <a:rPr sz="1300" b="0">
                <a:solidFill>
                  <a:srgbClr val="1F2D3D"/>
                </a:solidFill>
              </a:rPr>
              <a:t>Advisories, acknowledgements and close-out.</a:t>
            </a:r>
          </a:p>
        </p:txBody>
      </p:sp>
      <p:sp>
        <p:nvSpPr>
          <p:cNvPr id="13" name="Rounded Rectangle 12"/>
          <p:cNvSpPr/>
          <p:nvPr/>
        </p:nvSpPr>
        <p:spPr>
          <a:xfrm>
            <a:off x="384048" y="5257800"/>
            <a:ext cx="11411712" cy="68580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spcAft>
                <a:spcPts val="0"/>
              </a:spcAft>
            </a:pPr>
            <a:r>
              <a:rPr sz="1600" b="1">
                <a:solidFill>
                  <a:srgbClr val="EDB71E"/>
                </a:solidFill>
              </a:rPr>
              <a:t>Dan shows, you follow.  </a:t>
            </a:r>
            <a:r>
              <a:rPr sz="1600" b="0">
                <a:solidFill>
                  <a:srgbClr val="FFFFFF"/>
                </a:solidFill>
              </a:rPr>
              <a:t>Report list, rig SSCE Equipment, Monday’s date: open Monday’s demonstration report.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384048" y="1655064"/>
            <a:ext cx="3456432" cy="274320"/>
          </a:xfrm>
        </p:spPr>
        <p:txBody>
          <a:bodyPr wrap="square"/>
          <a:lstStyle/>
          <a:p>
            <a:pPr>
              <a:spcAft>
                <a:spcPts val="600"/>
              </a:spcAft>
            </a:pPr>
            <a:r>
              <a:rPr sz="1700" b="1">
                <a:solidFill>
                  <a:srgbClr val="002C77"/>
                </a:solidFill>
              </a:rPr>
              <a:t>CBM heatmap</a:t>
            </a:r>
          </a:p>
        </p:txBody>
      </p:sp>
      <p:sp>
        <p:nvSpPr>
          <p:cNvPr id="3" name="Text Placeholder 2"/>
          <p:cNvSpPr>
            <a:spLocks noGrp="1"/>
          </p:cNvSpPr>
          <p:nvPr>
            <p:ph type="body" idx="14" sz="quarter"/>
          </p:nvPr>
        </p:nvSpPr>
        <p:spPr>
          <a:xfrm>
            <a:off x="384048" y="2011680"/>
            <a:ext cx="3456432" cy="4069080"/>
          </a:xfrm>
        </p:spPr>
        <p:txBody>
          <a:bodyPr wrap="square"/>
          <a:lstStyle/>
          <a:p>
            <a:pPr>
              <a:spcAft>
                <a:spcPts val="1000"/>
              </a:spcAft>
            </a:pPr>
            <a:r>
              <a:rPr sz="1600" b="0"/>
              <a:t>Rows are components, columns are rigs.</a:t>
            </a:r>
          </a:p>
          <a:p>
            <a:pPr>
              <a:spcAft>
                <a:spcPts val="1000"/>
              </a:spcAft>
            </a:pPr>
            <a:r>
              <a:rPr sz="1600" b="0"/>
              <a:t>The colour is the latest grade.</a:t>
            </a:r>
          </a:p>
          <a:p>
            <a:pPr>
              <a:spcAft>
                <a:spcPts val="1000"/>
              </a:spcAft>
            </a:pPr>
            <a:r>
              <a:rPr sz="1600" b="0"/>
              <a:t>Click a cell to open the inspection behind it.</a:t>
            </a:r>
          </a:p>
          <a:p>
            <a:pPr>
              <a:spcAft>
                <a:spcPts val="1000"/>
              </a:spcAft>
            </a:pPr>
            <a:r>
              <a:rPr sz="1600" b="0"/>
              <a:t>A blank cell means no inspection on record, not a good one.</a:t>
            </a:r>
          </a:p>
        </p:txBody>
      </p:sp>
      <p:sp>
        <p:nvSpPr>
          <p:cNvPr id="4" name="Text Placeholder 3"/>
          <p:cNvSpPr>
            <a:spLocks noGrp="1"/>
          </p:cNvSpPr>
          <p:nvPr>
            <p:ph type="body" idx="15" sz="quarter"/>
          </p:nvPr>
        </p:nvSpPr>
        <p:spPr>
          <a:xfrm>
            <a:off x="4343400" y="1655064"/>
            <a:ext cx="3456432" cy="274320"/>
          </a:xfrm>
        </p:spPr>
        <p:txBody>
          <a:bodyPr wrap="square"/>
          <a:lstStyle/>
          <a:p>
            <a:pPr>
              <a:spcAft>
                <a:spcPts val="600"/>
              </a:spcAft>
            </a:pPr>
            <a:r>
              <a:rPr sz="1700" b="1">
                <a:solidFill>
                  <a:srgbClr val="0082C0"/>
                </a:solidFill>
              </a:rPr>
              <a:t>Full-report viewer</a:t>
            </a:r>
          </a:p>
        </p:txBody>
      </p:sp>
      <p:sp>
        <p:nvSpPr>
          <p:cNvPr id="5" name="Text Placeholder 4"/>
          <p:cNvSpPr>
            <a:spLocks noGrp="1"/>
          </p:cNvSpPr>
          <p:nvPr>
            <p:ph type="body" idx="16" sz="quarter"/>
          </p:nvPr>
        </p:nvSpPr>
        <p:spPr>
          <a:xfrm>
            <a:off x="4343400" y="2011680"/>
            <a:ext cx="3456432" cy="4069080"/>
          </a:xfrm>
        </p:spPr>
        <p:txBody>
          <a:bodyPr wrap="square"/>
          <a:lstStyle/>
          <a:p>
            <a:pPr>
              <a:spcAft>
                <a:spcPts val="1000"/>
              </a:spcAft>
            </a:pPr>
            <a:r>
              <a:rPr sz="1600" b="0"/>
              <a:t>Opens the whole report as it was posted: entries, photographs, captions, tests.</a:t>
            </a:r>
          </a:p>
          <a:p>
            <a:pPr>
              <a:spcAft>
                <a:spcPts val="1000"/>
              </a:spcAft>
            </a:pPr>
            <a:r>
              <a:rPr sz="1600" b="0"/>
              <a:t>It is the same record the PDF prints from.</a:t>
            </a:r>
          </a:p>
          <a:p>
            <a:pPr>
              <a:spcAft>
                <a:spcPts val="1000"/>
              </a:spcAft>
            </a:pPr>
            <a:r>
              <a:rPr sz="1600" b="0"/>
              <a:t>If it is not in the viewer, it was not posted.</a:t>
            </a:r>
          </a:p>
        </p:txBody>
      </p:sp>
      <p:sp>
        <p:nvSpPr>
          <p:cNvPr id="6" name="Text Placeholder 5"/>
          <p:cNvSpPr>
            <a:spLocks noGrp="1"/>
          </p:cNvSpPr>
          <p:nvPr>
            <p:ph type="body" idx="17" sz="quarter"/>
          </p:nvPr>
        </p:nvSpPr>
        <p:spPr>
          <a:xfrm>
            <a:off x="8366760" y="1655064"/>
            <a:ext cx="3456432" cy="274320"/>
          </a:xfrm>
        </p:spPr>
        <p:txBody>
          <a:bodyPr wrap="square"/>
          <a:lstStyle/>
          <a:p>
            <a:pPr>
              <a:spcAft>
                <a:spcPts val="600"/>
              </a:spcAft>
            </a:pPr>
            <a:r>
              <a:rPr sz="1700" b="1">
                <a:solidFill>
                  <a:srgbClr val="E25303"/>
                </a:solidFill>
              </a:rPr>
              <a:t>The Errors button</a:t>
            </a:r>
          </a:p>
        </p:txBody>
      </p:sp>
      <p:sp>
        <p:nvSpPr>
          <p:cNvPr id="7" name="Text Placeholder 6"/>
          <p:cNvSpPr>
            <a:spLocks noGrp="1"/>
          </p:cNvSpPr>
          <p:nvPr>
            <p:ph type="body" idx="18" sz="quarter"/>
          </p:nvPr>
        </p:nvSpPr>
        <p:spPr>
          <a:xfrm>
            <a:off x="8366760" y="2011680"/>
            <a:ext cx="3456432" cy="4069080"/>
          </a:xfrm>
        </p:spPr>
        <p:txBody>
          <a:bodyPr wrap="square"/>
          <a:lstStyle/>
          <a:p>
            <a:pPr>
              <a:spcAft>
                <a:spcPts val="1000"/>
              </a:spcAft>
            </a:pPr>
            <a:r>
              <a:rPr sz="1600" b="0"/>
              <a:t>Lists every file the scanner could not read, and why.</a:t>
            </a:r>
          </a:p>
          <a:p>
            <a:pPr>
              <a:spcAft>
                <a:spcPts val="1000"/>
              </a:spcAft>
            </a:pPr>
            <a:r>
              <a:rPr sz="1600" b="0"/>
              <a:t>A file in Errors is on the server but not on the dashboard.</a:t>
            </a:r>
          </a:p>
          <a:p>
            <a:pPr>
              <a:spcAft>
                <a:spcPts val="1000"/>
              </a:spcAft>
            </a:pPr>
            <a:r>
              <a:rPr sz="1600" b="0"/>
              <a:t>Check it before you post again.</a:t>
            </a:r>
          </a:p>
        </p:txBody>
      </p:sp>
      <p:sp>
        <p:nvSpPr>
          <p:cNvPr id="8" name="Text Placeholder 7"/>
          <p:cNvSpPr>
            <a:spLocks noGrp="1"/>
          </p:cNvSpPr>
          <p:nvPr>
            <p:ph type="body" idx="12" sz="quarter"/>
          </p:nvPr>
        </p:nvSpPr>
        <p:spPr/>
        <p:txBody>
          <a:bodyPr wrap="square"/>
          <a:lstStyle/>
          <a:p>
            <a:pPr>
              <a:spcAft>
                <a:spcPts val="600"/>
              </a:spcAft>
            </a:pPr>
            <a:r>
              <a:rPr sz="2800" b="1"/>
              <a:t>CBM heatmap, the full-report viewer and the Errors button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The BOP Fleet Planning page</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One tile per rig and BOP</a:t>
            </a:r>
          </a:p>
        </p:txBody>
      </p:sp>
      <p:sp>
        <p:nvSpPr>
          <p:cNvPr id="5" name="Rounded Rectangle 4"/>
          <p:cNvSpPr/>
          <p:nvPr/>
        </p:nvSpPr>
        <p:spPr>
          <a:xfrm>
            <a:off x="384048" y="1828800"/>
            <a:ext cx="4754880" cy="18288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a:lstStyle/>
          <a:p>
            <a:pPr algn="ctr"/>
          </a:p>
        </p:txBody>
      </p:sp>
      <p:sp>
        <p:nvSpPr>
          <p:cNvPr id="6" name="TextBox 5"/>
          <p:cNvSpPr txBox="1"/>
          <p:nvPr/>
        </p:nvSpPr>
        <p:spPr>
          <a:xfrm>
            <a:off x="594360" y="1965960"/>
            <a:ext cx="4389120" cy="365760"/>
          </a:xfrm>
          <a:prstGeom prst="rect">
            <a:avLst/>
          </a:prstGeom>
          <a:noFill/>
        </p:spPr>
        <p:txBody>
          <a:bodyPr wrap="square" lIns="0" rIns="0" tIns="0" bIns="0">
            <a:spAutoFit/>
          </a:bodyPr>
          <a:lstStyle/>
          <a:p>
            <a:pPr>
              <a:spcAft>
                <a:spcPts val="0"/>
              </a:spcAft>
            </a:pPr>
            <a:r>
              <a:rPr sz="1700" b="1">
                <a:solidFill>
                  <a:srgbClr val="002C77"/>
                </a:solidFill>
              </a:rPr>
              <a:t>West Vela  ·  BOP1</a:t>
            </a:r>
          </a:p>
        </p:txBody>
      </p:sp>
      <p:sp>
        <p:nvSpPr>
          <p:cNvPr id="7" name="TextBox 6"/>
          <p:cNvSpPr txBox="1"/>
          <p:nvPr/>
        </p:nvSpPr>
        <p:spPr>
          <a:xfrm>
            <a:off x="594360" y="2423160"/>
            <a:ext cx="2103120" cy="640080"/>
          </a:xfrm>
          <a:prstGeom prst="rect">
            <a:avLst/>
          </a:prstGeom>
          <a:noFill/>
        </p:spPr>
        <p:txBody>
          <a:bodyPr wrap="square" lIns="0" rIns="0" tIns="0" bIns="0">
            <a:spAutoFit/>
          </a:bodyPr>
          <a:lstStyle/>
          <a:p>
            <a:pPr>
              <a:spcAft>
                <a:spcPts val="0"/>
              </a:spcAft>
            </a:pPr>
            <a:r>
              <a:rPr sz="1200" b="0">
                <a:solidFill>
                  <a:srgbClr val="5A6472"/>
                </a:solidFill>
              </a:rPr>
              <a:t>BOP ready</a:t>
            </a:r>
          </a:p>
          <a:p>
            <a:pPr>
              <a:spcAft>
                <a:spcPts val="0"/>
              </a:spcAft>
            </a:pPr>
            <a:r>
              <a:rPr sz="1600" b="1">
                <a:solidFill>
                  <a:srgbClr val="1F2D3D"/>
                </a:solidFill>
              </a:rPr>
              <a:t>25 Oct 05:10</a:t>
            </a:r>
          </a:p>
        </p:txBody>
      </p:sp>
      <p:sp>
        <p:nvSpPr>
          <p:cNvPr id="8" name="TextBox 7"/>
          <p:cNvSpPr txBox="1"/>
          <p:nvPr/>
        </p:nvSpPr>
        <p:spPr>
          <a:xfrm>
            <a:off x="2743200" y="2423160"/>
            <a:ext cx="2103120" cy="640080"/>
          </a:xfrm>
          <a:prstGeom prst="rect">
            <a:avLst/>
          </a:prstGeom>
          <a:noFill/>
        </p:spPr>
        <p:txBody>
          <a:bodyPr wrap="square" lIns="0" rIns="0" tIns="0" bIns="0">
            <a:spAutoFit/>
          </a:bodyPr>
          <a:lstStyle/>
          <a:p>
            <a:pPr>
              <a:spcAft>
                <a:spcPts val="0"/>
              </a:spcAft>
            </a:pPr>
            <a:r>
              <a:rPr sz="1200" b="0">
                <a:solidFill>
                  <a:srgbClr val="5A6472"/>
                </a:solidFill>
              </a:rPr>
              <a:t>BOP need</a:t>
            </a:r>
          </a:p>
          <a:p>
            <a:pPr>
              <a:spcAft>
                <a:spcPts val="0"/>
              </a:spcAft>
            </a:pPr>
            <a:r>
              <a:rPr sz="1600" b="1">
                <a:solidFill>
                  <a:srgbClr val="1F2D3D"/>
                </a:solidFill>
              </a:rPr>
              <a:t>26 Oct</a:t>
            </a:r>
          </a:p>
        </p:txBody>
      </p:sp>
      <p:sp>
        <p:nvSpPr>
          <p:cNvPr id="9" name="Rounded Rectangle 8"/>
          <p:cNvSpPr/>
          <p:nvPr/>
        </p:nvSpPr>
        <p:spPr>
          <a:xfrm>
            <a:off x="594360" y="3154680"/>
            <a:ext cx="1737360" cy="347472"/>
          </a:xfrm>
          <a:prstGeom prst="roundRect">
            <a:avLst>
              <a:gd name="adj" fmla="val 2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spcAft>
                <a:spcPts val="0"/>
              </a:spcAft>
            </a:pPr>
            <a:r>
              <a:rPr sz="1300" b="1">
                <a:solidFill>
                  <a:srgbClr val="FFFFFF"/>
                </a:solidFill>
              </a:rPr>
              <a:t>Float  +1 day</a:t>
            </a:r>
          </a:p>
        </p:txBody>
      </p:sp>
      <p:sp>
        <p:nvSpPr>
          <p:cNvPr id="10" name="TextBox 9"/>
          <p:cNvSpPr txBox="1"/>
          <p:nvPr/>
        </p:nvSpPr>
        <p:spPr>
          <a:xfrm>
            <a:off x="2514600" y="3154680"/>
            <a:ext cx="2468880" cy="347472"/>
          </a:xfrm>
          <a:prstGeom prst="rect">
            <a:avLst/>
          </a:prstGeom>
          <a:noFill/>
        </p:spPr>
        <p:txBody>
          <a:bodyPr wrap="square" lIns="0" rIns="0" tIns="0" bIns="0" anchor="ctr">
            <a:spAutoFit/>
          </a:bodyPr>
          <a:lstStyle/>
          <a:p>
            <a:pPr>
              <a:spcAft>
                <a:spcPts val="0"/>
              </a:spcAft>
            </a:pPr>
            <a:r>
              <a:rPr sz="1200" b="0">
                <a:solidFill>
                  <a:srgbClr val="0082C0"/>
                </a:solidFill>
              </a:rPr>
              <a:t>Open the Argo Navis plan</a:t>
            </a:r>
          </a:p>
        </p:txBody>
      </p:sp>
      <p:sp>
        <p:nvSpPr>
          <p:cNvPr id="11" name="Rounded Rectangle 10"/>
          <p:cNvSpPr/>
          <p:nvPr/>
        </p:nvSpPr>
        <p:spPr>
          <a:xfrm>
            <a:off x="384048" y="3886200"/>
            <a:ext cx="4754880" cy="18288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a:lstStyle/>
          <a:p>
            <a:pPr algn="ctr"/>
          </a:p>
        </p:txBody>
      </p:sp>
      <p:sp>
        <p:nvSpPr>
          <p:cNvPr id="12" name="TextBox 11"/>
          <p:cNvSpPr txBox="1"/>
          <p:nvPr/>
        </p:nvSpPr>
        <p:spPr>
          <a:xfrm>
            <a:off x="594360" y="4023360"/>
            <a:ext cx="4389120" cy="365760"/>
          </a:xfrm>
          <a:prstGeom prst="rect">
            <a:avLst/>
          </a:prstGeom>
          <a:noFill/>
        </p:spPr>
        <p:txBody>
          <a:bodyPr wrap="square" lIns="0" rIns="0" tIns="0" bIns="0">
            <a:spAutoFit/>
          </a:bodyPr>
          <a:lstStyle/>
          <a:p>
            <a:pPr>
              <a:spcAft>
                <a:spcPts val="0"/>
              </a:spcAft>
            </a:pPr>
            <a:r>
              <a:rPr sz="1700" b="1">
                <a:solidFill>
                  <a:srgbClr val="002C77"/>
                </a:solidFill>
              </a:rPr>
              <a:t>Example rig  ·  BOP2</a:t>
            </a:r>
          </a:p>
        </p:txBody>
      </p:sp>
      <p:sp>
        <p:nvSpPr>
          <p:cNvPr id="13" name="TextBox 12"/>
          <p:cNvSpPr txBox="1"/>
          <p:nvPr/>
        </p:nvSpPr>
        <p:spPr>
          <a:xfrm>
            <a:off x="594360" y="4480560"/>
            <a:ext cx="2103120" cy="640080"/>
          </a:xfrm>
          <a:prstGeom prst="rect">
            <a:avLst/>
          </a:prstGeom>
          <a:noFill/>
        </p:spPr>
        <p:txBody>
          <a:bodyPr wrap="square" lIns="0" rIns="0" tIns="0" bIns="0">
            <a:spAutoFit/>
          </a:bodyPr>
          <a:lstStyle/>
          <a:p>
            <a:pPr>
              <a:spcAft>
                <a:spcPts val="0"/>
              </a:spcAft>
            </a:pPr>
            <a:r>
              <a:rPr sz="1200" b="0">
                <a:solidFill>
                  <a:srgbClr val="5A6472"/>
                </a:solidFill>
              </a:rPr>
              <a:t>BOP ready</a:t>
            </a:r>
          </a:p>
          <a:p>
            <a:pPr>
              <a:spcAft>
                <a:spcPts val="0"/>
              </a:spcAft>
            </a:pPr>
            <a:r>
              <a:rPr sz="1600" b="1">
                <a:solidFill>
                  <a:srgbClr val="1F2D3D"/>
                </a:solidFill>
              </a:rPr>
              <a:t>02 Nov 14:00</a:t>
            </a:r>
          </a:p>
        </p:txBody>
      </p:sp>
      <p:sp>
        <p:nvSpPr>
          <p:cNvPr id="14" name="TextBox 13"/>
          <p:cNvSpPr txBox="1"/>
          <p:nvPr/>
        </p:nvSpPr>
        <p:spPr>
          <a:xfrm>
            <a:off x="2743200" y="4480560"/>
            <a:ext cx="2103120" cy="640080"/>
          </a:xfrm>
          <a:prstGeom prst="rect">
            <a:avLst/>
          </a:prstGeom>
          <a:noFill/>
        </p:spPr>
        <p:txBody>
          <a:bodyPr wrap="square" lIns="0" rIns="0" tIns="0" bIns="0">
            <a:spAutoFit/>
          </a:bodyPr>
          <a:lstStyle/>
          <a:p>
            <a:pPr>
              <a:spcAft>
                <a:spcPts val="0"/>
              </a:spcAft>
            </a:pPr>
            <a:r>
              <a:rPr sz="1200" b="0">
                <a:solidFill>
                  <a:srgbClr val="5A6472"/>
                </a:solidFill>
              </a:rPr>
              <a:t>BOP need</a:t>
            </a:r>
          </a:p>
          <a:p>
            <a:pPr>
              <a:spcAft>
                <a:spcPts val="0"/>
              </a:spcAft>
            </a:pPr>
            <a:r>
              <a:rPr sz="1600" b="1">
                <a:solidFill>
                  <a:srgbClr val="1F2D3D"/>
                </a:solidFill>
              </a:rPr>
              <a:t>01 Nov</a:t>
            </a:r>
          </a:p>
        </p:txBody>
      </p:sp>
      <p:sp>
        <p:nvSpPr>
          <p:cNvPr id="15" name="Rounded Rectangle 14"/>
          <p:cNvSpPr/>
          <p:nvPr/>
        </p:nvSpPr>
        <p:spPr>
          <a:xfrm>
            <a:off x="594360" y="5212080"/>
            <a:ext cx="1737360" cy="347472"/>
          </a:xfrm>
          <a:prstGeom prst="roundRect">
            <a:avLst>
              <a:gd name="adj" fmla="val 20000"/>
            </a:avLst>
          </a:prstGeom>
          <a:solidFill>
            <a:srgbClr val="B3242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spcAft>
                <a:spcPts val="0"/>
              </a:spcAft>
            </a:pPr>
            <a:r>
              <a:rPr sz="1300" b="1">
                <a:solidFill>
                  <a:srgbClr val="FFFFFF"/>
                </a:solidFill>
              </a:rPr>
              <a:t>Float  −1 day</a:t>
            </a:r>
          </a:p>
        </p:txBody>
      </p:sp>
      <p:sp>
        <p:nvSpPr>
          <p:cNvPr id="16" name="TextBox 15"/>
          <p:cNvSpPr txBox="1"/>
          <p:nvPr/>
        </p:nvSpPr>
        <p:spPr>
          <a:xfrm>
            <a:off x="2514600" y="5212080"/>
            <a:ext cx="2468880" cy="347472"/>
          </a:xfrm>
          <a:prstGeom prst="rect">
            <a:avLst/>
          </a:prstGeom>
          <a:noFill/>
        </p:spPr>
        <p:txBody>
          <a:bodyPr wrap="square" lIns="0" rIns="0" tIns="0" bIns="0" anchor="ctr">
            <a:spAutoFit/>
          </a:bodyPr>
          <a:lstStyle/>
          <a:p>
            <a:pPr>
              <a:spcAft>
                <a:spcPts val="0"/>
              </a:spcAft>
            </a:pPr>
            <a:r>
              <a:rPr sz="1200" b="0">
                <a:solidFill>
                  <a:srgbClr val="0082C0"/>
                </a:solidFill>
              </a:rPr>
              <a:t>Open the Argo Navis plan</a:t>
            </a:r>
          </a:p>
        </p:txBody>
      </p:sp>
      <p:sp>
        <p:nvSpPr>
          <p:cNvPr id="17" name="TextBox 16"/>
          <p:cNvSpPr txBox="1"/>
          <p:nvPr/>
        </p:nvSpPr>
        <p:spPr>
          <a:xfrm>
            <a:off x="384048" y="5806440"/>
            <a:ext cx="4754880" cy="274320"/>
          </a:xfrm>
          <a:prstGeom prst="rect">
            <a:avLst/>
          </a:prstGeom>
          <a:noFill/>
        </p:spPr>
        <p:txBody>
          <a:bodyPr wrap="square" lIns="0" rIns="0" tIns="0" bIns="0">
            <a:spAutoFit/>
          </a:bodyPr>
          <a:lstStyle/>
          <a:p>
            <a:pPr>
              <a:spcAft>
                <a:spcPts val="0"/>
              </a:spcAft>
            </a:pPr>
            <a:r>
              <a:rPr sz="1200" b="0">
                <a:solidFill>
                  <a:srgbClr val="5A6472"/>
                </a:solidFill>
              </a:rPr>
              <a:t>Illustration. The first tile uses the West Vela sample plan.</a:t>
            </a:r>
          </a:p>
        </p:txBody>
      </p:sp>
      <p:sp>
        <p:nvSpPr>
          <p:cNvPr id="18" name="TextBox 17"/>
          <p:cNvSpPr txBox="1"/>
          <p:nvPr/>
        </p:nvSpPr>
        <p:spPr>
          <a:xfrm>
            <a:off x="5577840" y="1828800"/>
            <a:ext cx="6217920" cy="4206240"/>
          </a:xfrm>
          <a:prstGeom prst="rect">
            <a:avLst/>
          </a:prstGeom>
          <a:noFill/>
        </p:spPr>
        <p:txBody>
          <a:bodyPr wrap="square" lIns="0" rIns="0" tIns="0" bIns="0">
            <a:spAutoFit/>
          </a:bodyPr>
          <a:lstStyle/>
          <a:p>
            <a:pPr>
              <a:spcAft>
                <a:spcPts val="200"/>
              </a:spcAft>
            </a:pPr>
            <a:r>
              <a:rPr sz="1600" b="1">
                <a:solidFill>
                  <a:srgbClr val="002C77"/>
                </a:solidFill>
              </a:rPr>
              <a:t>BOP ready date</a:t>
            </a:r>
          </a:p>
          <a:p>
            <a:pPr>
              <a:spcAft>
                <a:spcPts val="1200"/>
              </a:spcAft>
            </a:pPr>
            <a:r>
              <a:rPr sz="1400" b="0"/>
              <a:t>When the BOP will be ready to deploy, from the plan’s BOP work only.</a:t>
            </a:r>
          </a:p>
          <a:p>
            <a:pPr>
              <a:spcAft>
                <a:spcPts val="200"/>
              </a:spcAft>
            </a:pPr>
            <a:r>
              <a:rPr sz="1600" b="1">
                <a:solidFill>
                  <a:srgbClr val="002C77"/>
                </a:solidFill>
              </a:rPr>
              <a:t>BOP need date</a:t>
            </a:r>
          </a:p>
          <a:p>
            <a:pPr>
              <a:spcAft>
                <a:spcPts val="1200"/>
              </a:spcAft>
            </a:pPr>
            <a:r>
              <a:rPr sz="1400" b="0"/>
              <a:t>When the well needs it.</a:t>
            </a:r>
          </a:p>
          <a:p>
            <a:pPr>
              <a:spcAft>
                <a:spcPts val="200"/>
              </a:spcAft>
            </a:pPr>
            <a:r>
              <a:rPr sz="1600" b="1">
                <a:solidFill>
                  <a:srgbClr val="002C77"/>
                </a:solidFill>
              </a:rPr>
              <a:t>Float</a:t>
            </a:r>
          </a:p>
          <a:p>
            <a:pPr>
              <a:spcAft>
                <a:spcPts val="1200"/>
              </a:spcAft>
            </a:pPr>
            <a:r>
              <a:rPr sz="1400" b="0"/>
              <a:t>Need date minus ready date. Green is time in hand. Red means the BOP will be late.</a:t>
            </a:r>
          </a:p>
          <a:p>
            <a:pPr>
              <a:spcAft>
                <a:spcPts val="200"/>
              </a:spcAft>
            </a:pPr>
            <a:r>
              <a:rPr sz="1600" b="1">
                <a:solidFill>
                  <a:srgbClr val="002C77"/>
                </a:solidFill>
              </a:rPr>
              <a:t>Argo Navis plans</a:t>
            </a:r>
          </a:p>
          <a:p>
            <a:pPr>
              <a:spcAft>
                <a:spcPts val="0"/>
              </a:spcAft>
            </a:pPr>
            <a:r>
              <a:rPr sz="1400" b="0"/>
              <a:t>Each tile links to its plan. The tile updates every time the rig posts a daily report.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384048" y="1655064"/>
            <a:ext cx="3456432" cy="274320"/>
          </a:xfrm>
        </p:spPr>
        <p:txBody>
          <a:bodyPr wrap="square"/>
          <a:lstStyle/>
          <a:p>
            <a:pPr>
              <a:spcAft>
                <a:spcPts val="600"/>
              </a:spcAft>
            </a:pPr>
            <a:r>
              <a:rPr sz="1700" b="1">
                <a:solidFill>
                  <a:srgbClr val="002C77"/>
                </a:solidFill>
              </a:rPr>
              <a:t>What it holds</a:t>
            </a:r>
          </a:p>
        </p:txBody>
      </p:sp>
      <p:sp>
        <p:nvSpPr>
          <p:cNvPr id="3" name="Text Placeholder 2"/>
          <p:cNvSpPr>
            <a:spLocks noGrp="1"/>
          </p:cNvSpPr>
          <p:nvPr>
            <p:ph type="body" idx="14" sz="quarter"/>
          </p:nvPr>
        </p:nvSpPr>
        <p:spPr>
          <a:xfrm>
            <a:off x="384048" y="2011680"/>
            <a:ext cx="3456432" cy="4069080"/>
          </a:xfrm>
        </p:spPr>
        <p:txBody>
          <a:bodyPr wrap="square"/>
          <a:lstStyle/>
          <a:p>
            <a:pPr>
              <a:spcAft>
                <a:spcPts val="1000"/>
              </a:spcAft>
            </a:pPr>
            <a:r>
              <a:rPr sz="1600" b="0"/>
              <a:t>Every WCE Certificate of Conformance, by rig and by equipment.</a:t>
            </a:r>
          </a:p>
          <a:p>
            <a:pPr>
              <a:spcAft>
                <a:spcPts val="1000"/>
              </a:spcAft>
            </a:pPr>
            <a:r>
              <a:rPr sz="1600" b="0"/>
              <a:t>Search by rig, part number or serial number.</a:t>
            </a:r>
          </a:p>
        </p:txBody>
      </p:sp>
      <p:sp>
        <p:nvSpPr>
          <p:cNvPr id="4" name="Text Placeholder 3"/>
          <p:cNvSpPr>
            <a:spLocks noGrp="1"/>
          </p:cNvSpPr>
          <p:nvPr>
            <p:ph type="body" idx="15" sz="quarter"/>
          </p:nvPr>
        </p:nvSpPr>
        <p:spPr>
          <a:xfrm>
            <a:off x="4343400" y="1655064"/>
            <a:ext cx="3456432" cy="274320"/>
          </a:xfrm>
        </p:spPr>
        <p:txBody>
          <a:bodyPr wrap="square"/>
          <a:lstStyle/>
          <a:p>
            <a:pPr>
              <a:spcAft>
                <a:spcPts val="600"/>
              </a:spcAft>
            </a:pPr>
            <a:r>
              <a:rPr sz="1700" b="1">
                <a:solidFill>
                  <a:srgbClr val="0082C0"/>
                </a:solidFill>
              </a:rPr>
              <a:t>How to use it on the rig</a:t>
            </a:r>
          </a:p>
        </p:txBody>
      </p:sp>
      <p:sp>
        <p:nvSpPr>
          <p:cNvPr id="5" name="Text Placeholder 4"/>
          <p:cNvSpPr>
            <a:spLocks noGrp="1"/>
          </p:cNvSpPr>
          <p:nvPr>
            <p:ph type="body" idx="16" sz="quarter"/>
          </p:nvPr>
        </p:nvSpPr>
        <p:spPr>
          <a:xfrm>
            <a:off x="4343400" y="2011680"/>
            <a:ext cx="3456432" cy="4069080"/>
          </a:xfrm>
        </p:spPr>
        <p:txBody>
          <a:bodyPr wrap="square"/>
          <a:lstStyle/>
          <a:p>
            <a:pPr>
              <a:spcAft>
                <a:spcPts val="1000"/>
              </a:spcAft>
            </a:pPr>
            <a:r>
              <a:rPr sz="1600" b="0"/>
              <a:t>Find the certificate before you ask for it.</a:t>
            </a:r>
          </a:p>
          <a:p>
            <a:pPr>
              <a:spcAft>
                <a:spcPts val="1000"/>
              </a:spcAft>
            </a:pPr>
            <a:r>
              <a:rPr sz="1600" b="0"/>
              <a:t>Check the serial number on the certificate against the equipment in front of you.</a:t>
            </a:r>
          </a:p>
        </p:txBody>
      </p:sp>
      <p:sp>
        <p:nvSpPr>
          <p:cNvPr id="6" name="Text Placeholder 5"/>
          <p:cNvSpPr>
            <a:spLocks noGrp="1"/>
          </p:cNvSpPr>
          <p:nvPr>
            <p:ph type="body" idx="17" sz="quarter"/>
          </p:nvPr>
        </p:nvSpPr>
        <p:spPr>
          <a:xfrm>
            <a:off x="8366760" y="1655064"/>
            <a:ext cx="3456432" cy="274320"/>
          </a:xfrm>
        </p:spPr>
        <p:txBody>
          <a:bodyPr wrap="square"/>
          <a:lstStyle/>
          <a:p>
            <a:pPr>
              <a:spcAft>
                <a:spcPts val="600"/>
              </a:spcAft>
            </a:pPr>
            <a:r>
              <a:rPr sz="1700" b="1">
                <a:solidFill>
                  <a:srgbClr val="E25303"/>
                </a:solidFill>
              </a:rPr>
              <a:t>SSCE requests</a:t>
            </a:r>
          </a:p>
        </p:txBody>
      </p:sp>
      <p:sp>
        <p:nvSpPr>
          <p:cNvPr id="7" name="Text Placeholder 6"/>
          <p:cNvSpPr>
            <a:spLocks noGrp="1"/>
          </p:cNvSpPr>
          <p:nvPr>
            <p:ph type="body" idx="18" sz="quarter"/>
          </p:nvPr>
        </p:nvSpPr>
        <p:spPr>
          <a:xfrm>
            <a:off x="8366760" y="2011680"/>
            <a:ext cx="3456432" cy="4069080"/>
          </a:xfrm>
        </p:spPr>
        <p:txBody>
          <a:bodyPr wrap="square"/>
          <a:lstStyle/>
          <a:p>
            <a:pPr>
              <a:spcAft>
                <a:spcPts val="1000"/>
              </a:spcAft>
            </a:pPr>
            <a:r>
              <a:rPr sz="1600" b="0"/>
              <a:t>Raise a request when a certificate is missing or wrong.</a:t>
            </a:r>
          </a:p>
          <a:p>
            <a:pPr>
              <a:spcAft>
                <a:spcPts val="1000"/>
              </a:spcAft>
            </a:pPr>
            <a:r>
              <a:rPr sz="1600" b="0"/>
              <a:t>It goes through the TSC Help Centre, so it is tracked and answered on the page.</a:t>
            </a:r>
          </a:p>
        </p:txBody>
      </p:sp>
      <p:sp>
        <p:nvSpPr>
          <p:cNvPr id="8" name="Text Placeholder 7"/>
          <p:cNvSpPr>
            <a:spLocks noGrp="1"/>
          </p:cNvSpPr>
          <p:nvPr>
            <p:ph type="body" idx="12" sz="quarter"/>
          </p:nvPr>
        </p:nvSpPr>
        <p:spPr/>
        <p:txBody>
          <a:bodyPr wrap="square"/>
          <a:lstStyle/>
          <a:p>
            <a:pPr>
              <a:spcAft>
                <a:spcPts val="600"/>
              </a:spcAft>
            </a:pPr>
            <a:r>
              <a:rPr sz="2800" b="1"/>
              <a:t>The WCE CoC dashboard and SSCE requests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The AAB tab and the Seadrill Bulletin Board</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Every advisory follows the same four steps</a:t>
            </a:r>
          </a:p>
        </p:txBody>
      </p:sp>
      <p:sp>
        <p:nvSpPr>
          <p:cNvPr id="5" name="Rounded Rectangle 4"/>
          <p:cNvSpPr/>
          <p:nvPr/>
        </p:nvSpPr>
        <p:spPr>
          <a:xfrm>
            <a:off x="384048" y="1920240"/>
            <a:ext cx="2615184" cy="64008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700" b="1">
                <a:solidFill>
                  <a:srgbClr val="FFFFFF"/>
                </a:solidFill>
              </a:rPr>
              <a:t>Advisory</a:t>
            </a:r>
          </a:p>
        </p:txBody>
      </p:sp>
      <p:sp>
        <p:nvSpPr>
          <p:cNvPr id="6" name="Rounded Rectangle 5"/>
          <p:cNvSpPr/>
          <p:nvPr/>
        </p:nvSpPr>
        <p:spPr>
          <a:xfrm>
            <a:off x="384048" y="2697480"/>
            <a:ext cx="2615184" cy="17373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0"/>
              </a:spcAft>
            </a:pPr>
            <a:r>
              <a:rPr sz="1400" b="0">
                <a:solidFill>
                  <a:srgbClr val="1F2D3D"/>
                </a:solidFill>
              </a:rPr>
              <a:t>Issued by the office to the rigs it affects, on the Bulletin Board.</a:t>
            </a:r>
          </a:p>
        </p:txBody>
      </p:sp>
      <p:sp>
        <p:nvSpPr>
          <p:cNvPr id="7" name="Chevron 6"/>
          <p:cNvSpPr/>
          <p:nvPr/>
        </p:nvSpPr>
        <p:spPr>
          <a:xfrm>
            <a:off x="3072384" y="2121408"/>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8" name="Rounded Rectangle 7"/>
          <p:cNvSpPr/>
          <p:nvPr/>
        </p:nvSpPr>
        <p:spPr>
          <a:xfrm>
            <a:off x="3310127" y="1920240"/>
            <a:ext cx="2615184" cy="64008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700" b="1">
                <a:solidFill>
                  <a:srgbClr val="FFFFFF"/>
                </a:solidFill>
              </a:rPr>
              <a:t>Acknowledgement</a:t>
            </a:r>
          </a:p>
        </p:txBody>
      </p:sp>
      <p:sp>
        <p:nvSpPr>
          <p:cNvPr id="9" name="Rounded Rectangle 8"/>
          <p:cNvSpPr/>
          <p:nvPr/>
        </p:nvSpPr>
        <p:spPr>
          <a:xfrm>
            <a:off x="3310127" y="2697480"/>
            <a:ext cx="2615184" cy="17373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0"/>
              </a:spcAft>
            </a:pPr>
            <a:r>
              <a:rPr sz="1400" b="0">
                <a:solidFill>
                  <a:srgbClr val="1F2D3D"/>
                </a:solidFill>
              </a:rPr>
              <a:t>Each rig confirms it has read it. The AAB tab shows who has not.</a:t>
            </a:r>
          </a:p>
        </p:txBody>
      </p:sp>
      <p:sp>
        <p:nvSpPr>
          <p:cNvPr id="10" name="Chevron 9"/>
          <p:cNvSpPr/>
          <p:nvPr/>
        </p:nvSpPr>
        <p:spPr>
          <a:xfrm>
            <a:off x="5998464" y="2121408"/>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1" name="Rounded Rectangle 10"/>
          <p:cNvSpPr/>
          <p:nvPr/>
        </p:nvSpPr>
        <p:spPr>
          <a:xfrm>
            <a:off x="6236207" y="1920240"/>
            <a:ext cx="2615184" cy="64008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700" b="1">
                <a:solidFill>
                  <a:srgbClr val="FFFFFF"/>
                </a:solidFill>
              </a:rPr>
              <a:t>Review</a:t>
            </a:r>
          </a:p>
        </p:txBody>
      </p:sp>
      <p:sp>
        <p:nvSpPr>
          <p:cNvPr id="12" name="Rounded Rectangle 11"/>
          <p:cNvSpPr/>
          <p:nvPr/>
        </p:nvSpPr>
        <p:spPr>
          <a:xfrm>
            <a:off x="6236207" y="2697480"/>
            <a:ext cx="2615184" cy="17373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0"/>
              </a:spcAft>
            </a:pPr>
            <a:r>
              <a:rPr sz="1400" b="0">
                <a:solidFill>
                  <a:srgbClr val="1F2D3D"/>
                </a:solidFill>
              </a:rPr>
              <a:t>The rig checks its equipment against the advisory and records what it found.</a:t>
            </a:r>
          </a:p>
        </p:txBody>
      </p:sp>
      <p:sp>
        <p:nvSpPr>
          <p:cNvPr id="13" name="Chevron 12"/>
          <p:cNvSpPr/>
          <p:nvPr/>
        </p:nvSpPr>
        <p:spPr>
          <a:xfrm>
            <a:off x="8924544" y="2121408"/>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4" name="Rounded Rectangle 13"/>
          <p:cNvSpPr/>
          <p:nvPr/>
        </p:nvSpPr>
        <p:spPr>
          <a:xfrm>
            <a:off x="9162288" y="1920240"/>
            <a:ext cx="2615184" cy="640080"/>
          </a:xfrm>
          <a:prstGeom prst="roundRect">
            <a:avLst>
              <a:gd name="adj" fmla="val 6000"/>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700" b="1">
                <a:solidFill>
                  <a:srgbClr val="FFFFFF"/>
                </a:solidFill>
              </a:rPr>
              <a:t>Close</a:t>
            </a:r>
          </a:p>
        </p:txBody>
      </p:sp>
      <p:sp>
        <p:nvSpPr>
          <p:cNvPr id="15" name="Rounded Rectangle 14"/>
          <p:cNvSpPr/>
          <p:nvPr/>
        </p:nvSpPr>
        <p:spPr>
          <a:xfrm>
            <a:off x="9162288" y="2697480"/>
            <a:ext cx="2615184" cy="17373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0"/>
              </a:spcAft>
            </a:pPr>
            <a:r>
              <a:rPr sz="1400" b="0">
                <a:solidFill>
                  <a:srgbClr val="1F2D3D"/>
                </a:solidFill>
              </a:rPr>
              <a:t>Closed when every affected rig has reviewed. The record stays.</a:t>
            </a:r>
          </a:p>
        </p:txBody>
      </p:sp>
      <p:sp>
        <p:nvSpPr>
          <p:cNvPr id="16" name="Rounded Rectangle 15"/>
          <p:cNvSpPr/>
          <p:nvPr/>
        </p:nvSpPr>
        <p:spPr>
          <a:xfrm>
            <a:off x="384048" y="4846320"/>
            <a:ext cx="11411712" cy="822960"/>
          </a:xfrm>
          <a:prstGeom prst="roundRect">
            <a:avLst>
              <a:gd name="adj" fmla="val 6000"/>
            </a:avLst>
          </a:prstGeom>
          <a:no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spcAft>
                <a:spcPts val="0"/>
              </a:spcAft>
            </a:pPr>
            <a:r>
              <a:rPr sz="1500" b="1">
                <a:solidFill>
                  <a:srgbClr val="002C77"/>
                </a:solidFill>
              </a:rPr>
              <a:t>On the rig: </a:t>
            </a:r>
            <a:r>
              <a:rPr sz="1500" b="0">
                <a:solidFill>
                  <a:srgbClr val="1F2D3D"/>
                </a:solidFill>
              </a:rPr>
              <a:t>acknowledge means read it. Review means checked the kit. They are not the same step.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Ask SACRED AI</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Questions in plain words, answered from the posted reports</a:t>
            </a:r>
          </a:p>
        </p:txBody>
      </p:sp>
      <p:sp>
        <p:nvSpPr>
          <p:cNvPr id="5" name="Rounded Rectangle 4"/>
          <p:cNvSpPr/>
          <p:nvPr/>
        </p:nvSpPr>
        <p:spPr>
          <a:xfrm>
            <a:off x="384048" y="1874519"/>
            <a:ext cx="5486400" cy="22860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800"/>
              </a:spcAft>
            </a:pPr>
            <a:r>
              <a:rPr sz="1700" b="1">
                <a:solidFill>
                  <a:srgbClr val="002C77"/>
                </a:solidFill>
              </a:rPr>
              <a:t>Today: demonstrated by Dan</a:t>
            </a:r>
          </a:p>
          <a:p>
            <a:pPr algn="l">
              <a:spcAft>
                <a:spcPts val="800"/>
              </a:spcAft>
            </a:pPr>
            <a:r>
              <a:rPr sz="1600" b="0">
                <a:solidFill>
                  <a:srgbClr val="1F2D3D"/>
                </a:solidFill>
              </a:rPr>
              <a:t>Ask a question about the fleet in plain words.</a:t>
            </a:r>
          </a:p>
          <a:p>
            <a:pPr algn="l">
              <a:spcAft>
                <a:spcPts val="800"/>
              </a:spcAft>
            </a:pPr>
            <a:r>
              <a:rPr sz="1600" b="0">
                <a:solidFill>
                  <a:srgbClr val="1F2D3D"/>
                </a:solidFill>
              </a:rPr>
              <a:t>The answer names the reports it came from.</a:t>
            </a:r>
          </a:p>
          <a:p>
            <a:pPr algn="l">
              <a:spcAft>
                <a:spcPts val="0"/>
              </a:spcAft>
            </a:pPr>
            <a:r>
              <a:rPr sz="1600" b="0">
                <a:solidFill>
                  <a:srgbClr val="1F2D3D"/>
                </a:solidFill>
              </a:rPr>
              <a:t>Open the source before you act on an answer.</a:t>
            </a:r>
          </a:p>
        </p:txBody>
      </p:sp>
      <p:sp>
        <p:nvSpPr>
          <p:cNvPr id="6" name="Rounded Rectangle 5"/>
          <p:cNvSpPr/>
          <p:nvPr/>
        </p:nvSpPr>
        <p:spPr>
          <a:xfrm>
            <a:off x="6309360" y="1874519"/>
            <a:ext cx="5486400" cy="22860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800"/>
              </a:spcAft>
            </a:pPr>
            <a:r>
              <a:rPr sz="1700" b="1">
                <a:solidFill>
                  <a:srgbClr val="0082C0"/>
                </a:solidFill>
              </a:rPr>
              <a:t>Coming: for everyone</a:t>
            </a:r>
          </a:p>
          <a:p>
            <a:pPr algn="l">
              <a:spcAft>
                <a:spcPts val="800"/>
              </a:spcAft>
            </a:pPr>
            <a:r>
              <a:rPr sz="1600" b="0">
                <a:solidFill>
                  <a:srgbClr val="1F2D3D"/>
                </a:solidFill>
              </a:rPr>
              <a:t>The same tool, open to every superintendent.</a:t>
            </a:r>
          </a:p>
          <a:p>
            <a:pPr algn="l">
              <a:spcAft>
                <a:spcPts val="800"/>
              </a:spcAft>
            </a:pPr>
            <a:r>
              <a:rPr sz="1600" b="0">
                <a:solidFill>
                  <a:srgbClr val="1F2D3D"/>
                </a:solidFill>
              </a:rPr>
              <a:t>It reads what has been posted, and nothing else.</a:t>
            </a:r>
          </a:p>
          <a:p>
            <a:pPr algn="l">
              <a:spcAft>
                <a:spcPts val="0"/>
              </a:spcAft>
            </a:pPr>
            <a:r>
              <a:rPr sz="1600" b="0">
                <a:solidFill>
                  <a:srgbClr val="1F2D3D"/>
                </a:solidFill>
              </a:rPr>
              <a:t>Good reports make good answers.</a:t>
            </a:r>
          </a:p>
        </p:txBody>
      </p:sp>
      <p:sp>
        <p:nvSpPr>
          <p:cNvPr id="7" name="Rounded Rectangle 6"/>
          <p:cNvSpPr/>
          <p:nvPr/>
        </p:nvSpPr>
        <p:spPr>
          <a:xfrm>
            <a:off x="384048" y="4526280"/>
            <a:ext cx="11411712" cy="77724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spcAft>
                <a:spcPts val="0"/>
              </a:spcAft>
            </a:pPr>
            <a:r>
              <a:rPr sz="1600" b="1">
                <a:solidFill>
                  <a:srgbClr val="EDB71E"/>
                </a:solidFill>
              </a:rPr>
              <a:t>Try asking:  </a:t>
            </a:r>
            <a:r>
              <a:rPr sz="1600" b="0">
                <a:solidFill>
                  <a:srgbClr val="FFFFFF"/>
                </a:solidFill>
              </a:rPr>
              <a:t>“Which rigs have a CBM grade 4 or 5 on the annulars this year?”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wrap="square"/>
          <a:lstStyle/>
          <a:p>
            <a:pPr>
              <a:spcAft>
                <a:spcPts val="600"/>
              </a:spcAft>
            </a:pPr>
            <a:r>
              <a:rPr sz="3000" b="1"/>
              <a:t>Module 7</a:t>
            </a:r>
          </a:p>
        </p:txBody>
      </p:sp>
      <p:sp>
        <p:nvSpPr>
          <p:cNvPr id="4" name="Subtitle 3"/>
          <p:cNvSpPr>
            <a:spLocks noGrp="1"/>
          </p:cNvSpPr>
          <p:nvPr>
            <p:ph type="subTitle" idx="1"/>
          </p:nvPr>
        </p:nvSpPr>
        <p:spPr>
          <a:xfrm>
            <a:off x="356616" y="3346704"/>
            <a:ext cx="11439144" cy="548640"/>
          </a:xfrm>
        </p:spPr>
        <p:txBody>
          <a:bodyPr wrap="square"/>
          <a:lstStyle/>
          <a:p>
            <a:pPr>
              <a:spcAft>
                <a:spcPts val="600"/>
              </a:spcAft>
            </a:pPr>
            <a:r>
              <a:rPr sz="1400" b="0"/>
              <a:t>Argo Navis — planning and executing Between Well Maintenance   ·   13:00–14:30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The life of a plan</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From the landing page to close-out   ·   Dan shows, you follow</a:t>
            </a:r>
          </a:p>
        </p:txBody>
      </p:sp>
      <p:sp>
        <p:nvSpPr>
          <p:cNvPr id="5" name="Oval 4"/>
          <p:cNvSpPr/>
          <p:nvPr/>
        </p:nvSpPr>
        <p:spPr>
          <a:xfrm>
            <a:off x="384048" y="1828800"/>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1</a:t>
            </a:r>
          </a:p>
        </p:txBody>
      </p:sp>
      <p:sp>
        <p:nvSpPr>
          <p:cNvPr id="6" name="TextBox 5"/>
          <p:cNvSpPr txBox="1"/>
          <p:nvPr/>
        </p:nvSpPr>
        <p:spPr>
          <a:xfrm>
            <a:off x="868680" y="1828800"/>
            <a:ext cx="4572000" cy="365760"/>
          </a:xfrm>
          <a:prstGeom prst="rect">
            <a:avLst/>
          </a:prstGeom>
          <a:noFill/>
        </p:spPr>
        <p:txBody>
          <a:bodyPr wrap="square" lIns="0" rIns="0" tIns="0" bIns="0" anchor="ctr">
            <a:spAutoFit/>
          </a:bodyPr>
          <a:lstStyle/>
          <a:p>
            <a:pPr>
              <a:spcAft>
                <a:spcPts val="0"/>
              </a:spcAft>
            </a:pPr>
            <a:r>
              <a:rPr sz="1500" b="1">
                <a:solidFill>
                  <a:srgbClr val="002C77"/>
                </a:solidFill>
              </a:rPr>
              <a:t>Landing page</a:t>
            </a:r>
            <a:r>
              <a:rPr sz="1500" b="0">
                <a:solidFill>
                  <a:srgbClr val="5A6472"/>
                </a:solidFill>
              </a:rPr>
              <a:t>   New or Existing, by rig</a:t>
            </a:r>
          </a:p>
        </p:txBody>
      </p:sp>
      <p:sp>
        <p:nvSpPr>
          <p:cNvPr id="7" name="Oval 6"/>
          <p:cNvSpPr/>
          <p:nvPr/>
        </p:nvSpPr>
        <p:spPr>
          <a:xfrm>
            <a:off x="384048" y="2313432"/>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2</a:t>
            </a:r>
          </a:p>
        </p:txBody>
      </p:sp>
      <p:sp>
        <p:nvSpPr>
          <p:cNvPr id="8" name="TextBox 7"/>
          <p:cNvSpPr txBox="1"/>
          <p:nvPr/>
        </p:nvSpPr>
        <p:spPr>
          <a:xfrm>
            <a:off x="868680" y="2313432"/>
            <a:ext cx="4572000" cy="365760"/>
          </a:xfrm>
          <a:prstGeom prst="rect">
            <a:avLst/>
          </a:prstGeom>
          <a:noFill/>
        </p:spPr>
        <p:txBody>
          <a:bodyPr wrap="square" lIns="0" rIns="0" tIns="0" bIns="0" anchor="ctr">
            <a:spAutoFit/>
          </a:bodyPr>
          <a:lstStyle/>
          <a:p>
            <a:pPr>
              <a:spcAft>
                <a:spcPts val="0"/>
              </a:spcAft>
            </a:pPr>
            <a:r>
              <a:rPr sz="1500" b="1">
                <a:solidFill>
                  <a:srgbClr val="002C77"/>
                </a:solidFill>
              </a:rPr>
              <a:t>Scope challenge</a:t>
            </a:r>
            <a:r>
              <a:rPr sz="1500" b="0">
                <a:solidFill>
                  <a:srgbClr val="5A6472"/>
                </a:solidFill>
              </a:rPr>
              <a:t>   Challenge every work order</a:t>
            </a:r>
          </a:p>
        </p:txBody>
      </p:sp>
      <p:sp>
        <p:nvSpPr>
          <p:cNvPr id="9" name="Oval 8"/>
          <p:cNvSpPr/>
          <p:nvPr/>
        </p:nvSpPr>
        <p:spPr>
          <a:xfrm>
            <a:off x="384048" y="2798064"/>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3</a:t>
            </a:r>
          </a:p>
        </p:txBody>
      </p:sp>
      <p:sp>
        <p:nvSpPr>
          <p:cNvPr id="10" name="TextBox 9"/>
          <p:cNvSpPr txBox="1"/>
          <p:nvPr/>
        </p:nvSpPr>
        <p:spPr>
          <a:xfrm>
            <a:off x="868680" y="2798064"/>
            <a:ext cx="4572000" cy="365760"/>
          </a:xfrm>
          <a:prstGeom prst="rect">
            <a:avLst/>
          </a:prstGeom>
          <a:noFill/>
        </p:spPr>
        <p:txBody>
          <a:bodyPr wrap="square" lIns="0" rIns="0" tIns="0" bIns="0" anchor="ctr">
            <a:spAutoFit/>
          </a:bodyPr>
          <a:lstStyle/>
          <a:p>
            <a:pPr>
              <a:spcAft>
                <a:spcPts val="0"/>
              </a:spcAft>
            </a:pPr>
            <a:r>
              <a:rPr sz="1500" b="1">
                <a:solidFill>
                  <a:srgbClr val="002C77"/>
                </a:solidFill>
              </a:rPr>
              <a:t>Post for review</a:t>
            </a:r>
          </a:p>
        </p:txBody>
      </p:sp>
      <p:sp>
        <p:nvSpPr>
          <p:cNvPr id="11" name="Oval 10"/>
          <p:cNvSpPr/>
          <p:nvPr/>
        </p:nvSpPr>
        <p:spPr>
          <a:xfrm>
            <a:off x="384048" y="3282696"/>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4</a:t>
            </a:r>
          </a:p>
        </p:txBody>
      </p:sp>
      <p:sp>
        <p:nvSpPr>
          <p:cNvPr id="12" name="TextBox 11"/>
          <p:cNvSpPr txBox="1"/>
          <p:nvPr/>
        </p:nvSpPr>
        <p:spPr>
          <a:xfrm>
            <a:off x="868680" y="3282696"/>
            <a:ext cx="4572000" cy="365760"/>
          </a:xfrm>
          <a:prstGeom prst="rect">
            <a:avLst/>
          </a:prstGeom>
          <a:noFill/>
        </p:spPr>
        <p:txBody>
          <a:bodyPr wrap="square" lIns="0" rIns="0" tIns="0" bIns="0" anchor="ctr">
            <a:spAutoFit/>
          </a:bodyPr>
          <a:lstStyle/>
          <a:p>
            <a:pPr>
              <a:spcAft>
                <a:spcPts val="0"/>
              </a:spcAft>
            </a:pPr>
            <a:r>
              <a:rPr sz="1500" b="1">
                <a:solidFill>
                  <a:srgbClr val="002C77"/>
                </a:solidFill>
              </a:rPr>
              <a:t>Reviewers verify</a:t>
            </a:r>
          </a:p>
        </p:txBody>
      </p:sp>
      <p:sp>
        <p:nvSpPr>
          <p:cNvPr id="13" name="Oval 12"/>
          <p:cNvSpPr/>
          <p:nvPr/>
        </p:nvSpPr>
        <p:spPr>
          <a:xfrm>
            <a:off x="384048" y="3767328"/>
            <a:ext cx="365760" cy="365760"/>
          </a:xfrm>
          <a:prstGeom prst="ellipse">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002C77"/>
                </a:solidFill>
              </a:rPr>
              <a:t>5</a:t>
            </a:r>
          </a:p>
        </p:txBody>
      </p:sp>
      <p:sp>
        <p:nvSpPr>
          <p:cNvPr id="14" name="TextBox 13"/>
          <p:cNvSpPr txBox="1"/>
          <p:nvPr/>
        </p:nvSpPr>
        <p:spPr>
          <a:xfrm>
            <a:off x="868680" y="3767328"/>
            <a:ext cx="4572000" cy="365760"/>
          </a:xfrm>
          <a:prstGeom prst="rect">
            <a:avLst/>
          </a:prstGeom>
          <a:noFill/>
        </p:spPr>
        <p:txBody>
          <a:bodyPr wrap="square" lIns="0" rIns="0" tIns="0" bIns="0" anchor="ctr">
            <a:spAutoFit/>
          </a:bodyPr>
          <a:lstStyle/>
          <a:p>
            <a:pPr>
              <a:spcAft>
                <a:spcPts val="0"/>
              </a:spcAft>
            </a:pPr>
            <a:r>
              <a:rPr sz="1500" b="1">
                <a:solidFill>
                  <a:srgbClr val="002C77"/>
                </a:solidFill>
              </a:rPr>
              <a:t>Freeze scope</a:t>
            </a:r>
            <a:r>
              <a:rPr sz="1500" b="0">
                <a:solidFill>
                  <a:srgbClr val="5A6472"/>
                </a:solidFill>
              </a:rPr>
              <a:t>   Hold 1</a:t>
            </a:r>
          </a:p>
        </p:txBody>
      </p:sp>
      <p:sp>
        <p:nvSpPr>
          <p:cNvPr id="15" name="Oval 14"/>
          <p:cNvSpPr/>
          <p:nvPr/>
        </p:nvSpPr>
        <p:spPr>
          <a:xfrm>
            <a:off x="384048" y="4251960"/>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6</a:t>
            </a:r>
          </a:p>
        </p:txBody>
      </p:sp>
      <p:sp>
        <p:nvSpPr>
          <p:cNvPr id="16" name="TextBox 15"/>
          <p:cNvSpPr txBox="1"/>
          <p:nvPr/>
        </p:nvSpPr>
        <p:spPr>
          <a:xfrm>
            <a:off x="868680" y="4251960"/>
            <a:ext cx="4572000" cy="365760"/>
          </a:xfrm>
          <a:prstGeom prst="rect">
            <a:avLst/>
          </a:prstGeom>
          <a:noFill/>
        </p:spPr>
        <p:txBody>
          <a:bodyPr wrap="square" lIns="0" rIns="0" tIns="0" bIns="0" anchor="ctr">
            <a:spAutoFit/>
          </a:bodyPr>
          <a:lstStyle/>
          <a:p>
            <a:pPr>
              <a:spcAft>
                <a:spcPts val="0"/>
              </a:spcAft>
            </a:pPr>
            <a:r>
              <a:rPr sz="1500" b="1">
                <a:solidFill>
                  <a:srgbClr val="002C77"/>
                </a:solidFill>
              </a:rPr>
              <a:t>Execute</a:t>
            </a:r>
          </a:p>
        </p:txBody>
      </p:sp>
      <p:sp>
        <p:nvSpPr>
          <p:cNvPr id="17" name="Oval 16"/>
          <p:cNvSpPr/>
          <p:nvPr/>
        </p:nvSpPr>
        <p:spPr>
          <a:xfrm>
            <a:off x="384048" y="4736592"/>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7</a:t>
            </a:r>
          </a:p>
        </p:txBody>
      </p:sp>
      <p:sp>
        <p:nvSpPr>
          <p:cNvPr id="18" name="TextBox 17"/>
          <p:cNvSpPr txBox="1"/>
          <p:nvPr/>
        </p:nvSpPr>
        <p:spPr>
          <a:xfrm>
            <a:off x="868680" y="4736592"/>
            <a:ext cx="4572000" cy="365760"/>
          </a:xfrm>
          <a:prstGeom prst="rect">
            <a:avLst/>
          </a:prstGeom>
          <a:noFill/>
        </p:spPr>
        <p:txBody>
          <a:bodyPr wrap="square" lIns="0" rIns="0" tIns="0" bIns="0" anchor="ctr">
            <a:spAutoFit/>
          </a:bodyPr>
          <a:lstStyle/>
          <a:p>
            <a:pPr>
              <a:spcAft>
                <a:spcPts val="0"/>
              </a:spcAft>
            </a:pPr>
            <a:r>
              <a:rPr sz="1500" b="1">
                <a:solidFill>
                  <a:srgbClr val="002C77"/>
                </a:solidFill>
              </a:rPr>
              <a:t>Post daily report</a:t>
            </a:r>
            <a:r>
              <a:rPr sz="1500" b="0">
                <a:solidFill>
                  <a:srgbClr val="5A6472"/>
                </a:solidFill>
              </a:rPr>
              <a:t>   Twice a day</a:t>
            </a:r>
          </a:p>
        </p:txBody>
      </p:sp>
      <p:sp>
        <p:nvSpPr>
          <p:cNvPr id="19" name="Oval 18"/>
          <p:cNvSpPr/>
          <p:nvPr/>
        </p:nvSpPr>
        <p:spPr>
          <a:xfrm>
            <a:off x="384048" y="5221224"/>
            <a:ext cx="365760" cy="36576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300" b="1">
                <a:solidFill>
                  <a:srgbClr val="FFFFFF"/>
                </a:solidFill>
              </a:rPr>
              <a:t>8</a:t>
            </a:r>
          </a:p>
        </p:txBody>
      </p:sp>
      <p:sp>
        <p:nvSpPr>
          <p:cNvPr id="20" name="TextBox 19"/>
          <p:cNvSpPr txBox="1"/>
          <p:nvPr/>
        </p:nvSpPr>
        <p:spPr>
          <a:xfrm>
            <a:off x="868680" y="5221224"/>
            <a:ext cx="4572000" cy="365760"/>
          </a:xfrm>
          <a:prstGeom prst="rect">
            <a:avLst/>
          </a:prstGeom>
          <a:noFill/>
        </p:spPr>
        <p:txBody>
          <a:bodyPr wrap="square" lIns="0" rIns="0" tIns="0" bIns="0" anchor="ctr">
            <a:spAutoFit/>
          </a:bodyPr>
          <a:lstStyle/>
          <a:p>
            <a:pPr>
              <a:spcAft>
                <a:spcPts val="0"/>
              </a:spcAft>
            </a:pPr>
            <a:r>
              <a:rPr sz="1500" b="1">
                <a:solidFill>
                  <a:srgbClr val="002C77"/>
                </a:solidFill>
              </a:rPr>
              <a:t>Post close-out</a:t>
            </a:r>
          </a:p>
        </p:txBody>
      </p:sp>
      <p:pic>
        <p:nvPicPr>
          <p:cNvPr id="21" name="Picture 20" descr="landing.png"/>
          <p:cNvPicPr>
            <a:picLocks noChangeAspect="1"/>
          </p:cNvPicPr>
          <p:nvPr/>
        </p:nvPicPr>
        <p:blipFill>
          <a:blip r:embed="rId2"/>
          <a:stretch>
            <a:fillRect/>
          </a:stretch>
        </p:blipFill>
        <p:spPr>
          <a:xfrm>
            <a:off x="5760719" y="1828800"/>
            <a:ext cx="6035040" cy="2366136"/>
          </a:xfrm>
          <a:prstGeom prst="rect">
            <a:avLst/>
          </a:prstGeom>
          <a:ln w="9525">
            <a:solidFill>
              <a:srgbClr val="D0D7E1"/>
            </a:solidFill>
          </a:ln>
        </p:spPr>
      </p:pic>
      <p:sp>
        <p:nvSpPr>
          <p:cNvPr id="22" name="TextBox 21"/>
          <p:cNvSpPr txBox="1"/>
          <p:nvPr/>
        </p:nvSpPr>
        <p:spPr>
          <a:xfrm>
            <a:off x="5760719" y="4268088"/>
            <a:ext cx="6035040" cy="320040"/>
          </a:xfrm>
          <a:prstGeom prst="rect">
            <a:avLst/>
          </a:prstGeom>
          <a:noFill/>
        </p:spPr>
        <p:txBody>
          <a:bodyPr wrap="square" lIns="0" rIns="0" tIns="0" bIns="0">
            <a:spAutoFit/>
          </a:bodyPr>
          <a:lstStyle/>
          <a:p>
            <a:pPr>
              <a:spcAft>
                <a:spcPts val="0"/>
              </a:spcAft>
            </a:pPr>
            <a:r>
              <a:rPr sz="1200" b="0">
                <a:solidFill>
                  <a:srgbClr val="5A6472"/>
                </a:solidFill>
              </a:rPr>
              <a:t>REV 16 landing page: New schedule, or an existing plan by rig</a:t>
            </a:r>
          </a:p>
        </p:txBody>
      </p:sp>
      <p:sp>
        <p:nvSpPr>
          <p:cNvPr id="23" name="Rounded Rectangle 22"/>
          <p:cNvSpPr/>
          <p:nvPr/>
        </p:nvSpPr>
        <p:spPr>
          <a:xfrm>
            <a:off x="5760720" y="5257800"/>
            <a:ext cx="6035040" cy="64008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96012" bIns="96012" wrap="square"/>
          <a:lstStyle/>
          <a:p>
            <a:pPr algn="l">
              <a:spcAft>
                <a:spcPts val="0"/>
              </a:spcAft>
            </a:pPr>
            <a:r>
              <a:rPr sz="1400" b="1">
                <a:solidFill>
                  <a:srgbClr val="002C77"/>
                </a:solidFill>
              </a:rPr>
              <a:t>Save at any stage. </a:t>
            </a:r>
            <a:r>
              <a:rPr sz="1400" b="0">
                <a:solidFill>
                  <a:srgbClr val="1F2D3D"/>
                </a:solidFill>
              </a:rPr>
              <a:t>It also saves itself at every step and every 30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SFI groups, BOP % and the BOP ready date</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The BOP group is SFI 331 + 332   ·   Dan shows, you follow</a:t>
            </a:r>
          </a:p>
        </p:txBody>
      </p:sp>
      <p:sp>
        <p:nvSpPr>
          <p:cNvPr id="5" name="TextBox 4"/>
          <p:cNvSpPr txBox="1"/>
          <p:nvPr/>
        </p:nvSpPr>
        <p:spPr>
          <a:xfrm>
            <a:off x="384048" y="1828800"/>
            <a:ext cx="5120640" cy="1280160"/>
          </a:xfrm>
          <a:prstGeom prst="rect">
            <a:avLst/>
          </a:prstGeom>
          <a:noFill/>
        </p:spPr>
        <p:txBody>
          <a:bodyPr wrap="square" lIns="0" rIns="0" tIns="0" bIns="0">
            <a:spAutoFit/>
          </a:bodyPr>
          <a:lstStyle/>
          <a:p>
            <a:pPr>
              <a:spcAft>
                <a:spcPts val="200"/>
              </a:spcAft>
            </a:pPr>
            <a:r>
              <a:rPr sz="1600" b="1">
                <a:solidFill>
                  <a:srgbClr val="002C77"/>
                </a:solidFill>
              </a:rPr>
              <a:t>SFI groups</a:t>
            </a:r>
          </a:p>
          <a:p>
            <a:pPr>
              <a:spcAft>
                <a:spcPts val="800"/>
              </a:spcAft>
            </a:pPr>
            <a:r>
              <a:rPr sz="1400" b="0"/>
              <a:t>Every work order sits in an SFI group. 331 and 332 together are the BOP group.</a:t>
            </a:r>
          </a:p>
          <a:p>
            <a:pPr>
              <a:spcAft>
                <a:spcPts val="200"/>
              </a:spcAft>
            </a:pPr>
            <a:r>
              <a:rPr sz="1600" b="1">
                <a:solidFill>
                  <a:srgbClr val="002C77"/>
                </a:solidFill>
              </a:rPr>
              <a:t>BOP %</a:t>
            </a:r>
          </a:p>
          <a:p>
            <a:pPr>
              <a:spcAft>
                <a:spcPts val="0"/>
              </a:spcAft>
            </a:pPr>
            <a:r>
              <a:rPr sz="1400" b="0"/>
              <a:t>BOP work only. The rest of the plan does not move it.</a:t>
            </a:r>
          </a:p>
        </p:txBody>
      </p:sp>
      <p:sp>
        <p:nvSpPr>
          <p:cNvPr id="6" name="TextBox 5"/>
          <p:cNvSpPr txBox="1"/>
          <p:nvPr/>
        </p:nvSpPr>
        <p:spPr>
          <a:xfrm>
            <a:off x="384048" y="3310128"/>
            <a:ext cx="5120640" cy="320040"/>
          </a:xfrm>
          <a:prstGeom prst="rect">
            <a:avLst/>
          </a:prstGeom>
          <a:noFill/>
        </p:spPr>
        <p:txBody>
          <a:bodyPr wrap="square" lIns="0" rIns="0" tIns="0" bIns="0">
            <a:spAutoFit/>
          </a:bodyPr>
          <a:lstStyle/>
          <a:p>
            <a:pPr>
              <a:spcAft>
                <a:spcPts val="0"/>
              </a:spcAft>
            </a:pPr>
            <a:r>
              <a:rPr sz="1600" b="1">
                <a:solidFill>
                  <a:srgbClr val="002C77"/>
                </a:solidFill>
              </a:rPr>
              <a:t>The BOP ready date, from BOP work only</a:t>
            </a:r>
          </a:p>
        </p:txBody>
      </p:sp>
      <p:sp>
        <p:nvSpPr>
          <p:cNvPr id="7" name="Rounded Rectangle 6"/>
          <p:cNvSpPr/>
          <p:nvPr/>
        </p:nvSpPr>
        <p:spPr>
          <a:xfrm>
            <a:off x="384048" y="3703320"/>
            <a:ext cx="3108960" cy="32918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l">
              <a:spcAft>
                <a:spcPts val="0"/>
              </a:spcAft>
            </a:pPr>
            <a:r>
              <a:rPr sz="1300" b="0">
                <a:solidFill>
                  <a:srgbClr val="1F2D3D"/>
                </a:solidFill>
              </a:rPr>
              <a:t>BOP on beams</a:t>
            </a:r>
          </a:p>
        </p:txBody>
      </p:sp>
      <p:cxnSp>
        <p:nvCxnSpPr>
          <p:cNvPr id="8" name="Connector 7"/>
          <p:cNvCxnSpPr/>
          <p:nvPr/>
        </p:nvCxnSpPr>
        <p:spPr>
          <a:xfrm>
            <a:off x="1938528" y="4032504"/>
            <a:ext cx="0" cy="73152"/>
          </a:xfrm>
          <a:prstGeom prst="line">
            <a:avLst/>
          </a:prstGeom>
          <a:ln w="15875">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84048" y="4105656"/>
            <a:ext cx="3108960" cy="32918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l">
              <a:spcAft>
                <a:spcPts val="0"/>
              </a:spcAft>
            </a:pPr>
            <a:r>
              <a:rPr sz="1300" b="0">
                <a:solidFill>
                  <a:srgbClr val="1F2D3D"/>
                </a:solidFill>
              </a:rPr>
              <a:t>Testing complete</a:t>
            </a:r>
          </a:p>
        </p:txBody>
      </p:sp>
      <p:cxnSp>
        <p:nvCxnSpPr>
          <p:cNvPr id="10" name="Connector 9"/>
          <p:cNvCxnSpPr/>
          <p:nvPr/>
        </p:nvCxnSpPr>
        <p:spPr>
          <a:xfrm>
            <a:off x="1938528" y="4434840"/>
            <a:ext cx="0" cy="73152"/>
          </a:xfrm>
          <a:prstGeom prst="line">
            <a:avLst/>
          </a:prstGeom>
          <a:ln w="15875">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84048" y="4507992"/>
            <a:ext cx="3108960" cy="32918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l">
              <a:spcAft>
                <a:spcPts val="0"/>
              </a:spcAft>
            </a:pPr>
            <a:r>
              <a:rPr sz="1300" b="0">
                <a:solidFill>
                  <a:srgbClr val="1F2D3D"/>
                </a:solidFill>
              </a:rPr>
              <a:t>Drifted</a:t>
            </a:r>
          </a:p>
        </p:txBody>
      </p:sp>
      <p:cxnSp>
        <p:nvCxnSpPr>
          <p:cNvPr id="12" name="Connector 11"/>
          <p:cNvCxnSpPr/>
          <p:nvPr/>
        </p:nvCxnSpPr>
        <p:spPr>
          <a:xfrm>
            <a:off x="1938528" y="4837176"/>
            <a:ext cx="0" cy="73152"/>
          </a:xfrm>
          <a:prstGeom prst="line">
            <a:avLst/>
          </a:prstGeom>
          <a:ln w="15875">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048" y="4910328"/>
            <a:ext cx="3108960" cy="32918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l">
              <a:spcAft>
                <a:spcPts val="0"/>
              </a:spcAft>
            </a:pPr>
            <a:r>
              <a:rPr sz="1300" b="0">
                <a:solidFill>
                  <a:srgbClr val="1F2D3D"/>
                </a:solidFill>
              </a:rPr>
              <a:t>Pre-deployment call</a:t>
            </a:r>
          </a:p>
        </p:txBody>
      </p:sp>
      <p:cxnSp>
        <p:nvCxnSpPr>
          <p:cNvPr id="14" name="Connector 13"/>
          <p:cNvCxnSpPr/>
          <p:nvPr/>
        </p:nvCxnSpPr>
        <p:spPr>
          <a:xfrm>
            <a:off x="1938528" y="5239512"/>
            <a:ext cx="0" cy="73152"/>
          </a:xfrm>
          <a:prstGeom prst="line">
            <a:avLst/>
          </a:prstGeom>
          <a:ln w="15875">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4048" y="5312664"/>
            <a:ext cx="3108960" cy="329184"/>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l">
              <a:spcAft>
                <a:spcPts val="0"/>
              </a:spcAft>
            </a:pPr>
            <a:r>
              <a:rPr sz="1300" b="1">
                <a:solidFill>
                  <a:srgbClr val="FFFFFF"/>
                </a:solidFill>
              </a:rPr>
              <a:t>BOP ready to deploy</a:t>
            </a:r>
          </a:p>
        </p:txBody>
      </p:sp>
      <p:sp>
        <p:nvSpPr>
          <p:cNvPr id="16" name="TextBox 15"/>
          <p:cNvSpPr txBox="1"/>
          <p:nvPr/>
        </p:nvSpPr>
        <p:spPr>
          <a:xfrm>
            <a:off x="3657600" y="3703320"/>
            <a:ext cx="1874519" cy="1965960"/>
          </a:xfrm>
          <a:prstGeom prst="rect">
            <a:avLst/>
          </a:prstGeom>
          <a:noFill/>
        </p:spPr>
        <p:txBody>
          <a:bodyPr wrap="square" lIns="0" rIns="0" tIns="0" bIns="0">
            <a:spAutoFit/>
          </a:bodyPr>
          <a:lstStyle/>
          <a:p>
            <a:pPr>
              <a:spcAft>
                <a:spcPts val="200"/>
              </a:spcAft>
            </a:pPr>
            <a:r>
              <a:rPr sz="1600" b="1">
                <a:solidFill>
                  <a:srgbClr val="002C77"/>
                </a:solidFill>
              </a:rPr>
              <a:t>Float</a:t>
            </a:r>
          </a:p>
          <a:p>
            <a:pPr>
              <a:spcAft>
                <a:spcPts val="0"/>
              </a:spcAft>
            </a:pPr>
            <a:r>
              <a:rPr sz="1300" b="0"/>
              <a:t>Time from the BOP ready date to the BOP need date.</a:t>
            </a:r>
          </a:p>
        </p:txBody>
      </p:sp>
      <p:pic>
        <p:nvPicPr>
          <p:cNvPr id="17" name="Picture 16" descr="pms_sfi.png"/>
          <p:cNvPicPr>
            <a:picLocks noChangeAspect="1"/>
          </p:cNvPicPr>
          <p:nvPr/>
        </p:nvPicPr>
        <p:blipFill>
          <a:blip r:embed="rId2"/>
          <a:stretch>
            <a:fillRect/>
          </a:stretch>
        </p:blipFill>
        <p:spPr>
          <a:xfrm>
            <a:off x="5822899" y="1828800"/>
            <a:ext cx="5972860" cy="2103120"/>
          </a:xfrm>
          <a:prstGeom prst="rect">
            <a:avLst/>
          </a:prstGeom>
          <a:ln w="9525">
            <a:solidFill>
              <a:srgbClr val="D0D7E1"/>
            </a:solidFill>
          </a:ln>
        </p:spPr>
      </p:pic>
      <p:pic>
        <p:nvPicPr>
          <p:cNvPr id="18" name="Picture 17" descr="chrono_ms.png"/>
          <p:cNvPicPr>
            <a:picLocks noChangeAspect="1"/>
          </p:cNvPicPr>
          <p:nvPr/>
        </p:nvPicPr>
        <p:blipFill>
          <a:blip r:embed="rId3"/>
          <a:stretch>
            <a:fillRect/>
          </a:stretch>
        </p:blipFill>
        <p:spPr>
          <a:xfrm>
            <a:off x="5806439" y="4041648"/>
            <a:ext cx="5989320" cy="2345467"/>
          </a:xfrm>
          <a:prstGeom prst="rect">
            <a:avLst/>
          </a:prstGeom>
          <a:ln w="9525">
            <a:solidFill>
              <a:srgbClr val="D0D7E1"/>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384048" y="1655064"/>
            <a:ext cx="3456432" cy="274320"/>
          </a:xfrm>
        </p:spPr>
        <p:txBody>
          <a:bodyPr wrap="square"/>
          <a:lstStyle/>
          <a:p>
            <a:pPr>
              <a:spcAft>
                <a:spcPts val="600"/>
              </a:spcAft>
            </a:pPr>
            <a:r>
              <a:rPr sz="1700" b="1">
                <a:solidFill>
                  <a:srgbClr val="002C77"/>
                </a:solidFill>
              </a:rPr>
              <a:t>Review</a:t>
            </a:r>
          </a:p>
        </p:txBody>
      </p:sp>
      <p:sp>
        <p:nvSpPr>
          <p:cNvPr id="3" name="Text Placeholder 2"/>
          <p:cNvSpPr>
            <a:spLocks noGrp="1"/>
          </p:cNvSpPr>
          <p:nvPr>
            <p:ph type="body" idx="14" sz="quarter"/>
          </p:nvPr>
        </p:nvSpPr>
        <p:spPr>
          <a:xfrm>
            <a:off x="384048" y="2011680"/>
            <a:ext cx="3456432" cy="2011680"/>
          </a:xfrm>
        </p:spPr>
        <p:txBody>
          <a:bodyPr wrap="square"/>
          <a:lstStyle/>
          <a:p>
            <a:pPr>
              <a:spcAft>
                <a:spcPts val="1000"/>
              </a:spcAft>
            </a:pPr>
            <a:r>
              <a:rPr sz="1600" b="0"/>
              <a:t>Reviewers verify in the TSC Help Centre, on the Plans tab.</a:t>
            </a:r>
          </a:p>
          <a:p>
            <a:pPr>
              <a:spcAft>
                <a:spcPts val="1000"/>
              </a:spcAft>
            </a:pPr>
            <a:r>
              <a:rPr sz="1600" b="0"/>
              <a:t>Refresh review re-reads who has verified.</a:t>
            </a:r>
          </a:p>
        </p:txBody>
      </p:sp>
      <p:sp>
        <p:nvSpPr>
          <p:cNvPr id="4" name="Text Placeholder 3"/>
          <p:cNvSpPr>
            <a:spLocks noGrp="1"/>
          </p:cNvSpPr>
          <p:nvPr>
            <p:ph type="body" idx="15" sz="quarter"/>
          </p:nvPr>
        </p:nvSpPr>
        <p:spPr>
          <a:xfrm>
            <a:off x="4343400" y="1655064"/>
            <a:ext cx="3456432" cy="274320"/>
          </a:xfrm>
        </p:spPr>
        <p:txBody>
          <a:bodyPr wrap="square"/>
          <a:lstStyle/>
          <a:p>
            <a:pPr>
              <a:spcAft>
                <a:spcPts val="600"/>
              </a:spcAft>
            </a:pPr>
            <a:r>
              <a:rPr sz="1700" b="1">
                <a:solidFill>
                  <a:srgbClr val="0082C0"/>
                </a:solidFill>
              </a:rPr>
              <a:t>Freeze</a:t>
            </a:r>
          </a:p>
        </p:txBody>
      </p:sp>
      <p:sp>
        <p:nvSpPr>
          <p:cNvPr id="5" name="Text Placeholder 4"/>
          <p:cNvSpPr>
            <a:spLocks noGrp="1"/>
          </p:cNvSpPr>
          <p:nvPr>
            <p:ph type="body" idx="16" sz="quarter"/>
          </p:nvPr>
        </p:nvSpPr>
        <p:spPr>
          <a:xfrm>
            <a:off x="4343400" y="2011680"/>
            <a:ext cx="3456432" cy="2011680"/>
          </a:xfrm>
        </p:spPr>
        <p:txBody>
          <a:bodyPr wrap="square"/>
          <a:lstStyle/>
          <a:p>
            <a:pPr>
              <a:spcAft>
                <a:spcPts val="1000"/>
              </a:spcAft>
            </a:pPr>
            <a:r>
              <a:rPr sz="1600" b="0"/>
              <a:t>Freeze only when every required reviewer has verified.</a:t>
            </a:r>
          </a:p>
          <a:p>
            <a:pPr>
              <a:spcAft>
                <a:spcPts val="1000"/>
              </a:spcAft>
            </a:pPr>
            <a:r>
              <a:rPr sz="1600" b="0"/>
              <a:t>An override needs a name and a reason, and shows red.</a:t>
            </a:r>
          </a:p>
        </p:txBody>
      </p:sp>
      <p:sp>
        <p:nvSpPr>
          <p:cNvPr id="6" name="Text Placeholder 5"/>
          <p:cNvSpPr>
            <a:spLocks noGrp="1"/>
          </p:cNvSpPr>
          <p:nvPr>
            <p:ph type="body" idx="17" sz="quarter"/>
          </p:nvPr>
        </p:nvSpPr>
        <p:spPr>
          <a:xfrm>
            <a:off x="8366760" y="1655064"/>
            <a:ext cx="3456432" cy="274320"/>
          </a:xfrm>
        </p:spPr>
        <p:txBody>
          <a:bodyPr wrap="square"/>
          <a:lstStyle/>
          <a:p>
            <a:pPr>
              <a:spcAft>
                <a:spcPts val="600"/>
              </a:spcAft>
            </a:pPr>
            <a:r>
              <a:rPr sz="1700" b="1">
                <a:solidFill>
                  <a:srgbClr val="E25303"/>
                </a:solidFill>
              </a:rPr>
              <a:t>After the freeze</a:t>
            </a:r>
          </a:p>
        </p:txBody>
      </p:sp>
      <p:sp>
        <p:nvSpPr>
          <p:cNvPr id="7" name="Text Placeholder 6"/>
          <p:cNvSpPr>
            <a:spLocks noGrp="1"/>
          </p:cNvSpPr>
          <p:nvPr>
            <p:ph type="body" idx="18" sz="quarter"/>
          </p:nvPr>
        </p:nvSpPr>
        <p:spPr>
          <a:xfrm>
            <a:off x="8366760" y="2011680"/>
            <a:ext cx="3456432" cy="2011680"/>
          </a:xfrm>
        </p:spPr>
        <p:txBody>
          <a:bodyPr wrap="square"/>
          <a:lstStyle/>
          <a:p>
            <a:pPr>
              <a:spcAft>
                <a:spcPts val="1000"/>
              </a:spcAft>
            </a:pPr>
            <a:r>
              <a:rPr sz="1600" b="0"/>
              <a:t>The scope is locked.</a:t>
            </a:r>
          </a:p>
          <a:p>
            <a:pPr>
              <a:spcAft>
                <a:spcPts val="1000"/>
              </a:spcAft>
            </a:pPr>
            <a:r>
              <a:rPr sz="1600" b="0"/>
              <a:t>New work comes in as break-in work, in the open.</a:t>
            </a:r>
          </a:p>
        </p:txBody>
      </p:sp>
      <p:sp>
        <p:nvSpPr>
          <p:cNvPr id="8" name="Text Placeholder 7"/>
          <p:cNvSpPr>
            <a:spLocks noGrp="1"/>
          </p:cNvSpPr>
          <p:nvPr>
            <p:ph type="body" idx="12" sz="quarter"/>
          </p:nvPr>
        </p:nvSpPr>
        <p:spPr/>
        <p:txBody>
          <a:bodyPr wrap="square"/>
          <a:lstStyle/>
          <a:p>
            <a:pPr>
              <a:spcAft>
                <a:spcPts val="600"/>
              </a:spcAft>
            </a:pPr>
            <a:r>
              <a:rPr sz="2800" b="1"/>
              <a:t>Review and the scope freeze</a:t>
            </a:r>
          </a:p>
        </p:txBody>
      </p:sp>
      <p:pic>
        <p:nvPicPr>
          <p:cNvPr id="9" name="Picture 8" descr="savechip.png"/>
          <p:cNvPicPr>
            <a:picLocks noChangeAspect="1"/>
          </p:cNvPicPr>
          <p:nvPr/>
        </p:nvPicPr>
        <p:blipFill>
          <a:blip r:embed="rId2"/>
          <a:stretch>
            <a:fillRect/>
          </a:stretch>
        </p:blipFill>
        <p:spPr>
          <a:xfrm>
            <a:off x="384048" y="4160520"/>
            <a:ext cx="8686800" cy="1920240"/>
          </a:xfrm>
          <a:prstGeom prst="rect">
            <a:avLst/>
          </a:prstGeom>
          <a:ln w="9525">
            <a:solidFill>
              <a:srgbClr val="D0D7E1"/>
            </a:solidFill>
          </a:ln>
        </p:spPr>
      </p:pic>
      <p:sp>
        <p:nvSpPr>
          <p:cNvPr id="10" name="TextBox 9"/>
          <p:cNvSpPr txBox="1"/>
          <p:nvPr/>
        </p:nvSpPr>
        <p:spPr>
          <a:xfrm>
            <a:off x="9299448" y="4160520"/>
            <a:ext cx="2496312" cy="1828800"/>
          </a:xfrm>
          <a:prstGeom prst="rect">
            <a:avLst/>
          </a:prstGeom>
          <a:noFill/>
        </p:spPr>
        <p:txBody>
          <a:bodyPr wrap="square" lIns="0" rIns="0" tIns="0" bIns="0">
            <a:spAutoFit/>
          </a:bodyPr>
          <a:lstStyle/>
          <a:p>
            <a:pPr>
              <a:spcAft>
                <a:spcPts val="600"/>
              </a:spcAft>
            </a:pPr>
            <a:r>
              <a:rPr sz="1400" b="1">
                <a:solidFill>
                  <a:srgbClr val="002C77"/>
                </a:solidFill>
              </a:rPr>
              <a:t>Dan shows, you follow.</a:t>
            </a:r>
          </a:p>
          <a:p>
            <a:pPr>
              <a:spcAft>
                <a:spcPts val="0"/>
              </a:spcAft>
            </a:pPr>
            <a:r>
              <a:rPr sz="1200" b="0">
                <a:solidFill>
                  <a:srgbClr val="5A6472"/>
                </a:solidFill>
              </a:rPr>
              <a:t>The plan bar: Save, Post for review, Freeze scope, Refresh review, Post daily report, Post close-out.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Executing the plan</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What the rig does every shift   ·   Dan shows, you follow</a:t>
            </a:r>
          </a:p>
        </p:txBody>
      </p:sp>
      <p:sp>
        <p:nvSpPr>
          <p:cNvPr id="5" name="TextBox 4"/>
          <p:cNvSpPr txBox="1"/>
          <p:nvPr/>
        </p:nvSpPr>
        <p:spPr>
          <a:xfrm>
            <a:off x="384048" y="1828800"/>
            <a:ext cx="5120640" cy="4297680"/>
          </a:xfrm>
          <a:prstGeom prst="rect">
            <a:avLst/>
          </a:prstGeom>
          <a:noFill/>
        </p:spPr>
        <p:txBody>
          <a:bodyPr wrap="square" lIns="0" rIns="0" tIns="0" bIns="0">
            <a:spAutoFit/>
          </a:bodyPr>
          <a:lstStyle/>
          <a:p>
            <a:pPr>
              <a:spcAft>
                <a:spcPts val="200"/>
              </a:spcAft>
            </a:pPr>
            <a:r>
              <a:rPr sz="1400" b="1">
                <a:solidFill>
                  <a:srgbClr val="002C77"/>
                </a:solidFill>
              </a:rPr>
              <a:t>Complete means 100% at the time marked.</a:t>
            </a:r>
          </a:p>
          <a:p>
            <a:pPr>
              <a:spcAft>
                <a:spcPts val="900"/>
              </a:spcAft>
            </a:pPr>
            <a:r>
              <a:rPr sz="1400" b="0"/>
              <a:t>Mark it when it is done, not later.</a:t>
            </a:r>
          </a:p>
          <a:p>
            <a:pPr>
              <a:spcAft>
                <a:spcPts val="200"/>
              </a:spcAft>
            </a:pPr>
            <a:r>
              <a:rPr sz="1400" b="1">
                <a:solidFill>
                  <a:srgbClr val="002C77"/>
                </a:solidFill>
              </a:rPr>
              <a:t>Break-in work: BRK-nnn.</a:t>
            </a:r>
          </a:p>
          <a:p>
            <a:pPr>
              <a:spcAft>
                <a:spcPts val="900"/>
              </a:spcAft>
            </a:pPr>
            <a:r>
              <a:rPr sz="1400" b="0"/>
              <a:t>The rig controls it. It moves the schedule and the critical path, and shows in the daily report.</a:t>
            </a:r>
          </a:p>
          <a:p>
            <a:pPr>
              <a:spcAft>
                <a:spcPts val="900"/>
              </a:spcAft>
            </a:pPr>
            <a:r>
              <a:rPr sz="1400" b="1">
                <a:solidFill>
                  <a:srgbClr val="002C77"/>
                </a:solidFill>
              </a:rPr>
              <a:t>Deferrals need a reason.</a:t>
            </a:r>
          </a:p>
          <a:p>
            <a:pPr>
              <a:spcAft>
                <a:spcPts val="200"/>
              </a:spcAft>
            </a:pPr>
            <a:r>
              <a:rPr sz="1400" b="1">
                <a:solidFill>
                  <a:srgbClr val="002C77"/>
                </a:solidFill>
              </a:rPr>
              <a:t>Job plan checklists are built in.</a:t>
            </a:r>
          </a:p>
          <a:p>
            <a:pPr>
              <a:spcAft>
                <a:spcPts val="900"/>
              </a:spcAft>
            </a:pPr>
            <a:r>
              <a:rPr sz="1400" b="0"/>
              <a:t>Done, N/A or Not OK for each step.</a:t>
            </a:r>
          </a:p>
          <a:p>
            <a:pPr>
              <a:spcAft>
                <a:spcPts val="200"/>
              </a:spcAft>
            </a:pPr>
            <a:r>
              <a:rPr sz="1400" b="1">
                <a:solidFill>
                  <a:srgbClr val="002C77"/>
                </a:solidFill>
              </a:rPr>
              <a:t>The chronology.</a:t>
            </a:r>
          </a:p>
          <a:p>
            <a:pPr>
              <a:spcAft>
                <a:spcPts val="0"/>
              </a:spcAft>
            </a:pPr>
            <a:r>
              <a:rPr sz="1400" b="0"/>
              <a:t>Real dates, the Now line and milestone stars.</a:t>
            </a:r>
          </a:p>
        </p:txBody>
      </p:sp>
      <p:pic>
        <p:nvPicPr>
          <p:cNvPr id="6" name="Picture 5" descr="chrono_now.png"/>
          <p:cNvPicPr>
            <a:picLocks noChangeAspect="1"/>
          </p:cNvPicPr>
          <p:nvPr/>
        </p:nvPicPr>
        <p:blipFill>
          <a:blip r:embed="rId2"/>
          <a:stretch>
            <a:fillRect/>
          </a:stretch>
        </p:blipFill>
        <p:spPr>
          <a:xfrm>
            <a:off x="5911595" y="1828800"/>
            <a:ext cx="5884164" cy="2468880"/>
          </a:xfrm>
          <a:prstGeom prst="rect">
            <a:avLst/>
          </a:prstGeom>
          <a:ln w="9525">
            <a:solidFill>
              <a:srgbClr val="D0D7E1"/>
            </a:solidFill>
          </a:ln>
        </p:spPr>
      </p:pic>
      <p:pic>
        <p:nvPicPr>
          <p:cNvPr id="7" name="Picture 6" descr="breakins.png"/>
          <p:cNvPicPr>
            <a:picLocks noChangeAspect="1"/>
          </p:cNvPicPr>
          <p:nvPr/>
        </p:nvPicPr>
        <p:blipFill>
          <a:blip r:embed="rId3"/>
          <a:stretch>
            <a:fillRect/>
          </a:stretch>
        </p:blipFill>
        <p:spPr>
          <a:xfrm>
            <a:off x="5760719" y="4389120"/>
            <a:ext cx="6035040" cy="1961388"/>
          </a:xfrm>
          <a:prstGeom prst="rect">
            <a:avLst/>
          </a:prstGeom>
          <a:ln w="9525">
            <a:solidFill>
              <a:srgbClr val="D0D7E1"/>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Daily reporting requirement: when and by whom</a:t>
            </a:r>
          </a:p>
        </p:txBody>
      </p:sp>
      <p:sp>
        <p:nvSpPr>
          <p:cNvPr id="4" name="Rounded Rectangle 3"/>
          <p:cNvSpPr/>
          <p:nvPr/>
        </p:nvSpPr>
        <p:spPr>
          <a:xfrm>
            <a:off x="384048" y="1572768"/>
            <a:ext cx="4206240" cy="384048"/>
          </a:xfrm>
          <a:prstGeom prst="roundRect">
            <a:avLst>
              <a:gd name="adj" fmla="val 18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ctr">
              <a:spcAft>
                <a:spcPts val="0"/>
              </a:spcAft>
            </a:pPr>
            <a:r>
              <a:rPr sz="1600" b="1">
                <a:solidFill>
                  <a:srgbClr val="002C77"/>
                </a:solidFill>
              </a:rPr>
              <a:t>HOLD POINT  ·  we agree this today</a:t>
            </a:r>
          </a:p>
        </p:txBody>
      </p:sp>
      <p:sp>
        <p:nvSpPr>
          <p:cNvPr id="5" name="Rounded Rectangle 4"/>
          <p:cNvSpPr/>
          <p:nvPr/>
        </p:nvSpPr>
        <p:spPr>
          <a:xfrm>
            <a:off x="384048" y="2240280"/>
            <a:ext cx="2688336" cy="292608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1200"/>
              </a:spcAft>
            </a:pPr>
            <a:r>
              <a:rPr sz="2400" b="1">
                <a:solidFill>
                  <a:srgbClr val="002C77"/>
                </a:solidFill>
              </a:rPr>
              <a:t>Twice a day</a:t>
            </a:r>
          </a:p>
          <a:p>
            <a:pPr algn="l">
              <a:spcAft>
                <a:spcPts val="0"/>
              </a:spcAft>
            </a:pPr>
            <a:r>
              <a:rPr sz="1500" b="0">
                <a:solidFill>
                  <a:srgbClr val="1F2D3D"/>
                </a:solidFill>
              </a:rPr>
              <a:t>After each shift handover.</a:t>
            </a:r>
          </a:p>
        </p:txBody>
      </p:sp>
      <p:sp>
        <p:nvSpPr>
          <p:cNvPr id="6" name="Rounded Rectangle 5"/>
          <p:cNvSpPr/>
          <p:nvPr/>
        </p:nvSpPr>
        <p:spPr>
          <a:xfrm>
            <a:off x="3291839" y="2240280"/>
            <a:ext cx="2688336" cy="292608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1200"/>
              </a:spcAft>
            </a:pPr>
            <a:r>
              <a:rPr sz="2400" b="1">
                <a:solidFill>
                  <a:srgbClr val="002C77"/>
                </a:solidFill>
              </a:rPr>
              <a:t>Posted by the rig</a:t>
            </a:r>
          </a:p>
          <a:p>
            <a:pPr algn="l">
              <a:spcAft>
                <a:spcPts val="0"/>
              </a:spcAft>
            </a:pPr>
            <a:r>
              <a:rPr sz="1500" b="0">
                <a:solidFill>
                  <a:srgbClr val="1F2D3D"/>
                </a:solidFill>
              </a:rPr>
              <a:t>From Argo Navis, with Post daily report.</a:t>
            </a:r>
          </a:p>
        </p:txBody>
      </p:sp>
      <p:sp>
        <p:nvSpPr>
          <p:cNvPr id="7" name="Rounded Rectangle 6"/>
          <p:cNvSpPr/>
          <p:nvPr/>
        </p:nvSpPr>
        <p:spPr>
          <a:xfrm>
            <a:off x="6199631" y="2240280"/>
            <a:ext cx="2688336" cy="292608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1200"/>
              </a:spcAft>
            </a:pPr>
            <a:r>
              <a:rPr sz="2400" b="1">
                <a:solidFill>
                  <a:srgbClr val="002C77"/>
                </a:solidFill>
              </a:rPr>
              <a:t>Not the planner</a:t>
            </a:r>
          </a:p>
          <a:p>
            <a:pPr algn="l">
              <a:spcAft>
                <a:spcPts val="0"/>
              </a:spcAft>
            </a:pPr>
            <a:r>
              <a:rPr sz="1500" b="0">
                <a:solidFill>
                  <a:srgbClr val="1F2D3D"/>
                </a:solidFill>
              </a:rPr>
              <a:t>The planner no longer issues it.</a:t>
            </a:r>
          </a:p>
        </p:txBody>
      </p:sp>
      <p:sp>
        <p:nvSpPr>
          <p:cNvPr id="8" name="Rounded Rectangle 7"/>
          <p:cNvSpPr/>
          <p:nvPr/>
        </p:nvSpPr>
        <p:spPr>
          <a:xfrm>
            <a:off x="9107424" y="2240280"/>
            <a:ext cx="2688336" cy="292608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1200"/>
              </a:spcAft>
            </a:pPr>
            <a:r>
              <a:rPr sz="2400" b="1">
                <a:solidFill>
                  <a:srgbClr val="002C77"/>
                </a:solidFill>
              </a:rPr>
              <a:t>The rig’s time</a:t>
            </a:r>
          </a:p>
          <a:p>
            <a:pPr algn="l">
              <a:spcAft>
                <a:spcPts val="0"/>
              </a:spcAft>
            </a:pPr>
            <a:r>
              <a:rPr sz="1500" b="0">
                <a:solidFill>
                  <a:srgbClr val="1F2D3D"/>
                </a:solidFill>
              </a:rPr>
              <a:t>The report time is the rig’s own, for example 0700 and 1900.</a:t>
            </a:r>
          </a:p>
        </p:txBody>
      </p:sp>
      <p:sp>
        <p:nvSpPr>
          <p:cNvPr id="9" name="Rounded Rectangle 8"/>
          <p:cNvSpPr/>
          <p:nvPr/>
        </p:nvSpPr>
        <p:spPr>
          <a:xfrm>
            <a:off x="384048" y="5440680"/>
            <a:ext cx="11411712" cy="54864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spcAft>
                <a:spcPts val="0"/>
              </a:spcAft>
            </a:pPr>
            <a:r>
              <a:rPr sz="1600" b="1">
                <a:solidFill>
                  <a:srgbClr val="EDB71E"/>
                </a:solidFill>
              </a:rPr>
              <a:t>We do not move on until the room has agreed this.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Daily Summary Report: what is inside, who it goes to</a:t>
            </a:r>
          </a:p>
        </p:txBody>
      </p:sp>
      <p:sp>
        <p:nvSpPr>
          <p:cNvPr id="4" name="Rounded Rectangle 3"/>
          <p:cNvSpPr/>
          <p:nvPr/>
        </p:nvSpPr>
        <p:spPr>
          <a:xfrm>
            <a:off x="384048" y="1572768"/>
            <a:ext cx="2377440" cy="384048"/>
          </a:xfrm>
          <a:prstGeom prst="roundRect">
            <a:avLst>
              <a:gd name="adj" fmla="val 18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ctr">
              <a:spcAft>
                <a:spcPts val="0"/>
              </a:spcAft>
            </a:pPr>
            <a:r>
              <a:rPr sz="1600" b="1">
                <a:solidFill>
                  <a:srgbClr val="002C77"/>
                </a:solidFill>
              </a:rPr>
              <a:t>HOLD POINT</a:t>
            </a:r>
          </a:p>
        </p:txBody>
      </p:sp>
      <p:sp>
        <p:nvSpPr>
          <p:cNvPr id="5" name="TextBox 4"/>
          <p:cNvSpPr txBox="1"/>
          <p:nvPr/>
        </p:nvSpPr>
        <p:spPr>
          <a:xfrm>
            <a:off x="384048" y="2148840"/>
            <a:ext cx="3749039" cy="365760"/>
          </a:xfrm>
          <a:prstGeom prst="rect">
            <a:avLst/>
          </a:prstGeom>
          <a:noFill/>
        </p:spPr>
        <p:txBody>
          <a:bodyPr wrap="square" lIns="0" rIns="0" tIns="0" bIns="0">
            <a:spAutoFit/>
          </a:bodyPr>
          <a:lstStyle/>
          <a:p>
            <a:pPr>
              <a:spcAft>
                <a:spcPts val="0"/>
              </a:spcAft>
            </a:pPr>
            <a:r>
              <a:rPr sz="1600" b="1">
                <a:solidFill>
                  <a:srgbClr val="002C77"/>
                </a:solidFill>
              </a:rPr>
              <a:t>What is inside</a:t>
            </a:r>
          </a:p>
        </p:txBody>
      </p:sp>
      <p:sp>
        <p:nvSpPr>
          <p:cNvPr id="6" name="TextBox 5"/>
          <p:cNvSpPr txBox="1"/>
          <p:nvPr/>
        </p:nvSpPr>
        <p:spPr>
          <a:xfrm>
            <a:off x="384048" y="2560320"/>
            <a:ext cx="3749039" cy="3566160"/>
          </a:xfrm>
          <a:prstGeom prst="rect">
            <a:avLst/>
          </a:prstGeom>
          <a:noFill/>
        </p:spPr>
        <p:txBody>
          <a:bodyPr wrap="square" lIns="0" rIns="0" tIns="0" bIns="0">
            <a:spAutoFit/>
          </a:bodyPr>
          <a:lstStyle/>
          <a:p>
            <a:pPr>
              <a:spcAft>
                <a:spcPts val="300"/>
              </a:spcAft>
            </a:pPr>
            <a:r>
              <a:rPr sz="1300" b="0">
                <a:solidFill>
                  <a:srgbClr val="1F2D3D"/>
                </a:solidFill>
              </a:rPr>
              <a:t>Project header</a:t>
            </a:r>
          </a:p>
          <a:p>
            <a:pPr>
              <a:spcAft>
                <a:spcPts val="300"/>
              </a:spcAft>
            </a:pPr>
            <a:r>
              <a:rPr sz="1300" b="0">
                <a:solidFill>
                  <a:srgbClr val="1F2D3D"/>
                </a:solidFill>
              </a:rPr>
              <a:t>Maintenance day</a:t>
            </a:r>
          </a:p>
          <a:p>
            <a:pPr>
              <a:spcAft>
                <a:spcPts val="300"/>
              </a:spcAft>
            </a:pPr>
            <a:r>
              <a:rPr sz="1300" b="0">
                <a:solidFill>
                  <a:srgbClr val="1F2D3D"/>
                </a:solidFill>
              </a:rPr>
              <a:t>Original and current finish</a:t>
            </a:r>
          </a:p>
          <a:p>
            <a:pPr>
              <a:spcAft>
                <a:spcPts val="300"/>
              </a:spcAft>
            </a:pPr>
            <a:r>
              <a:rPr sz="1300" b="0">
                <a:solidFill>
                  <a:srgbClr val="1F2D3D"/>
                </a:solidFill>
              </a:rPr>
              <a:t>Variance and float, in hours</a:t>
            </a:r>
          </a:p>
          <a:p>
            <a:pPr>
              <a:spcAft>
                <a:spcPts val="300"/>
              </a:spcAft>
            </a:pPr>
            <a:r>
              <a:rPr sz="1300" b="0">
                <a:solidFill>
                  <a:srgbClr val="1F2D3D"/>
                </a:solidFill>
              </a:rPr>
              <a:t>Critical path and SIMOPS</a:t>
            </a:r>
          </a:p>
          <a:p>
            <a:pPr>
              <a:spcAft>
                <a:spcPts val="300"/>
              </a:spcAft>
            </a:pPr>
            <a:r>
              <a:rPr sz="1300" b="0">
                <a:solidFill>
                  <a:srgbClr val="1F2D3D"/>
                </a:solidFill>
              </a:rPr>
              <a:t>Project % and BOP %</a:t>
            </a:r>
          </a:p>
          <a:p>
            <a:pPr>
              <a:spcAft>
                <a:spcPts val="300"/>
              </a:spcAft>
            </a:pPr>
            <a:r>
              <a:rPr sz="1300" b="0">
                <a:solidFill>
                  <a:srgbClr val="1F2D3D"/>
                </a:solidFill>
              </a:rPr>
              <a:t>Milestones: baseline, estimated, actual</a:t>
            </a:r>
          </a:p>
          <a:p>
            <a:pPr>
              <a:spcAft>
                <a:spcPts val="300"/>
              </a:spcAft>
            </a:pPr>
            <a:r>
              <a:rPr sz="1300" b="0">
                <a:solidFill>
                  <a:srgbClr val="1F2D3D"/>
                </a:solidFill>
              </a:rPr>
              <a:t>Break-ins and delays</a:t>
            </a:r>
          </a:p>
          <a:p>
            <a:pPr>
              <a:spcAft>
                <a:spcPts val="300"/>
              </a:spcAft>
            </a:pPr>
            <a:r>
              <a:rPr sz="1300" b="0">
                <a:solidFill>
                  <a:srgbClr val="1F2D3D"/>
                </a:solidFill>
              </a:rPr>
              <a:t>Quality and rig reliability</a:t>
            </a:r>
          </a:p>
          <a:p>
            <a:pPr>
              <a:spcAft>
                <a:spcPts val="300"/>
              </a:spcAft>
            </a:pPr>
            <a:r>
              <a:rPr sz="1300" b="0">
                <a:solidFill>
                  <a:srgbClr val="1F2D3D"/>
                </a:solidFill>
              </a:rPr>
              <a:t>Lessons learned</a:t>
            </a:r>
          </a:p>
          <a:p>
            <a:pPr>
              <a:spcAft>
                <a:spcPts val="300"/>
              </a:spcAft>
            </a:pPr>
            <a:r>
              <a:rPr sz="1300" b="0">
                <a:solidFill>
                  <a:srgbClr val="1F2D3D"/>
                </a:solidFill>
              </a:rPr>
              <a:t>Last cycle and next cycle</a:t>
            </a:r>
          </a:p>
          <a:p>
            <a:pPr>
              <a:spcAft>
                <a:spcPts val="300"/>
              </a:spcAft>
            </a:pPr>
            <a:r>
              <a:rPr sz="1300" b="0">
                <a:solidFill>
                  <a:srgbClr val="1F2D3D"/>
                </a:solidFill>
              </a:rPr>
              <a:t>Comments</a:t>
            </a:r>
          </a:p>
        </p:txBody>
      </p:sp>
      <p:sp>
        <p:nvSpPr>
          <p:cNvPr id="7" name="TextBox 6"/>
          <p:cNvSpPr txBox="1"/>
          <p:nvPr/>
        </p:nvSpPr>
        <p:spPr>
          <a:xfrm>
            <a:off x="4343400" y="2148840"/>
            <a:ext cx="3657600" cy="365760"/>
          </a:xfrm>
          <a:prstGeom prst="rect">
            <a:avLst/>
          </a:prstGeom>
          <a:noFill/>
        </p:spPr>
        <p:txBody>
          <a:bodyPr wrap="square" lIns="0" rIns="0" tIns="0" bIns="0">
            <a:spAutoFit/>
          </a:bodyPr>
          <a:lstStyle/>
          <a:p>
            <a:pPr>
              <a:spcAft>
                <a:spcPts val="0"/>
              </a:spcAft>
            </a:pPr>
            <a:r>
              <a:rPr sz="1600" b="1">
                <a:solidFill>
                  <a:srgbClr val="0082C0"/>
                </a:solidFill>
              </a:rPr>
              <a:t>Who it goes to</a:t>
            </a:r>
          </a:p>
        </p:txBody>
      </p:sp>
      <p:sp>
        <p:nvSpPr>
          <p:cNvPr id="8" name="TextBox 7"/>
          <p:cNvSpPr txBox="1"/>
          <p:nvPr/>
        </p:nvSpPr>
        <p:spPr>
          <a:xfrm>
            <a:off x="4343400" y="2560320"/>
            <a:ext cx="3657600" cy="3566160"/>
          </a:xfrm>
          <a:prstGeom prst="rect">
            <a:avLst/>
          </a:prstGeom>
          <a:noFill/>
        </p:spPr>
        <p:txBody>
          <a:bodyPr wrap="square" lIns="0" rIns="0" tIns="0" bIns="0">
            <a:spAutoFit/>
          </a:bodyPr>
          <a:lstStyle/>
          <a:p>
            <a:pPr>
              <a:spcAft>
                <a:spcPts val="800"/>
              </a:spcAft>
            </a:pPr>
            <a:r>
              <a:rPr sz="1300" b="0"/>
              <a:t>An automatic email with the PDF and a dashboard link.</a:t>
            </a:r>
          </a:p>
          <a:p>
            <a:pPr>
              <a:spcAft>
                <a:spcPts val="800"/>
              </a:spcAft>
            </a:pPr>
            <a:r>
              <a:rPr sz="1300" b="1"/>
              <a:t>To: </a:t>
            </a:r>
            <a:r>
              <a:rPr sz="1300" b="0"/>
              <a:t>the rig’s RM, ARM, SSS, TSL, DSL, ESV and MPD, and the WCE office leads.</a:t>
            </a:r>
          </a:p>
          <a:p>
            <a:pPr>
              <a:spcAft>
                <a:spcPts val="800"/>
              </a:spcAft>
            </a:pPr>
            <a:r>
              <a:rPr sz="1300" b="1"/>
              <a:t>Cc: </a:t>
            </a:r>
            <a:r>
              <a:rPr sz="1300" b="0"/>
              <a:t>all TSC WCE managers, superintendents and planners.</a:t>
            </a:r>
          </a:p>
          <a:p>
            <a:pPr>
              <a:spcAft>
                <a:spcPts val="0"/>
              </a:spcAft>
            </a:pPr>
            <a:r>
              <a:rPr sz="1300" b="1"/>
              <a:t>And: </a:t>
            </a:r>
            <a:r>
              <a:rPr sz="1300" b="0"/>
              <a:t>a line in the plan’s Teams chat.</a:t>
            </a:r>
          </a:p>
        </p:txBody>
      </p:sp>
      <p:pic>
        <p:nvPicPr>
          <p:cNvPr id="9" name="Picture 8" descr="daily.png"/>
          <p:cNvPicPr>
            <a:picLocks noChangeAspect="1"/>
          </p:cNvPicPr>
          <p:nvPr/>
        </p:nvPicPr>
        <p:blipFill>
          <a:blip r:embed="rId2"/>
          <a:stretch>
            <a:fillRect/>
          </a:stretch>
        </p:blipFill>
        <p:spPr>
          <a:xfrm>
            <a:off x="8229600" y="2148840"/>
            <a:ext cx="3566160" cy="2465029"/>
          </a:xfrm>
          <a:prstGeom prst="rect">
            <a:avLst/>
          </a:prstGeom>
          <a:ln w="9525">
            <a:solidFill>
              <a:srgbClr val="D0D7E1"/>
            </a:solidFill>
          </a:ln>
        </p:spPr>
      </p:pic>
      <p:sp>
        <p:nvSpPr>
          <p:cNvPr id="10" name="TextBox 9"/>
          <p:cNvSpPr txBox="1"/>
          <p:nvPr/>
        </p:nvSpPr>
        <p:spPr>
          <a:xfrm>
            <a:off x="8229600" y="4668733"/>
            <a:ext cx="3566160" cy="457200"/>
          </a:xfrm>
          <a:prstGeom prst="rect">
            <a:avLst/>
          </a:prstGeom>
          <a:noFill/>
        </p:spPr>
        <p:txBody>
          <a:bodyPr wrap="square" lIns="0" rIns="0" tIns="0" bIns="0">
            <a:spAutoFit/>
          </a:bodyPr>
          <a:lstStyle/>
          <a:p>
            <a:pPr>
              <a:spcAft>
                <a:spcPts val="0"/>
              </a:spcAft>
            </a:pPr>
            <a:r>
              <a:rPr sz="1200" b="0">
                <a:solidFill>
                  <a:srgbClr val="5A6472"/>
                </a:solidFill>
              </a:rPr>
              <a:t>Report time and project people in Argo Navis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To agree today</a:t>
            </a:r>
          </a:p>
        </p:txBody>
      </p:sp>
      <p:sp>
        <p:nvSpPr>
          <p:cNvPr id="4" name="Rounded Rectangle 3"/>
          <p:cNvSpPr/>
          <p:nvPr/>
        </p:nvSpPr>
        <p:spPr>
          <a:xfrm>
            <a:off x="384048" y="1572768"/>
            <a:ext cx="2377440" cy="384048"/>
          </a:xfrm>
          <a:prstGeom prst="roundRect">
            <a:avLst>
              <a:gd name="adj" fmla="val 18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tIns="64007" bIns="64007" wrap="square"/>
          <a:lstStyle/>
          <a:p>
            <a:pPr algn="ctr">
              <a:spcAft>
                <a:spcPts val="0"/>
              </a:spcAft>
            </a:pPr>
            <a:r>
              <a:rPr sz="1600" b="1">
                <a:solidFill>
                  <a:srgbClr val="002C77"/>
                </a:solidFill>
              </a:rPr>
              <a:t>HOLD POINT</a:t>
            </a:r>
          </a:p>
        </p:txBody>
      </p:sp>
      <p:graphicFrame>
        <p:nvGraphicFramePr>
          <p:cNvPr id="5" name="Table 4"/>
          <p:cNvGraphicFramePr>
            <a:graphicFrameLocks noGrp="1"/>
          </p:cNvGraphicFramePr>
          <p:nvPr/>
        </p:nvGraphicFramePr>
        <p:xfrm>
          <a:off x="384048" y="2148840"/>
          <a:ext cx="11411711" cy="3840480"/>
        </p:xfrm>
        <a:graphic>
          <a:graphicData uri="http://schemas.openxmlformats.org/drawingml/2006/table">
            <a:tbl>
              <a:tblPr firstRow="1" bandRow="1">
                <a:tableStyleId>{5C22544A-7EE6-4342-B048-85BDC9FD1C3A}</a:tableStyleId>
              </a:tblPr>
              <a:tblGrid>
                <a:gridCol w="4572000"/>
                <a:gridCol w="4754880"/>
                <a:gridCol w="2084831"/>
              </a:tblGrid>
              <a:tr h="548640">
                <a:tc>
                  <a:txBody>
                    <a:bodyPr wrap="square"/>
                    <a:lstStyle/>
                    <a:p>
                      <a:pPr>
                        <a:spcAft>
                          <a:spcPts val="0"/>
                        </a:spcAft>
                      </a:pPr>
                      <a:r>
                        <a:rPr sz="1400" b="1">
                          <a:solidFill>
                            <a:srgbClr val="FFFFFF"/>
                          </a:solidFill>
                        </a:rPr>
                        <a:t>Question</a:t>
                      </a:r>
                    </a:p>
                  </a:txBody>
                  <a:tcPr marT="45720" marB="45720" marL="73152" marR="73152" anchor="ctr"/>
                </a:tc>
                <a:tc>
                  <a:txBody>
                    <a:bodyPr wrap="square"/>
                    <a:lstStyle/>
                    <a:p>
                      <a:pPr>
                        <a:spcAft>
                          <a:spcPts val="0"/>
                        </a:spcAft>
                      </a:pPr>
                      <a:r>
                        <a:rPr sz="1400" b="1">
                          <a:solidFill>
                            <a:srgbClr val="FFFFFF"/>
                          </a:solidFill>
                        </a:rPr>
                        <a:t>Agreed</a:t>
                      </a:r>
                    </a:p>
                  </a:txBody>
                  <a:tcPr marT="45720" marB="45720" marL="73152" marR="73152" anchor="ctr"/>
                </a:tc>
                <a:tc>
                  <a:txBody>
                    <a:bodyPr wrap="square"/>
                    <a:lstStyle/>
                    <a:p>
                      <a:pPr>
                        <a:spcAft>
                          <a:spcPts val="0"/>
                        </a:spcAft>
                      </a:pPr>
                      <a:r>
                        <a:rPr sz="1400" b="1">
                          <a:solidFill>
                            <a:srgbClr val="FFFFFF"/>
                          </a:solidFill>
                        </a:rPr>
                        <a:t>Owner</a:t>
                      </a:r>
                    </a:p>
                  </a:txBody>
                  <a:tcPr marT="45720" marB="45720" marL="73152" marR="73152" anchor="ctr"/>
                </a:tc>
              </a:tr>
              <a:tr h="548640">
                <a:tc>
                  <a:txBody>
                    <a:bodyPr wrap="square"/>
                    <a:lstStyle/>
                    <a:p>
                      <a:pPr>
                        <a:spcAft>
                          <a:spcPts val="0"/>
                        </a:spcAft>
                      </a:pPr>
                      <a:r>
                        <a:rPr sz="1400" b="1"/>
                        <a:t>Who on each rig posts it</a:t>
                      </a:r>
                    </a:p>
                  </a:txBody>
                  <a:tcPr marT="45720" marB="45720" marL="73152" marR="73152" anchor="ctr"/>
                </a:tc>
                <a:tc>
                  <a:txBody>
                    <a:bodyPr wrap="square"/>
                    <a:lstStyle/>
                    <a:p>
                      <a:pPr>
                        <a:spcAft>
                          <a:spcPts val="0"/>
                        </a:spcAft>
                      </a:pPr>
                      <a:r>
                        <a:rPr sz="1400" b="0"/>
                        <a:t/>
                      </a:r>
                    </a:p>
                  </a:txBody>
                  <a:tcPr marT="45720" marB="45720" marL="73152" marR="73152" anchor="ctr"/>
                </a:tc>
                <a:tc>
                  <a:txBody>
                    <a:bodyPr wrap="square"/>
                    <a:lstStyle/>
                    <a:p>
                      <a:pPr>
                        <a:spcAft>
                          <a:spcPts val="0"/>
                        </a:spcAft>
                      </a:pPr>
                      <a:r>
                        <a:rPr sz="1400" b="0"/>
                        <a:t/>
                      </a:r>
                    </a:p>
                  </a:txBody>
                  <a:tcPr marT="45720" marB="45720" marL="73152" marR="73152" anchor="ctr"/>
                </a:tc>
              </a:tr>
              <a:tr h="548640">
                <a:tc>
                  <a:txBody>
                    <a:bodyPr wrap="square"/>
                    <a:lstStyle/>
                    <a:p>
                      <a:pPr>
                        <a:spcAft>
                          <a:spcPts val="0"/>
                        </a:spcAft>
                      </a:pPr>
                      <a:r>
                        <a:rPr sz="1400" b="1"/>
                        <a:t>The two report times per rig</a:t>
                      </a:r>
                    </a:p>
                  </a:txBody>
                  <a:tcPr marT="45720" marB="45720" marL="73152" marR="73152" anchor="ctr"/>
                </a:tc>
                <a:tc>
                  <a:txBody>
                    <a:bodyPr wrap="square"/>
                    <a:lstStyle/>
                    <a:p>
                      <a:pPr>
                        <a:spcAft>
                          <a:spcPts val="0"/>
                        </a:spcAft>
                      </a:pPr>
                      <a:r>
                        <a:rPr sz="1400" b="0"/>
                        <a:t/>
                      </a:r>
                    </a:p>
                  </a:txBody>
                  <a:tcPr marT="45720" marB="45720" marL="73152" marR="73152" anchor="ctr"/>
                </a:tc>
                <a:tc>
                  <a:txBody>
                    <a:bodyPr wrap="square"/>
                    <a:lstStyle/>
                    <a:p>
                      <a:pPr>
                        <a:spcAft>
                          <a:spcPts val="0"/>
                        </a:spcAft>
                      </a:pPr>
                      <a:r>
                        <a:rPr sz="1400" b="0"/>
                        <a:t/>
                      </a:r>
                    </a:p>
                  </a:txBody>
                  <a:tcPr marT="45720" marB="45720" marL="73152" marR="73152" anchor="ctr"/>
                </a:tc>
              </a:tr>
              <a:tr h="548640">
                <a:tc>
                  <a:txBody>
                    <a:bodyPr wrap="square"/>
                    <a:lstStyle/>
                    <a:p>
                      <a:pPr>
                        <a:spcAft>
                          <a:spcPts val="0"/>
                        </a:spcAft>
                      </a:pPr>
                      <a:r>
                        <a:rPr sz="1400" b="1"/>
                        <a:t>What must be correct before posting</a:t>
                      </a:r>
                    </a:p>
                  </a:txBody>
                  <a:tcPr marT="45720" marB="45720" marL="73152" marR="73152" anchor="ctr"/>
                </a:tc>
                <a:tc>
                  <a:txBody>
                    <a:bodyPr wrap="square"/>
                    <a:lstStyle/>
                    <a:p>
                      <a:pPr>
                        <a:spcAft>
                          <a:spcPts val="0"/>
                        </a:spcAft>
                      </a:pPr>
                      <a:r>
                        <a:rPr sz="1400" b="0"/>
                        <a:t/>
                      </a:r>
                    </a:p>
                  </a:txBody>
                  <a:tcPr marT="45720" marB="45720" marL="73152" marR="73152" anchor="ctr"/>
                </a:tc>
                <a:tc>
                  <a:txBody>
                    <a:bodyPr wrap="square"/>
                    <a:lstStyle/>
                    <a:p>
                      <a:pPr>
                        <a:spcAft>
                          <a:spcPts val="0"/>
                        </a:spcAft>
                      </a:pPr>
                      <a:r>
                        <a:rPr sz="1400" b="0"/>
                        <a:t/>
                      </a:r>
                    </a:p>
                  </a:txBody>
                  <a:tcPr marT="45720" marB="45720" marL="73152" marR="73152" anchor="ctr"/>
                </a:tc>
              </a:tr>
              <a:tr h="548640">
                <a:tc>
                  <a:txBody>
                    <a:bodyPr wrap="square"/>
                    <a:lstStyle/>
                    <a:p>
                      <a:pPr>
                        <a:spcAft>
                          <a:spcPts val="0"/>
                        </a:spcAft>
                      </a:pPr>
                      <a:r>
                        <a:rPr sz="1400" b="1"/>
                        <a:t>What happens when a report is late</a:t>
                      </a:r>
                    </a:p>
                  </a:txBody>
                  <a:tcPr marT="45720" marB="45720" marL="73152" marR="73152" anchor="ctr"/>
                </a:tc>
                <a:tc>
                  <a:txBody>
                    <a:bodyPr wrap="square"/>
                    <a:lstStyle/>
                    <a:p>
                      <a:pPr>
                        <a:spcAft>
                          <a:spcPts val="0"/>
                        </a:spcAft>
                      </a:pPr>
                      <a:r>
                        <a:rPr sz="1400" b="0"/>
                        <a:t/>
                      </a:r>
                    </a:p>
                  </a:txBody>
                  <a:tcPr marT="45720" marB="45720" marL="73152" marR="73152" anchor="ctr"/>
                </a:tc>
                <a:tc>
                  <a:txBody>
                    <a:bodyPr wrap="square"/>
                    <a:lstStyle/>
                    <a:p>
                      <a:pPr>
                        <a:spcAft>
                          <a:spcPts val="0"/>
                        </a:spcAft>
                      </a:pPr>
                      <a:r>
                        <a:rPr sz="1400" b="0"/>
                        <a:t/>
                      </a:r>
                    </a:p>
                  </a:txBody>
                  <a:tcPr marT="45720" marB="45720" marL="73152" marR="73152" anchor="ctr"/>
                </a:tc>
              </a:tr>
              <a:tr h="548640">
                <a:tc>
                  <a:txBody>
                    <a:bodyPr wrap="square"/>
                    <a:lstStyle/>
                    <a:p>
                      <a:pPr>
                        <a:spcAft>
                          <a:spcPts val="0"/>
                        </a:spcAft>
                      </a:pPr>
                      <a:r>
                        <a:rPr sz="1400" b="1"/>
                        <a:t>The planner’s role once the rig posts</a:t>
                      </a:r>
                    </a:p>
                  </a:txBody>
                  <a:tcPr marT="45720" marB="45720" marL="73152" marR="73152" anchor="ctr"/>
                </a:tc>
                <a:tc>
                  <a:txBody>
                    <a:bodyPr wrap="square"/>
                    <a:lstStyle/>
                    <a:p>
                      <a:pPr>
                        <a:spcAft>
                          <a:spcPts val="0"/>
                        </a:spcAft>
                      </a:pPr>
                      <a:r>
                        <a:rPr sz="1400" b="0"/>
                        <a:t/>
                      </a:r>
                    </a:p>
                  </a:txBody>
                  <a:tcPr marT="45720" marB="45720" marL="73152" marR="73152" anchor="ctr"/>
                </a:tc>
                <a:tc>
                  <a:txBody>
                    <a:bodyPr wrap="square"/>
                    <a:lstStyle/>
                    <a:p>
                      <a:pPr>
                        <a:spcAft>
                          <a:spcPts val="0"/>
                        </a:spcAft>
                      </a:pPr>
                      <a:r>
                        <a:rPr sz="1400" b="0"/>
                        <a:t/>
                      </a:r>
                    </a:p>
                  </a:txBody>
                  <a:tcPr marT="45720" marB="45720" marL="73152" marR="73152" anchor="ctr"/>
                </a:tc>
              </a:tr>
              <a:tr h="548640">
                <a:tc>
                  <a:txBody>
                    <a:bodyPr wrap="square"/>
                    <a:lstStyle/>
                    <a:p>
                      <a:pPr>
                        <a:spcAft>
                          <a:spcPts val="0"/>
                        </a:spcAft>
                      </a:pPr>
                      <a:r>
                        <a:rPr sz="1400" b="1"/>
                        <a:t>Form control: PPDSR030918 at a new revision?</a:t>
                      </a:r>
                    </a:p>
                  </a:txBody>
                  <a:tcPr marT="45720" marB="45720" marL="73152" marR="73152" anchor="ctr"/>
                </a:tc>
                <a:tc>
                  <a:txBody>
                    <a:bodyPr wrap="square"/>
                    <a:lstStyle/>
                    <a:p>
                      <a:pPr>
                        <a:spcAft>
                          <a:spcPts val="0"/>
                        </a:spcAft>
                      </a:pPr>
                      <a:r>
                        <a:rPr sz="1400" b="0"/>
                        <a:t/>
                      </a:r>
                    </a:p>
                  </a:txBody>
                  <a:tcPr marT="45720" marB="45720" marL="73152" marR="73152" anchor="ctr"/>
                </a:tc>
                <a:tc>
                  <a:txBody>
                    <a:bodyPr wrap="square"/>
                    <a:lstStyle/>
                    <a:p>
                      <a:pPr>
                        <a:spcAft>
                          <a:spcPts val="0"/>
                        </a:spcAft>
                      </a:pPr>
                      <a:r>
                        <a:rPr sz="1400" b="0"/>
                        <a:t/>
                      </a:r>
                    </a:p>
                  </a:txBody>
                  <a:tcPr marT="45720" marB="45720" marL="73152" marR="73152" anchor="ct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Two routes, one report</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The same Daily Summary Report, whichever tool holds the plan</a:t>
            </a:r>
          </a:p>
        </p:txBody>
      </p:sp>
      <p:sp>
        <p:nvSpPr>
          <p:cNvPr id="5" name="Rounded Rectangle 4"/>
          <p:cNvSpPr/>
          <p:nvPr/>
        </p:nvSpPr>
        <p:spPr>
          <a:xfrm>
            <a:off x="384048" y="1874519"/>
            <a:ext cx="5486400" cy="26060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200"/>
              </a:spcAft>
            </a:pPr>
            <a:r>
              <a:rPr sz="2000" b="1">
                <a:solidFill>
                  <a:srgbClr val="002C77"/>
                </a:solidFill>
              </a:rPr>
              <a:t>Argo Navis</a:t>
            </a:r>
          </a:p>
          <a:p>
            <a:pPr algn="l">
              <a:spcAft>
                <a:spcPts val="800"/>
              </a:spcAft>
            </a:pPr>
            <a:r>
              <a:rPr sz="1400" b="1">
                <a:solidFill>
                  <a:srgbClr val="5A6472"/>
                </a:solidFill>
              </a:rPr>
              <a:t>Between Well Maintenance</a:t>
            </a:r>
          </a:p>
          <a:p>
            <a:pPr algn="l">
              <a:spcAft>
                <a:spcPts val="800"/>
              </a:spcAft>
            </a:pPr>
            <a:r>
              <a:rPr sz="1600" b="0">
                <a:solidFill>
                  <a:srgbClr val="1F2D3D"/>
                </a:solidFill>
              </a:rPr>
              <a:t>The plan is built and run in Argo Navis.</a:t>
            </a:r>
          </a:p>
          <a:p>
            <a:pPr algn="l">
              <a:spcAft>
                <a:spcPts val="800"/>
              </a:spcAft>
            </a:pPr>
            <a:r>
              <a:rPr sz="1600" b="0">
                <a:solidFill>
                  <a:srgbClr val="1F2D3D"/>
                </a:solidFill>
              </a:rPr>
              <a:t>Post daily report from the plan bar.</a:t>
            </a:r>
          </a:p>
          <a:p>
            <a:pPr algn="l">
              <a:spcAft>
                <a:spcPts val="0"/>
              </a:spcAft>
            </a:pPr>
            <a:r>
              <a:rPr sz="1600" b="0">
                <a:solidFill>
                  <a:srgbClr val="1F2D3D"/>
                </a:solidFill>
              </a:rPr>
              <a:t>The numbers come from the plan itself.</a:t>
            </a:r>
          </a:p>
        </p:txBody>
      </p:sp>
      <p:sp>
        <p:nvSpPr>
          <p:cNvPr id="6" name="Rounded Rectangle 5"/>
          <p:cNvSpPr/>
          <p:nvPr/>
        </p:nvSpPr>
        <p:spPr>
          <a:xfrm>
            <a:off x="6309360" y="1874519"/>
            <a:ext cx="5486400" cy="26060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spcAft>
                <a:spcPts val="200"/>
              </a:spcAft>
            </a:pPr>
            <a:r>
              <a:rPr sz="2000" b="1">
                <a:solidFill>
                  <a:srgbClr val="0082C0"/>
                </a:solidFill>
              </a:rPr>
              <a:t>WCGRRT Planning Report</a:t>
            </a:r>
          </a:p>
          <a:p>
            <a:pPr algn="l">
              <a:spcAft>
                <a:spcPts val="800"/>
              </a:spcAft>
            </a:pPr>
            <a:r>
              <a:rPr sz="1400" b="1">
                <a:solidFill>
                  <a:srgbClr val="5A6472"/>
                </a:solidFill>
              </a:rPr>
              <a:t>P6 projects</a:t>
            </a:r>
          </a:p>
          <a:p>
            <a:pPr algn="l">
              <a:spcAft>
                <a:spcPts val="800"/>
              </a:spcAft>
            </a:pPr>
            <a:r>
              <a:rPr sz="1600" b="0">
                <a:solidFill>
                  <a:srgbClr val="1F2D3D"/>
                </a:solidFill>
              </a:rPr>
              <a:t>Discipline: Planning, then Planning Report.</a:t>
            </a:r>
          </a:p>
          <a:p>
            <a:pPr algn="l">
              <a:spcAft>
                <a:spcPts val="800"/>
              </a:spcAft>
            </a:pPr>
            <a:r>
              <a:rPr sz="1600" b="0">
                <a:solidFill>
                  <a:srgbClr val="1F2D3D"/>
                </a:solidFill>
              </a:rPr>
              <a:t>Import ERT fills the lists, milestones, critical path, % and finish.</a:t>
            </a:r>
          </a:p>
          <a:p>
            <a:pPr algn="l">
              <a:spcAft>
                <a:spcPts val="0"/>
              </a:spcAft>
            </a:pPr>
            <a:r>
              <a:rPr sz="1600" b="0">
                <a:solidFill>
                  <a:srgbClr val="1F2D3D"/>
                </a:solidFill>
              </a:rPr>
              <a:t>Quick buttons for 0600, 0700, 1800 and 1900.</a:t>
            </a:r>
          </a:p>
        </p:txBody>
      </p:sp>
      <p:cxnSp>
        <p:nvCxnSpPr>
          <p:cNvPr id="7" name="Connector 6"/>
          <p:cNvCxnSpPr/>
          <p:nvPr/>
        </p:nvCxnSpPr>
        <p:spPr>
          <a:xfrm>
            <a:off x="3127248" y="4526280"/>
            <a:ext cx="1993392" cy="457200"/>
          </a:xfrm>
          <a:prstGeom prst="line">
            <a:avLst/>
          </a:prstGeom>
          <a:ln w="31750">
            <a:solidFill>
              <a:srgbClr val="002C7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068312" y="4526280"/>
            <a:ext cx="1984248" cy="457200"/>
          </a:xfrm>
          <a:prstGeom prst="line">
            <a:avLst/>
          </a:prstGeom>
          <a:ln w="31750">
            <a:solidFill>
              <a:srgbClr val="002C77"/>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194560" y="5029200"/>
            <a:ext cx="7799831" cy="82296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ctr">
              <a:spcAft>
                <a:spcPts val="0"/>
              </a:spcAft>
            </a:pPr>
            <a:r>
              <a:rPr sz="2000" b="1">
                <a:solidFill>
                  <a:srgbClr val="FFFFFF"/>
                </a:solidFill>
              </a:rPr>
              <a:t>Same rules  ·  same print  ·  same email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Close-out and the close-out pack</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One PDF for the whole plan</a:t>
            </a:r>
          </a:p>
        </p:txBody>
      </p:sp>
      <p:sp>
        <p:nvSpPr>
          <p:cNvPr id="5" name="TextBox 4"/>
          <p:cNvSpPr txBox="1"/>
          <p:nvPr/>
        </p:nvSpPr>
        <p:spPr>
          <a:xfrm>
            <a:off x="384048" y="1874519"/>
            <a:ext cx="5303520" cy="4206240"/>
          </a:xfrm>
          <a:prstGeom prst="rect">
            <a:avLst/>
          </a:prstGeom>
          <a:noFill/>
        </p:spPr>
        <p:txBody>
          <a:bodyPr wrap="square" lIns="0" rIns="0" tIns="0" bIns="0">
            <a:spAutoFit/>
          </a:bodyPr>
          <a:lstStyle/>
          <a:p>
            <a:pPr>
              <a:spcAft>
                <a:spcPts val="200"/>
              </a:spcAft>
            </a:pPr>
            <a:r>
              <a:rPr sz="1600" b="1">
                <a:solidFill>
                  <a:srgbClr val="002C77"/>
                </a:solidFill>
              </a:rPr>
              <a:t>Post close-out</a:t>
            </a:r>
          </a:p>
          <a:p>
            <a:pPr>
              <a:spcAft>
                <a:spcPts val="1200"/>
              </a:spcAft>
            </a:pPr>
            <a:r>
              <a:rPr sz="1400" b="0"/>
              <a:t>When the work is done, the rig posts the close-out from the plan bar.</a:t>
            </a:r>
          </a:p>
          <a:p>
            <a:pPr>
              <a:spcAft>
                <a:spcPts val="200"/>
              </a:spcAft>
            </a:pPr>
            <a:r>
              <a:rPr sz="1600" b="1">
                <a:solidFill>
                  <a:srgbClr val="002C77"/>
                </a:solidFill>
              </a:rPr>
              <a:t>The close-out pack</a:t>
            </a:r>
          </a:p>
          <a:p>
            <a:pPr>
              <a:spcAft>
                <a:spcPts val="1200"/>
              </a:spcAft>
            </a:pPr>
            <a:r>
              <a:rPr sz="1400" b="0"/>
              <a:t>One PDF that joins every record for the plan: plan and scope, maintenance evidence, testing, CBM, the pre-deployment checklist, photographs.</a:t>
            </a:r>
          </a:p>
          <a:p>
            <a:pPr>
              <a:spcAft>
                <a:spcPts val="200"/>
              </a:spcAft>
            </a:pPr>
            <a:r>
              <a:rPr sz="1600" b="1">
                <a:solidFill>
                  <a:srgbClr val="002C77"/>
                </a:solidFill>
              </a:rPr>
              <a:t>A contents page</a:t>
            </a:r>
          </a:p>
          <a:p>
            <a:pPr>
              <a:spcAft>
                <a:spcPts val="1200"/>
              </a:spcAft>
            </a:pPr>
            <a:r>
              <a:rPr sz="1400" b="0"/>
              <a:t>Lists every file in the project folder with its checksum.</a:t>
            </a:r>
          </a:p>
          <a:p>
            <a:pPr>
              <a:spcAft>
                <a:spcPts val="200"/>
              </a:spcAft>
            </a:pPr>
            <a:r>
              <a:rPr sz="1600" b="1">
                <a:solidFill>
                  <a:srgbClr val="002C77"/>
                </a:solidFill>
              </a:rPr>
              <a:t>Filed for eDocs</a:t>
            </a:r>
          </a:p>
          <a:p>
            <a:pPr>
              <a:spcAft>
                <a:spcPts val="0"/>
              </a:spcAft>
            </a:pPr>
            <a:r>
              <a:rPr sz="1400" b="0"/>
              <a:t>One document, one eDocs number.</a:t>
            </a:r>
          </a:p>
        </p:txBody>
      </p:sp>
      <p:pic>
        <p:nvPicPr>
          <p:cNvPr id="6" name="Picture 5" descr="closeout.png"/>
          <p:cNvPicPr>
            <a:picLocks noChangeAspect="1"/>
          </p:cNvPicPr>
          <p:nvPr/>
        </p:nvPicPr>
        <p:blipFill>
          <a:blip r:embed="rId2"/>
          <a:stretch>
            <a:fillRect/>
          </a:stretch>
        </p:blipFill>
        <p:spPr>
          <a:xfrm>
            <a:off x="6234162" y="1874519"/>
            <a:ext cx="5561597" cy="3931920"/>
          </a:xfrm>
          <a:prstGeom prst="rect">
            <a:avLst/>
          </a:prstGeom>
          <a:ln w="9525">
            <a:solidFill>
              <a:srgbClr val="D0D7E1"/>
            </a:solidFill>
          </a:ln>
        </p:spPr>
      </p:pic>
      <p:sp>
        <p:nvSpPr>
          <p:cNvPr id="7" name="TextBox 6"/>
          <p:cNvSpPr txBox="1"/>
          <p:nvPr/>
        </p:nvSpPr>
        <p:spPr>
          <a:xfrm>
            <a:off x="6234162" y="5861303"/>
            <a:ext cx="5561597" cy="320040"/>
          </a:xfrm>
          <a:prstGeom prst="rect">
            <a:avLst/>
          </a:prstGeom>
          <a:noFill/>
        </p:spPr>
        <p:txBody>
          <a:bodyPr wrap="square" lIns="0" rIns="0" tIns="0" bIns="0">
            <a:spAutoFit/>
          </a:bodyPr>
          <a:lstStyle/>
          <a:p>
            <a:pPr>
              <a:spcAft>
                <a:spcPts val="0"/>
              </a:spcAft>
            </a:pPr>
            <a:r>
              <a:rPr sz="1200" b="0">
                <a:solidFill>
                  <a:srgbClr val="5A6472"/>
                </a:solidFill>
              </a:rPr>
              <a:t>Sample close-out pack, page 1 (West Vela test plan)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wrap="square"/>
          <a:lstStyle/>
          <a:p>
            <a:pPr>
              <a:spcAft>
                <a:spcPts val="600"/>
              </a:spcAft>
            </a:pPr>
            <a:r>
              <a:rPr sz="3000" b="1"/>
              <a:t>Module 8</a:t>
            </a:r>
          </a:p>
        </p:txBody>
      </p:sp>
      <p:sp>
        <p:nvSpPr>
          <p:cNvPr id="4" name="Subtitle 3"/>
          <p:cNvSpPr>
            <a:spLocks noGrp="1"/>
          </p:cNvSpPr>
          <p:nvPr>
            <p:ph type="subTitle" idx="1"/>
          </p:nvPr>
        </p:nvSpPr>
        <p:spPr>
          <a:xfrm>
            <a:off x="356616" y="3346704"/>
            <a:ext cx="11439144" cy="548640"/>
          </a:xfrm>
        </p:spPr>
        <p:txBody>
          <a:bodyPr wrap="square"/>
          <a:lstStyle/>
          <a:p>
            <a:pPr>
              <a:spcAft>
                <a:spcPts val="600"/>
              </a:spcAft>
            </a:pPr>
            <a:r>
              <a:rPr sz="1400" b="0"/>
              <a:t>The loop   ·   14:45–15:30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How the tools connect</a:t>
            </a:r>
          </a:p>
        </p:txBody>
      </p:sp>
      <p:sp>
        <p:nvSpPr>
          <p:cNvPr id="4" name="Rounded Rectangle 3"/>
          <p:cNvSpPr/>
          <p:nvPr/>
        </p:nvSpPr>
        <p:spPr>
          <a:xfrm>
            <a:off x="384048" y="1600200"/>
            <a:ext cx="182880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WCGRRT</a:t>
            </a:r>
          </a:p>
        </p:txBody>
      </p:sp>
      <p:cxnSp>
        <p:nvCxnSpPr>
          <p:cNvPr id="5" name="Connector 4"/>
          <p:cNvCxnSpPr/>
          <p:nvPr/>
        </p:nvCxnSpPr>
        <p:spPr>
          <a:xfrm>
            <a:off x="2212848" y="1856231"/>
            <a:ext cx="484632" cy="749809"/>
          </a:xfrm>
          <a:prstGeom prst="line">
            <a:avLst/>
          </a:prstGeom>
          <a:ln w="1905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84048" y="2258568"/>
            <a:ext cx="182880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SSORT</a:t>
            </a:r>
          </a:p>
        </p:txBody>
      </p:sp>
      <p:cxnSp>
        <p:nvCxnSpPr>
          <p:cNvPr id="7" name="Connector 6"/>
          <p:cNvCxnSpPr/>
          <p:nvPr/>
        </p:nvCxnSpPr>
        <p:spPr>
          <a:xfrm>
            <a:off x="2212848" y="2514600"/>
            <a:ext cx="484632" cy="91440"/>
          </a:xfrm>
          <a:prstGeom prst="line">
            <a:avLst/>
          </a:prstGeom>
          <a:ln w="1905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84048" y="2916936"/>
            <a:ext cx="182880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Argo Navis</a:t>
            </a:r>
          </a:p>
        </p:txBody>
      </p:sp>
      <p:cxnSp>
        <p:nvCxnSpPr>
          <p:cNvPr id="9" name="Connector 8"/>
          <p:cNvCxnSpPr/>
          <p:nvPr/>
        </p:nvCxnSpPr>
        <p:spPr>
          <a:xfrm flipV="1">
            <a:off x="2212848" y="2606040"/>
            <a:ext cx="484632" cy="566928"/>
          </a:xfrm>
          <a:prstGeom prst="line">
            <a:avLst/>
          </a:prstGeom>
          <a:ln w="1905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84048" y="3575304"/>
            <a:ext cx="182880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Precharge</a:t>
            </a:r>
          </a:p>
        </p:txBody>
      </p:sp>
      <p:cxnSp>
        <p:nvCxnSpPr>
          <p:cNvPr id="11" name="Connector 10"/>
          <p:cNvCxnSpPr/>
          <p:nvPr/>
        </p:nvCxnSpPr>
        <p:spPr>
          <a:xfrm flipV="1">
            <a:off x="2212848" y="2606040"/>
            <a:ext cx="484632" cy="1225295"/>
          </a:xfrm>
          <a:prstGeom prst="line">
            <a:avLst/>
          </a:prstGeom>
          <a:ln w="1905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97480" y="2331720"/>
            <a:ext cx="1508760" cy="68580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FFFFFF"/>
                </a:solidFill>
              </a:rPr>
              <a:t>Intake</a:t>
            </a:r>
          </a:p>
        </p:txBody>
      </p:sp>
      <p:cxnSp>
        <p:nvCxnSpPr>
          <p:cNvPr id="13" name="Connector 12"/>
          <p:cNvCxnSpPr/>
          <p:nvPr/>
        </p:nvCxnSpPr>
        <p:spPr>
          <a:xfrm>
            <a:off x="4206240" y="2674620"/>
            <a:ext cx="411480" cy="0"/>
          </a:xfrm>
          <a:prstGeom prst="line">
            <a:avLst/>
          </a:prstGeom>
          <a:ln w="2540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617720" y="2331720"/>
            <a:ext cx="1783080" cy="68580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FFFFFF"/>
                </a:solidFill>
              </a:rPr>
              <a:t>PostedReports</a:t>
            </a:r>
          </a:p>
        </p:txBody>
      </p:sp>
      <p:cxnSp>
        <p:nvCxnSpPr>
          <p:cNvPr id="15" name="Connector 14"/>
          <p:cNvCxnSpPr/>
          <p:nvPr/>
        </p:nvCxnSpPr>
        <p:spPr>
          <a:xfrm>
            <a:off x="6400800" y="2674620"/>
            <a:ext cx="411480" cy="0"/>
          </a:xfrm>
          <a:prstGeom prst="line">
            <a:avLst/>
          </a:prstGeom>
          <a:ln w="2540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12280" y="2240279"/>
            <a:ext cx="2011680" cy="86868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FFFFFF"/>
                </a:solidFill>
              </a:rPr>
              <a:t>SACRED scanner</a:t>
            </a:r>
          </a:p>
          <a:p>
            <a:pPr algn="ctr">
              <a:spcAft>
                <a:spcPts val="0"/>
              </a:spcAft>
            </a:pPr>
            <a:r>
              <a:rPr sz="1200" b="0">
                <a:solidFill>
                  <a:srgbClr val="FFFFFF"/>
                </a:solidFill>
              </a:rPr>
              <a:t>every 10 minutes</a:t>
            </a:r>
          </a:p>
        </p:txBody>
      </p:sp>
      <p:cxnSp>
        <p:nvCxnSpPr>
          <p:cNvPr id="17" name="Connector 16"/>
          <p:cNvCxnSpPr/>
          <p:nvPr/>
        </p:nvCxnSpPr>
        <p:spPr>
          <a:xfrm flipV="1">
            <a:off x="8823960" y="1947672"/>
            <a:ext cx="502920" cy="726948"/>
          </a:xfrm>
          <a:prstGeom prst="line">
            <a:avLst/>
          </a:prstGeom>
          <a:ln w="2540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326880" y="1691640"/>
            <a:ext cx="246888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Dashboards</a:t>
            </a:r>
          </a:p>
        </p:txBody>
      </p:sp>
      <p:cxnSp>
        <p:nvCxnSpPr>
          <p:cNvPr id="19" name="Connector 18"/>
          <p:cNvCxnSpPr/>
          <p:nvPr/>
        </p:nvCxnSpPr>
        <p:spPr>
          <a:xfrm flipV="1">
            <a:off x="8823960" y="2633472"/>
            <a:ext cx="502920" cy="41148"/>
          </a:xfrm>
          <a:prstGeom prst="line">
            <a:avLst/>
          </a:prstGeom>
          <a:ln w="2540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26880" y="2377440"/>
            <a:ext cx="246888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PDFs</a:t>
            </a:r>
          </a:p>
        </p:txBody>
      </p:sp>
      <p:cxnSp>
        <p:nvCxnSpPr>
          <p:cNvPr id="21" name="Connector 20"/>
          <p:cNvCxnSpPr/>
          <p:nvPr/>
        </p:nvCxnSpPr>
        <p:spPr>
          <a:xfrm>
            <a:off x="8823960" y="2674620"/>
            <a:ext cx="502920" cy="644652"/>
          </a:xfrm>
          <a:prstGeom prst="line">
            <a:avLst/>
          </a:prstGeom>
          <a:ln w="25400">
            <a:solidFill>
              <a:srgbClr val="0082C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326880" y="3063240"/>
            <a:ext cx="2468880" cy="512064"/>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lstStyle/>
          <a:p>
            <a:pPr algn="ctr">
              <a:spcAft>
                <a:spcPts val="0"/>
              </a:spcAft>
            </a:pPr>
            <a:r>
              <a:rPr sz="1500" b="1">
                <a:solidFill>
                  <a:srgbClr val="002C77"/>
                </a:solidFill>
              </a:rPr>
              <a:t>Notifications</a:t>
            </a:r>
          </a:p>
        </p:txBody>
      </p:sp>
      <p:sp>
        <p:nvSpPr>
          <p:cNvPr id="23" name="Rounded Rectangle 22"/>
          <p:cNvSpPr/>
          <p:nvPr/>
        </p:nvSpPr>
        <p:spPr>
          <a:xfrm>
            <a:off x="2697480" y="4434840"/>
            <a:ext cx="3703320" cy="141732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500" b="1">
                <a:solidFill>
                  <a:srgbClr val="002C77"/>
                </a:solidFill>
              </a:rPr>
              <a:t>TSC Help Centre</a:t>
            </a:r>
          </a:p>
          <a:p>
            <a:pPr algn="l">
              <a:spcAft>
                <a:spcPts val="0"/>
              </a:spcAft>
            </a:pPr>
            <a:r>
              <a:rPr sz="1300" b="0">
                <a:solidFill>
                  <a:srgbClr val="1F2D3D"/>
                </a:solidFill>
              </a:rPr>
              <a:t>Requests, reviews and receipts. Its posts travel the same road.</a:t>
            </a:r>
          </a:p>
        </p:txBody>
      </p:sp>
      <p:sp>
        <p:nvSpPr>
          <p:cNvPr id="24" name="Rounded Rectangle 23"/>
          <p:cNvSpPr/>
          <p:nvPr/>
        </p:nvSpPr>
        <p:spPr>
          <a:xfrm>
            <a:off x="6812280" y="4434840"/>
            <a:ext cx="4983480" cy="1417320"/>
          </a:xfrm>
          <a:prstGeom prst="roundRect">
            <a:avLst>
              <a:gd name="adj" fmla="val 6000"/>
            </a:avLst>
          </a:prstGeom>
          <a:solidFill>
            <a:srgbClr val="F4F7FA"/>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500" b="1">
                <a:solidFill>
                  <a:srgbClr val="002C77"/>
                </a:solidFill>
              </a:rPr>
              <a:t>Fabric database</a:t>
            </a:r>
          </a:p>
          <a:p>
            <a:pPr algn="l">
              <a:spcAft>
                <a:spcPts val="0"/>
              </a:spcAft>
            </a:pPr>
            <a:r>
              <a:rPr sz="1300" b="0">
                <a:solidFill>
                  <a:srgbClr val="1F2D3D"/>
                </a:solidFill>
              </a:rPr>
              <a:t>Being built: every posted record in one database, for reporting across the fleet.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What a failure looks like at each step, and who sees it</a:t>
            </a:r>
          </a:p>
        </p:txBody>
      </p:sp>
      <p:graphicFrame>
        <p:nvGraphicFramePr>
          <p:cNvPr id="4" name="Table 3"/>
          <p:cNvGraphicFramePr>
            <a:graphicFrameLocks noGrp="1"/>
          </p:cNvGraphicFramePr>
          <p:nvPr/>
        </p:nvGraphicFramePr>
        <p:xfrm>
          <a:off x="384048" y="1600200"/>
          <a:ext cx="11411711" cy="4279392"/>
        </p:xfrm>
        <a:graphic>
          <a:graphicData uri="http://schemas.openxmlformats.org/drawingml/2006/table">
            <a:tbl>
              <a:tblPr firstRow="1" bandRow="1">
                <a:tableStyleId>{5C22544A-7EE6-4342-B048-85BDC9FD1C3A}</a:tableStyleId>
              </a:tblPr>
              <a:tblGrid>
                <a:gridCol w="1054864"/>
                <a:gridCol w="2876902"/>
                <a:gridCol w="5370217"/>
                <a:gridCol w="2109728"/>
              </a:tblGrid>
              <a:tr h="713232">
                <a:tc>
                  <a:txBody>
                    <a:bodyPr wrap="square"/>
                    <a:lstStyle/>
                    <a:p>
                      <a:pPr>
                        <a:spcAft>
                          <a:spcPts val="0"/>
                        </a:spcAft>
                      </a:pPr>
                      <a:r>
                        <a:rPr sz="1300" b="1">
                          <a:solidFill>
                            <a:srgbClr val="FFFFFF"/>
                          </a:solidFill>
                        </a:rPr>
                        <a:t>Step</a:t>
                      </a:r>
                    </a:p>
                  </a:txBody>
                  <a:tcPr marT="45720" marB="45720" marL="73152" marR="73152" anchor="ctr"/>
                </a:tc>
                <a:tc>
                  <a:txBody>
                    <a:bodyPr wrap="square"/>
                    <a:lstStyle/>
                    <a:p>
                      <a:pPr>
                        <a:spcAft>
                          <a:spcPts val="0"/>
                        </a:spcAft>
                      </a:pPr>
                      <a:r>
                        <a:rPr sz="1300" b="1">
                          <a:solidFill>
                            <a:srgbClr val="FFFFFF"/>
                          </a:solidFill>
                        </a:rPr>
                        <a:t>If it fails</a:t>
                      </a:r>
                    </a:p>
                  </a:txBody>
                  <a:tcPr marT="45720" marB="45720" marL="73152" marR="73152" anchor="ctr"/>
                </a:tc>
                <a:tc>
                  <a:txBody>
                    <a:bodyPr wrap="square"/>
                    <a:lstStyle/>
                    <a:p>
                      <a:pPr>
                        <a:spcAft>
                          <a:spcPts val="0"/>
                        </a:spcAft>
                      </a:pPr>
                      <a:r>
                        <a:rPr sz="1300" b="1">
                          <a:solidFill>
                            <a:srgbClr val="FFFFFF"/>
                          </a:solidFill>
                        </a:rPr>
                        <a:t>What you see</a:t>
                      </a:r>
                    </a:p>
                  </a:txBody>
                  <a:tcPr marT="45720" marB="45720" marL="73152" marR="73152" anchor="ctr"/>
                </a:tc>
                <a:tc>
                  <a:txBody>
                    <a:bodyPr wrap="square"/>
                    <a:lstStyle/>
                    <a:p>
                      <a:pPr>
                        <a:spcAft>
                          <a:spcPts val="0"/>
                        </a:spcAft>
                      </a:pPr>
                      <a:r>
                        <a:rPr sz="1300" b="1">
                          <a:solidFill>
                            <a:srgbClr val="FFFFFF"/>
                          </a:solidFill>
                        </a:rPr>
                        <a:t>Who sees it</a:t>
                      </a:r>
                    </a:p>
                  </a:txBody>
                  <a:tcPr marT="45720" marB="45720" marL="73152" marR="73152" anchor="ctr"/>
                </a:tc>
              </a:tr>
              <a:tr h="713232">
                <a:tc>
                  <a:txBody>
                    <a:bodyPr wrap="square"/>
                    <a:lstStyle/>
                    <a:p>
                      <a:pPr>
                        <a:spcAft>
                          <a:spcPts val="0"/>
                        </a:spcAft>
                      </a:pPr>
                      <a:r>
                        <a:rPr sz="1300" b="1"/>
                        <a:t>Post</a:t>
                      </a:r>
                    </a:p>
                  </a:txBody>
                  <a:tcPr marT="45720" marB="45720" marL="73152" marR="73152" anchor="ctr"/>
                </a:tc>
                <a:tc>
                  <a:txBody>
                    <a:bodyPr wrap="square"/>
                    <a:lstStyle/>
                    <a:p>
                      <a:pPr>
                        <a:spcAft>
                          <a:spcPts val="0"/>
                        </a:spcAft>
                      </a:pPr>
                      <a:r>
                        <a:rPr sz="1300" b="0"/>
                        <a:t>No connection, or the server refuses</a:t>
                      </a:r>
                    </a:p>
                  </a:txBody>
                  <a:tcPr marT="45720" marB="45720" marL="73152" marR="73152" anchor="ctr"/>
                </a:tc>
                <a:tc>
                  <a:txBody>
                    <a:bodyPr wrap="square"/>
                    <a:lstStyle/>
                    <a:p>
                      <a:pPr>
                        <a:spcAft>
                          <a:spcPts val="0"/>
                        </a:spcAft>
                      </a:pPr>
                      <a:r>
                        <a:rPr sz="1300" b="0"/>
                        <a:t>The tool says NOT posted. The outbox waits on the laptop and sends itself later.</a:t>
                      </a:r>
                    </a:p>
                  </a:txBody>
                  <a:tcPr marT="45720" marB="45720" marL="73152" marR="73152" anchor="ctr"/>
                </a:tc>
                <a:tc>
                  <a:txBody>
                    <a:bodyPr wrap="square"/>
                    <a:lstStyle/>
                    <a:p>
                      <a:pPr>
                        <a:spcAft>
                          <a:spcPts val="0"/>
                        </a:spcAft>
                      </a:pPr>
                      <a:r>
                        <a:rPr sz="1300" b="0"/>
                        <a:t>The person posting</a:t>
                      </a:r>
                    </a:p>
                  </a:txBody>
                  <a:tcPr marT="45720" marB="45720" marL="73152" marR="73152" anchor="ctr"/>
                </a:tc>
              </a:tr>
              <a:tr h="713232">
                <a:tc>
                  <a:txBody>
                    <a:bodyPr wrap="square"/>
                    <a:lstStyle/>
                    <a:p>
                      <a:pPr>
                        <a:spcAft>
                          <a:spcPts val="0"/>
                        </a:spcAft>
                      </a:pPr>
                      <a:r>
                        <a:rPr sz="1300" b="1"/>
                        <a:t>Scan</a:t>
                      </a:r>
                    </a:p>
                  </a:txBody>
                  <a:tcPr marT="45720" marB="45720" marL="73152" marR="73152" anchor="ctr"/>
                </a:tc>
                <a:tc>
                  <a:txBody>
                    <a:bodyPr wrap="square"/>
                    <a:lstStyle/>
                    <a:p>
                      <a:pPr>
                        <a:spcAft>
                          <a:spcPts val="0"/>
                        </a:spcAft>
                      </a:pPr>
                      <a:r>
                        <a:rPr sz="1300" b="0"/>
                        <a:t>The scanner is late or stopped</a:t>
                      </a:r>
                    </a:p>
                  </a:txBody>
                  <a:tcPr marT="45720" marB="45720" marL="73152" marR="73152" anchor="ctr"/>
                </a:tc>
                <a:tc>
                  <a:txBody>
                    <a:bodyPr wrap="square"/>
                    <a:lstStyle/>
                    <a:p>
                      <a:pPr>
                        <a:spcAft>
                          <a:spcPts val="0"/>
                        </a:spcAft>
                      </a:pPr>
                      <a:r>
                        <a:rPr sz="1300" b="0"/>
                        <a:t>The status page shows the time of the last scan.</a:t>
                      </a:r>
                    </a:p>
                  </a:txBody>
                  <a:tcPr marT="45720" marB="45720" marL="73152" marR="73152" anchor="ctr"/>
                </a:tc>
                <a:tc>
                  <a:txBody>
                    <a:bodyPr wrap="square"/>
                    <a:lstStyle/>
                    <a:p>
                      <a:pPr>
                        <a:spcAft>
                          <a:spcPts val="0"/>
                        </a:spcAft>
                      </a:pPr>
                      <a:r>
                        <a:rPr sz="1300" b="0"/>
                        <a:t>Everyone</a:t>
                      </a:r>
                    </a:p>
                  </a:txBody>
                  <a:tcPr marT="45720" marB="45720" marL="73152" marR="73152" anchor="ctr"/>
                </a:tc>
              </a:tr>
              <a:tr h="713232">
                <a:tc>
                  <a:txBody>
                    <a:bodyPr wrap="square"/>
                    <a:lstStyle/>
                    <a:p>
                      <a:pPr>
                        <a:spcAft>
                          <a:spcPts val="0"/>
                        </a:spcAft>
                      </a:pPr>
                      <a:r>
                        <a:rPr sz="1300" b="1"/>
                        <a:t>Read</a:t>
                      </a:r>
                    </a:p>
                  </a:txBody>
                  <a:tcPr marT="45720" marB="45720" marL="73152" marR="73152" anchor="ctr"/>
                </a:tc>
                <a:tc>
                  <a:txBody>
                    <a:bodyPr wrap="square"/>
                    <a:lstStyle/>
                    <a:p>
                      <a:pPr>
                        <a:spcAft>
                          <a:spcPts val="0"/>
                        </a:spcAft>
                      </a:pPr>
                      <a:r>
                        <a:rPr sz="1300" b="0"/>
                        <a:t>The scanner cannot read the file</a:t>
                      </a:r>
                    </a:p>
                  </a:txBody>
                  <a:tcPr marT="45720" marB="45720" marL="73152" marR="73152" anchor="ctr"/>
                </a:tc>
                <a:tc>
                  <a:txBody>
                    <a:bodyPr wrap="square"/>
                    <a:lstStyle/>
                    <a:p>
                      <a:pPr>
                        <a:spcAft>
                          <a:spcPts val="0"/>
                        </a:spcAft>
                      </a:pPr>
                      <a:r>
                        <a:rPr sz="1300" b="0"/>
                        <a:t>The file is listed under the Errors button, with the reason.</a:t>
                      </a:r>
                    </a:p>
                  </a:txBody>
                  <a:tcPr marT="45720" marB="45720" marL="73152" marR="73152" anchor="ctr"/>
                </a:tc>
                <a:tc>
                  <a:txBody>
                    <a:bodyPr wrap="square"/>
                    <a:lstStyle/>
                    <a:p>
                      <a:pPr>
                        <a:spcAft>
                          <a:spcPts val="0"/>
                        </a:spcAft>
                      </a:pPr>
                      <a:r>
                        <a:rPr sz="1300" b="0"/>
                        <a:t>Everyone</a:t>
                      </a:r>
                    </a:p>
                  </a:txBody>
                  <a:tcPr marT="45720" marB="45720" marL="73152" marR="73152" anchor="ctr"/>
                </a:tc>
              </a:tr>
              <a:tr h="713232">
                <a:tc>
                  <a:txBody>
                    <a:bodyPr wrap="square"/>
                    <a:lstStyle/>
                    <a:p>
                      <a:pPr>
                        <a:spcAft>
                          <a:spcPts val="0"/>
                        </a:spcAft>
                      </a:pPr>
                      <a:r>
                        <a:rPr sz="1300" b="1"/>
                        <a:t>Flow</a:t>
                      </a:r>
                    </a:p>
                  </a:txBody>
                  <a:tcPr marT="45720" marB="45720" marL="73152" marR="73152" anchor="ctr"/>
                </a:tc>
                <a:tc>
                  <a:txBody>
                    <a:bodyPr wrap="square"/>
                    <a:lstStyle/>
                    <a:p>
                      <a:pPr>
                        <a:spcAft>
                          <a:spcPts val="0"/>
                        </a:spcAft>
                      </a:pPr>
                      <a:r>
                        <a:rPr sz="1300" b="0"/>
                        <a:t>A notification flow fails</a:t>
                      </a:r>
                    </a:p>
                  </a:txBody>
                  <a:tcPr marT="45720" marB="45720" marL="73152" marR="73152" anchor="ctr"/>
                </a:tc>
                <a:tc>
                  <a:txBody>
                    <a:bodyPr wrap="square"/>
                    <a:lstStyle/>
                    <a:p>
                      <a:pPr>
                        <a:spcAft>
                          <a:spcPts val="0"/>
                        </a:spcAft>
                      </a:pPr>
                      <a:r>
                        <a:rPr sz="1300" b="0"/>
                        <a:t>No email goes out. The run history shows the failure.</a:t>
                      </a:r>
                    </a:p>
                  </a:txBody>
                  <a:tcPr marT="45720" marB="45720" marL="73152" marR="73152" anchor="ctr"/>
                </a:tc>
                <a:tc>
                  <a:txBody>
                    <a:bodyPr wrap="square"/>
                    <a:lstStyle/>
                    <a:p>
                      <a:pPr>
                        <a:spcAft>
                          <a:spcPts val="0"/>
                        </a:spcAft>
                      </a:pPr>
                      <a:r>
                        <a:rPr sz="1300" b="0"/>
                        <a:t>Dan</a:t>
                      </a:r>
                    </a:p>
                  </a:txBody>
                  <a:tcPr marT="45720" marB="45720" marL="73152" marR="73152" anchor="ctr"/>
                </a:tc>
              </a:tr>
              <a:tr h="713232">
                <a:tc>
                  <a:txBody>
                    <a:bodyPr wrap="square"/>
                    <a:lstStyle/>
                    <a:p>
                      <a:pPr>
                        <a:spcAft>
                          <a:spcPts val="0"/>
                        </a:spcAft>
                      </a:pPr>
                      <a:r>
                        <a:rPr sz="1300" b="1"/>
                        <a:t>Email</a:t>
                      </a:r>
                    </a:p>
                  </a:txBody>
                  <a:tcPr marT="45720" marB="45720" marL="73152" marR="73152" anchor="ctr"/>
                </a:tc>
                <a:tc>
                  <a:txBody>
                    <a:bodyPr wrap="square"/>
                    <a:lstStyle/>
                    <a:p>
                      <a:pPr>
                        <a:spcAft>
                          <a:spcPts val="0"/>
                        </a:spcAft>
                      </a:pPr>
                      <a:r>
                        <a:rPr sz="1300" b="0"/>
                        <a:t>An email is filtered or missed</a:t>
                      </a:r>
                    </a:p>
                  </a:txBody>
                  <a:tcPr marT="45720" marB="45720" marL="73152" marR="73152" anchor="ctr"/>
                </a:tc>
                <a:tc>
                  <a:txBody>
                    <a:bodyPr wrap="square"/>
                    <a:lstStyle/>
                    <a:p>
                      <a:pPr>
                        <a:spcAft>
                          <a:spcPts val="0"/>
                        </a:spcAft>
                      </a:pPr>
                      <a:r>
                        <a:rPr sz="1300" b="0"/>
                        <a:t>The report is still on the dashboard. Check there.</a:t>
                      </a:r>
                    </a:p>
                  </a:txBody>
                  <a:tcPr marT="45720" marB="45720" marL="73152" marR="73152" anchor="ctr"/>
                </a:tc>
                <a:tc>
                  <a:txBody>
                    <a:bodyPr wrap="square"/>
                    <a:lstStyle/>
                    <a:p>
                      <a:pPr>
                        <a:spcAft>
                          <a:spcPts val="0"/>
                        </a:spcAft>
                      </a:pPr>
                      <a:r>
                        <a:rPr sz="1300" b="0"/>
                        <a:t>The rig and the office</a:t>
                      </a:r>
                    </a:p>
                  </a:txBody>
                  <a:tcPr marT="45720" marB="45720" marL="73152" marR="73152" anchor="ct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The TSC Help Centre — demonstrated</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Dan posts one request on SSCE Equipment; the room follows it round</a:t>
            </a:r>
          </a:p>
        </p:txBody>
      </p:sp>
      <p:sp>
        <p:nvSpPr>
          <p:cNvPr id="5" name="Oval 4"/>
          <p:cNvSpPr/>
          <p:nvPr/>
        </p:nvSpPr>
        <p:spPr>
          <a:xfrm>
            <a:off x="384048" y="1920240"/>
            <a:ext cx="457200" cy="45720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a:solidFill>
                  <a:srgbClr val="FFFFFF"/>
                </a:solidFill>
              </a:rPr>
              <a:t>1</a:t>
            </a:r>
          </a:p>
        </p:txBody>
      </p:sp>
      <p:sp>
        <p:nvSpPr>
          <p:cNvPr id="6" name="TextBox 5"/>
          <p:cNvSpPr txBox="1"/>
          <p:nvPr/>
        </p:nvSpPr>
        <p:spPr>
          <a:xfrm>
            <a:off x="384048" y="2514600"/>
            <a:ext cx="2103120" cy="411480"/>
          </a:xfrm>
          <a:prstGeom prst="rect">
            <a:avLst/>
          </a:prstGeom>
          <a:noFill/>
        </p:spPr>
        <p:txBody>
          <a:bodyPr wrap="square" lIns="0" rIns="0" tIns="0" bIns="0">
            <a:spAutoFit/>
          </a:bodyPr>
          <a:lstStyle/>
          <a:p>
            <a:pPr>
              <a:spcAft>
                <a:spcPts val="0"/>
              </a:spcAft>
            </a:pPr>
            <a:r>
              <a:rPr sz="1600" b="1">
                <a:solidFill>
                  <a:srgbClr val="002C77"/>
                </a:solidFill>
              </a:rPr>
              <a:t>Dan posts</a:t>
            </a:r>
          </a:p>
        </p:txBody>
      </p:sp>
      <p:sp>
        <p:nvSpPr>
          <p:cNvPr id="7" name="Rounded Rectangle 6"/>
          <p:cNvSpPr/>
          <p:nvPr/>
        </p:nvSpPr>
        <p:spPr>
          <a:xfrm>
            <a:off x="384048" y="2971800"/>
            <a:ext cx="2103120" cy="16002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28016" rIns="128016" tIns="89611" bIns="89611" wrap="square"/>
          <a:lstStyle/>
          <a:p>
            <a:pPr algn="l">
              <a:spcAft>
                <a:spcPts val="0"/>
              </a:spcAft>
            </a:pPr>
            <a:r>
              <a:rPr sz="1400" b="0">
                <a:solidFill>
                  <a:srgbClr val="1F2D3D"/>
                </a:solidFill>
              </a:rPr>
              <a:t>One request, on SSCE Equipment. Notifications stay in the office.</a:t>
            </a:r>
          </a:p>
        </p:txBody>
      </p:sp>
      <p:sp>
        <p:nvSpPr>
          <p:cNvPr id="8" name="Chevron 7"/>
          <p:cNvSpPr/>
          <p:nvPr/>
        </p:nvSpPr>
        <p:spPr>
          <a:xfrm>
            <a:off x="2523744" y="2029968"/>
            <a:ext cx="146304"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9" name="Oval 8"/>
          <p:cNvSpPr/>
          <p:nvPr/>
        </p:nvSpPr>
        <p:spPr>
          <a:xfrm>
            <a:off x="2711196" y="1920240"/>
            <a:ext cx="457200" cy="45720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a:solidFill>
                  <a:srgbClr val="FFFFFF"/>
                </a:solidFill>
              </a:rPr>
              <a:t>2</a:t>
            </a:r>
          </a:p>
        </p:txBody>
      </p:sp>
      <p:sp>
        <p:nvSpPr>
          <p:cNvPr id="10" name="TextBox 9"/>
          <p:cNvSpPr txBox="1"/>
          <p:nvPr/>
        </p:nvSpPr>
        <p:spPr>
          <a:xfrm>
            <a:off x="2711196" y="2514600"/>
            <a:ext cx="2103120" cy="411480"/>
          </a:xfrm>
          <a:prstGeom prst="rect">
            <a:avLst/>
          </a:prstGeom>
          <a:noFill/>
        </p:spPr>
        <p:txBody>
          <a:bodyPr wrap="square" lIns="0" rIns="0" tIns="0" bIns="0">
            <a:spAutoFit/>
          </a:bodyPr>
          <a:lstStyle/>
          <a:p>
            <a:pPr>
              <a:spcAft>
                <a:spcPts val="0"/>
              </a:spcAft>
            </a:pPr>
            <a:r>
              <a:rPr sz="1600" b="1">
                <a:solidFill>
                  <a:srgbClr val="002C77"/>
                </a:solidFill>
              </a:rPr>
              <a:t>The email</a:t>
            </a:r>
          </a:p>
        </p:txBody>
      </p:sp>
      <p:sp>
        <p:nvSpPr>
          <p:cNvPr id="11" name="Rounded Rectangle 10"/>
          <p:cNvSpPr/>
          <p:nvPr/>
        </p:nvSpPr>
        <p:spPr>
          <a:xfrm>
            <a:off x="2711196" y="2971800"/>
            <a:ext cx="2103120" cy="16002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28016" rIns="128016" tIns="89611" bIns="89611" wrap="square"/>
          <a:lstStyle/>
          <a:p>
            <a:pPr algn="l">
              <a:spcAft>
                <a:spcPts val="0"/>
              </a:spcAft>
            </a:pPr>
            <a:r>
              <a:rPr sz="1400" b="0">
                <a:solidFill>
                  <a:srgbClr val="1F2D3D"/>
                </a:solidFill>
              </a:rPr>
              <a:t>Arrives with the request and a link back to it.</a:t>
            </a:r>
          </a:p>
        </p:txBody>
      </p:sp>
      <p:sp>
        <p:nvSpPr>
          <p:cNvPr id="12" name="Chevron 11"/>
          <p:cNvSpPr/>
          <p:nvPr/>
        </p:nvSpPr>
        <p:spPr>
          <a:xfrm>
            <a:off x="4850892" y="2029968"/>
            <a:ext cx="146304"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3" name="Oval 12"/>
          <p:cNvSpPr/>
          <p:nvPr/>
        </p:nvSpPr>
        <p:spPr>
          <a:xfrm>
            <a:off x="5038344" y="1920240"/>
            <a:ext cx="457200" cy="45720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a:solidFill>
                  <a:srgbClr val="FFFFFF"/>
                </a:solidFill>
              </a:rPr>
              <a:t>3</a:t>
            </a:r>
          </a:p>
        </p:txBody>
      </p:sp>
      <p:sp>
        <p:nvSpPr>
          <p:cNvPr id="14" name="TextBox 13"/>
          <p:cNvSpPr txBox="1"/>
          <p:nvPr/>
        </p:nvSpPr>
        <p:spPr>
          <a:xfrm>
            <a:off x="5038344" y="2514600"/>
            <a:ext cx="2103120" cy="411480"/>
          </a:xfrm>
          <a:prstGeom prst="rect">
            <a:avLst/>
          </a:prstGeom>
          <a:noFill/>
        </p:spPr>
        <p:txBody>
          <a:bodyPr wrap="square" lIns="0" rIns="0" tIns="0" bIns="0">
            <a:spAutoFit/>
          </a:bodyPr>
          <a:lstStyle/>
          <a:p>
            <a:pPr>
              <a:spcAft>
                <a:spcPts val="0"/>
              </a:spcAft>
            </a:pPr>
            <a:r>
              <a:rPr sz="1600" b="1">
                <a:solidFill>
                  <a:srgbClr val="002C77"/>
                </a:solidFill>
              </a:rPr>
              <a:t>The Teams chat</a:t>
            </a:r>
          </a:p>
        </p:txBody>
      </p:sp>
      <p:sp>
        <p:nvSpPr>
          <p:cNvPr id="15" name="Rounded Rectangle 14"/>
          <p:cNvSpPr/>
          <p:nvPr/>
        </p:nvSpPr>
        <p:spPr>
          <a:xfrm>
            <a:off x="5038344" y="2971800"/>
            <a:ext cx="2103120" cy="16002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28016" rIns="128016" tIns="89611" bIns="89611" wrap="square"/>
          <a:lstStyle/>
          <a:p>
            <a:pPr algn="l">
              <a:spcAft>
                <a:spcPts val="0"/>
              </a:spcAft>
            </a:pPr>
            <a:r>
              <a:rPr sz="1400" b="0">
                <a:solidFill>
                  <a:srgbClr val="1F2D3D"/>
                </a:solidFill>
              </a:rPr>
              <a:t>A line appears in the channel.</a:t>
            </a:r>
          </a:p>
        </p:txBody>
      </p:sp>
      <p:sp>
        <p:nvSpPr>
          <p:cNvPr id="16" name="Chevron 15"/>
          <p:cNvSpPr/>
          <p:nvPr/>
        </p:nvSpPr>
        <p:spPr>
          <a:xfrm>
            <a:off x="7178040" y="2029968"/>
            <a:ext cx="146304"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7" name="Oval 16"/>
          <p:cNvSpPr/>
          <p:nvPr/>
        </p:nvSpPr>
        <p:spPr>
          <a:xfrm>
            <a:off x="7365492" y="1920240"/>
            <a:ext cx="457200" cy="45720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a:solidFill>
                  <a:srgbClr val="FFFFFF"/>
                </a:solidFill>
              </a:rPr>
              <a:t>4</a:t>
            </a:r>
          </a:p>
        </p:txBody>
      </p:sp>
      <p:sp>
        <p:nvSpPr>
          <p:cNvPr id="18" name="TextBox 17"/>
          <p:cNvSpPr txBox="1"/>
          <p:nvPr/>
        </p:nvSpPr>
        <p:spPr>
          <a:xfrm>
            <a:off x="7365492" y="2514600"/>
            <a:ext cx="2103120" cy="411480"/>
          </a:xfrm>
          <a:prstGeom prst="rect">
            <a:avLst/>
          </a:prstGeom>
          <a:noFill/>
        </p:spPr>
        <p:txBody>
          <a:bodyPr wrap="square" lIns="0" rIns="0" tIns="0" bIns="0">
            <a:spAutoFit/>
          </a:bodyPr>
          <a:lstStyle/>
          <a:p>
            <a:pPr>
              <a:spcAft>
                <a:spcPts val="0"/>
              </a:spcAft>
            </a:pPr>
            <a:r>
              <a:rPr sz="1600" b="1">
                <a:solidFill>
                  <a:srgbClr val="002C77"/>
                </a:solidFill>
              </a:rPr>
              <a:t>The receipt</a:t>
            </a:r>
          </a:p>
        </p:txBody>
      </p:sp>
      <p:sp>
        <p:nvSpPr>
          <p:cNvPr id="19" name="Rounded Rectangle 18"/>
          <p:cNvSpPr/>
          <p:nvPr/>
        </p:nvSpPr>
        <p:spPr>
          <a:xfrm>
            <a:off x="7365492" y="2971800"/>
            <a:ext cx="2103120" cy="16002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28016" rIns="128016" tIns="89611" bIns="89611" wrap="square"/>
          <a:lstStyle/>
          <a:p>
            <a:pPr algn="l">
              <a:spcAft>
                <a:spcPts val="0"/>
              </a:spcAft>
            </a:pPr>
            <a:r>
              <a:rPr sz="1400" b="0">
                <a:solidFill>
                  <a:srgbClr val="1F2D3D"/>
                </a:solidFill>
              </a:rPr>
              <a:t>A receipt comes back to say it was received.</a:t>
            </a:r>
          </a:p>
        </p:txBody>
      </p:sp>
      <p:sp>
        <p:nvSpPr>
          <p:cNvPr id="20" name="Chevron 19"/>
          <p:cNvSpPr/>
          <p:nvPr/>
        </p:nvSpPr>
        <p:spPr>
          <a:xfrm>
            <a:off x="9505188" y="2029968"/>
            <a:ext cx="146304"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21" name="Oval 20"/>
          <p:cNvSpPr/>
          <p:nvPr/>
        </p:nvSpPr>
        <p:spPr>
          <a:xfrm>
            <a:off x="9692640" y="1920240"/>
            <a:ext cx="457200" cy="457200"/>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a:solidFill>
                  <a:srgbClr val="FFFFFF"/>
                </a:solidFill>
              </a:rPr>
              <a:t>5</a:t>
            </a:r>
          </a:p>
        </p:txBody>
      </p:sp>
      <p:sp>
        <p:nvSpPr>
          <p:cNvPr id="22" name="TextBox 21"/>
          <p:cNvSpPr txBox="1"/>
          <p:nvPr/>
        </p:nvSpPr>
        <p:spPr>
          <a:xfrm>
            <a:off x="9692640" y="2514600"/>
            <a:ext cx="2103120" cy="411480"/>
          </a:xfrm>
          <a:prstGeom prst="rect">
            <a:avLst/>
          </a:prstGeom>
          <a:noFill/>
        </p:spPr>
        <p:txBody>
          <a:bodyPr wrap="square" lIns="0" rIns="0" tIns="0" bIns="0">
            <a:spAutoFit/>
          </a:bodyPr>
          <a:lstStyle/>
          <a:p>
            <a:pPr>
              <a:spcAft>
                <a:spcPts val="0"/>
              </a:spcAft>
            </a:pPr>
            <a:r>
              <a:rPr sz="1600" b="1">
                <a:solidFill>
                  <a:srgbClr val="002C77"/>
                </a:solidFill>
              </a:rPr>
              <a:t>Acknowledge</a:t>
            </a:r>
          </a:p>
        </p:txBody>
      </p:sp>
      <p:sp>
        <p:nvSpPr>
          <p:cNvPr id="23" name="Rounded Rectangle 22"/>
          <p:cNvSpPr/>
          <p:nvPr/>
        </p:nvSpPr>
        <p:spPr>
          <a:xfrm>
            <a:off x="9692640" y="2971800"/>
            <a:ext cx="2103120" cy="160020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28016" rIns="128016" tIns="89611" bIns="89611" wrap="square"/>
          <a:lstStyle/>
          <a:p>
            <a:pPr algn="l">
              <a:spcAft>
                <a:spcPts val="0"/>
              </a:spcAft>
            </a:pPr>
            <a:r>
              <a:rPr sz="1400" b="0">
                <a:solidFill>
                  <a:srgbClr val="1F2D3D"/>
                </a:solidFill>
              </a:rPr>
              <a:t>Dan acknowledges from the page, not by replying to the email.</a:t>
            </a:r>
          </a:p>
        </p:txBody>
      </p:sp>
      <p:sp>
        <p:nvSpPr>
          <p:cNvPr id="24" name="Rounded Rectangle 23"/>
          <p:cNvSpPr/>
          <p:nvPr/>
        </p:nvSpPr>
        <p:spPr>
          <a:xfrm>
            <a:off x="384048" y="4937760"/>
            <a:ext cx="11411712" cy="73152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spcAft>
                <a:spcPts val="0"/>
              </a:spcAft>
            </a:pPr>
            <a:r>
              <a:rPr sz="1600" b="1">
                <a:solidFill>
                  <a:srgbClr val="EDB71E"/>
                </a:solidFill>
              </a:rPr>
              <a:t>Watch, don’t post.  </a:t>
            </a:r>
            <a:r>
              <a:rPr sz="1600" b="0">
                <a:solidFill>
                  <a:srgbClr val="FFFFFF"/>
                </a:solidFill>
              </a:rPr>
              <a:t>Only Dan posts, on SSCE Equipment, so nothing reaches a rig or a vendor.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wrap="square"/>
          <a:lstStyle/>
          <a:p>
            <a:pPr>
              <a:spcAft>
                <a:spcPts val="600"/>
              </a:spcAft>
            </a:pPr>
            <a:r>
              <a:rPr sz="3000" b="1"/>
              <a:t>What is coming in the next six months</a:t>
            </a:r>
          </a:p>
        </p:txBody>
      </p:sp>
      <p:sp>
        <p:nvSpPr>
          <p:cNvPr id="4" name="Text Placeholder 3"/>
          <p:cNvSpPr>
            <a:spLocks noGrp="1"/>
          </p:cNvSpPr>
          <p:nvPr>
            <p:ph type="body" idx="13" sz="quarter"/>
          </p:nvPr>
        </p:nvSpPr>
        <p:spPr>
          <a:xfrm>
            <a:off x="384048" y="1417320"/>
            <a:ext cx="11411712" cy="292608"/>
          </a:xfrm>
        </p:spPr>
        <p:txBody>
          <a:bodyPr wrap="square"/>
          <a:lstStyle/>
          <a:p>
            <a:pPr>
              <a:spcAft>
                <a:spcPts val="600"/>
              </a:spcAft>
            </a:pPr>
            <a:r>
              <a:rPr sz="1300" b="1">
                <a:solidFill>
                  <a:srgbClr val="5A6472"/>
                </a:solidFill>
              </a:rPr>
              <a:t>Module 9   ·   15:30–16:15</a:t>
            </a:r>
          </a:p>
        </p:txBody>
      </p:sp>
      <p:sp>
        <p:nvSpPr>
          <p:cNvPr id="5" name="Rounded Rectangle 4"/>
          <p:cNvSpPr/>
          <p:nvPr/>
        </p:nvSpPr>
        <p:spPr>
          <a:xfrm>
            <a:off x="384048" y="187451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eDocs filing</a:t>
            </a:r>
          </a:p>
          <a:p>
            <a:pPr algn="l">
              <a:spcAft>
                <a:spcPts val="0"/>
              </a:spcAft>
            </a:pPr>
            <a:r>
              <a:rPr sz="1400" b="0">
                <a:solidFill>
                  <a:srgbClr val="1F2D3D"/>
                </a:solidFill>
              </a:rPr>
              <a:t>Automatic. Waiting on ISIT.</a:t>
            </a:r>
          </a:p>
        </p:txBody>
      </p:sp>
      <p:sp>
        <p:nvSpPr>
          <p:cNvPr id="6" name="Rounded Rectangle 5"/>
          <p:cNvSpPr/>
          <p:nvPr/>
        </p:nvSpPr>
        <p:spPr>
          <a:xfrm>
            <a:off x="3291839" y="187451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BOP PMs under NC</a:t>
            </a:r>
          </a:p>
          <a:p>
            <a:pPr algn="l">
              <a:spcAft>
                <a:spcPts val="0"/>
              </a:spcAft>
            </a:pPr>
            <a:r>
              <a:rPr sz="1400" b="0">
                <a:solidFill>
                  <a:srgbClr val="1F2D3D"/>
                </a:solidFill>
              </a:rPr>
              <a:t>Flagged at the scope freeze.</a:t>
            </a:r>
          </a:p>
        </p:txBody>
      </p:sp>
      <p:sp>
        <p:nvSpPr>
          <p:cNvPr id="7" name="Rounded Rectangle 6"/>
          <p:cNvSpPr/>
          <p:nvPr/>
        </p:nvSpPr>
        <p:spPr>
          <a:xfrm>
            <a:off x="6199631" y="187451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Maximo CM work orders</a:t>
            </a:r>
          </a:p>
          <a:p>
            <a:pPr algn="l">
              <a:spcAft>
                <a:spcPts val="0"/>
              </a:spcAft>
            </a:pPr>
            <a:r>
              <a:rPr sz="1400" b="0">
                <a:solidFill>
                  <a:srgbClr val="1F2D3D"/>
                </a:solidFill>
              </a:rPr>
              <a:t>And their planned dates, in the plan.</a:t>
            </a:r>
          </a:p>
        </p:txBody>
      </p:sp>
      <p:sp>
        <p:nvSpPr>
          <p:cNvPr id="8" name="Rounded Rectangle 7"/>
          <p:cNvSpPr/>
          <p:nvPr/>
        </p:nvSpPr>
        <p:spPr>
          <a:xfrm>
            <a:off x="9107424" y="187451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PLATO</a:t>
            </a:r>
          </a:p>
          <a:p>
            <a:pPr algn="l">
              <a:spcAft>
                <a:spcPts val="0"/>
              </a:spcAft>
            </a:pPr>
            <a:r>
              <a:rPr sz="1400" b="0">
                <a:solidFill>
                  <a:srgbClr val="1F2D3D"/>
                </a:solidFill>
              </a:rPr>
              <a:t>Cycle counts.</a:t>
            </a:r>
          </a:p>
        </p:txBody>
      </p:sp>
      <p:sp>
        <p:nvSpPr>
          <p:cNvPr id="9" name="Rounded Rectangle 8"/>
          <p:cNvSpPr/>
          <p:nvPr/>
        </p:nvSpPr>
        <p:spPr>
          <a:xfrm>
            <a:off x="384048" y="384047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Tablets offline</a:t>
            </a:r>
          </a:p>
          <a:p>
            <a:pPr algn="l">
              <a:spcAft>
                <a:spcPts val="0"/>
              </a:spcAft>
            </a:pPr>
            <a:r>
              <a:rPr sz="1400" b="0">
                <a:solidFill>
                  <a:srgbClr val="1F2D3D"/>
                </a:solidFill>
              </a:rPr>
              <a:t>Once the server is HTTPS.</a:t>
            </a:r>
          </a:p>
        </p:txBody>
      </p:sp>
      <p:sp>
        <p:nvSpPr>
          <p:cNvPr id="10" name="Rounded Rectangle 9"/>
          <p:cNvSpPr/>
          <p:nvPr/>
        </p:nvSpPr>
        <p:spPr>
          <a:xfrm>
            <a:off x="3291839" y="384047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The scanner</a:t>
            </a:r>
          </a:p>
          <a:p>
            <a:pPr algn="l">
              <a:spcAft>
                <a:spcPts val="0"/>
              </a:spcAft>
            </a:pPr>
            <a:r>
              <a:rPr sz="1400" b="0">
                <a:solidFill>
                  <a:srgbClr val="1F2D3D"/>
                </a:solidFill>
              </a:rPr>
              <a:t>Running on the server.</a:t>
            </a:r>
          </a:p>
        </p:txBody>
      </p:sp>
      <p:sp>
        <p:nvSpPr>
          <p:cNvPr id="11" name="Rounded Rectangle 10"/>
          <p:cNvSpPr/>
          <p:nvPr/>
        </p:nvSpPr>
        <p:spPr>
          <a:xfrm>
            <a:off x="6199631" y="384047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The Fabric database</a:t>
            </a:r>
          </a:p>
          <a:p>
            <a:pPr algn="l">
              <a:spcAft>
                <a:spcPts val="0"/>
              </a:spcAft>
            </a:pPr>
            <a:r>
              <a:rPr sz="1400" b="0">
                <a:solidFill>
                  <a:srgbClr val="1F2D3D"/>
                </a:solidFill>
              </a:rPr>
              <a:t>Every record in one place.</a:t>
            </a:r>
          </a:p>
        </p:txBody>
      </p:sp>
      <p:sp>
        <p:nvSpPr>
          <p:cNvPr id="12" name="Rounded Rectangle 11"/>
          <p:cNvSpPr/>
          <p:nvPr/>
        </p:nvSpPr>
        <p:spPr>
          <a:xfrm>
            <a:off x="9107424" y="3840479"/>
            <a:ext cx="2688336" cy="16916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spcAft>
                <a:spcPts val="400"/>
              </a:spcAft>
            </a:pPr>
            <a:r>
              <a:rPr sz="1600" b="1">
                <a:solidFill>
                  <a:srgbClr val="002C77"/>
                </a:solidFill>
              </a:rPr>
              <a:t>Seadrill CORE</a:t>
            </a:r>
          </a:p>
          <a:p>
            <a:pPr algn="l">
              <a:spcAft>
                <a:spcPts val="0"/>
              </a:spcAft>
            </a:pPr>
            <a:r>
              <a:rPr sz="1400" b="0">
                <a:solidFill>
                  <a:srgbClr val="1F2D3D"/>
                </a:solidFill>
              </a:rPr>
              <a:t>Technical standards by rig, region and SFI.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384048" y="1655064"/>
            <a:ext cx="3456432" cy="274320"/>
          </a:xfrm>
        </p:spPr>
        <p:txBody>
          <a:bodyPr wrap="square"/>
          <a:lstStyle/>
          <a:p>
            <a:pPr>
              <a:spcAft>
                <a:spcPts val="600"/>
              </a:spcAft>
            </a:pPr>
            <a:r>
              <a:rPr sz="1700" b="1">
                <a:solidFill>
                  <a:srgbClr val="002C77"/>
                </a:solidFill>
              </a:rPr>
              <a:t>What is hard on the rig today</a:t>
            </a:r>
          </a:p>
        </p:txBody>
      </p:sp>
      <p:sp>
        <p:nvSpPr>
          <p:cNvPr id="3" name="Text Placeholder 2"/>
          <p:cNvSpPr>
            <a:spLocks noGrp="1"/>
          </p:cNvSpPr>
          <p:nvPr>
            <p:ph type="body" idx="14" sz="quarter"/>
          </p:nvPr>
        </p:nvSpPr>
        <p:spPr>
          <a:xfrm>
            <a:off x="384048" y="2011680"/>
            <a:ext cx="3456432" cy="4069080"/>
          </a:xfrm>
        </p:spPr>
        <p:txBody>
          <a:bodyPr wrap="square"/>
          <a:lstStyle/>
          <a:p>
            <a:pPr>
              <a:spcAft>
                <a:spcPts val="1000"/>
              </a:spcAft>
            </a:pPr>
            <a:r>
              <a:rPr sz="1600" b="0"/>
              <a:t>Where do the tools slow you down?</a:t>
            </a:r>
          </a:p>
          <a:p>
            <a:pPr>
              <a:spcAft>
                <a:spcPts val="1000"/>
              </a:spcAft>
            </a:pPr>
            <a:r>
              <a:rPr sz="1600" b="0"/>
              <a:t>What do you still do on paper or in Excel?</a:t>
            </a:r>
          </a:p>
        </p:txBody>
      </p:sp>
      <p:sp>
        <p:nvSpPr>
          <p:cNvPr id="4" name="Text Placeholder 3"/>
          <p:cNvSpPr>
            <a:spLocks noGrp="1"/>
          </p:cNvSpPr>
          <p:nvPr>
            <p:ph type="body" idx="15" sz="quarter"/>
          </p:nvPr>
        </p:nvSpPr>
        <p:spPr>
          <a:xfrm>
            <a:off x="4343400" y="1655064"/>
            <a:ext cx="3456432" cy="274320"/>
          </a:xfrm>
        </p:spPr>
        <p:txBody>
          <a:bodyPr wrap="square"/>
          <a:lstStyle/>
          <a:p>
            <a:pPr>
              <a:spcAft>
                <a:spcPts val="600"/>
              </a:spcAft>
            </a:pPr>
            <a:r>
              <a:rPr sz="1700" b="1">
                <a:solidFill>
                  <a:srgbClr val="0082C0"/>
                </a:solidFill>
              </a:rPr>
              <a:t>What the tools should do next</a:t>
            </a:r>
          </a:p>
        </p:txBody>
      </p:sp>
      <p:sp>
        <p:nvSpPr>
          <p:cNvPr id="5" name="Text Placeholder 4"/>
          <p:cNvSpPr>
            <a:spLocks noGrp="1"/>
          </p:cNvSpPr>
          <p:nvPr>
            <p:ph type="body" idx="16" sz="quarter"/>
          </p:nvPr>
        </p:nvSpPr>
        <p:spPr>
          <a:xfrm>
            <a:off x="4343400" y="2011680"/>
            <a:ext cx="3456432" cy="4069080"/>
          </a:xfrm>
        </p:spPr>
        <p:txBody>
          <a:bodyPr wrap="square"/>
          <a:lstStyle/>
          <a:p>
            <a:pPr>
              <a:spcAft>
                <a:spcPts val="1000"/>
              </a:spcAft>
            </a:pPr>
            <a:r>
              <a:rPr sz="1600" b="0"/>
              <a:t>What one change would save you the most time?</a:t>
            </a:r>
          </a:p>
          <a:p>
            <a:pPr>
              <a:spcAft>
                <a:spcPts val="1000"/>
              </a:spcAft>
            </a:pPr>
            <a:r>
              <a:rPr sz="1600" b="0"/>
              <a:t>What would you want on the dashboard?</a:t>
            </a:r>
          </a:p>
        </p:txBody>
      </p:sp>
      <p:sp>
        <p:nvSpPr>
          <p:cNvPr id="6" name="Text Placeholder 5"/>
          <p:cNvSpPr>
            <a:spLocks noGrp="1"/>
          </p:cNvSpPr>
          <p:nvPr>
            <p:ph type="body" idx="17" sz="quarter"/>
          </p:nvPr>
        </p:nvSpPr>
        <p:spPr>
          <a:xfrm>
            <a:off x="8366760" y="1655064"/>
            <a:ext cx="3456432" cy="274320"/>
          </a:xfrm>
        </p:spPr>
        <p:txBody>
          <a:bodyPr wrap="square"/>
          <a:lstStyle/>
          <a:p>
            <a:pPr>
              <a:spcAft>
                <a:spcPts val="600"/>
              </a:spcAft>
            </a:pPr>
            <a:r>
              <a:rPr sz="1700" b="1">
                <a:solidFill>
                  <a:srgbClr val="E25303"/>
                </a:solidFill>
              </a:rPr>
              <a:t>Straight onto the action list</a:t>
            </a:r>
          </a:p>
        </p:txBody>
      </p:sp>
      <p:sp>
        <p:nvSpPr>
          <p:cNvPr id="7" name="Text Placeholder 6"/>
          <p:cNvSpPr>
            <a:spLocks noGrp="1"/>
          </p:cNvSpPr>
          <p:nvPr>
            <p:ph type="body" idx="18" sz="quarter"/>
          </p:nvPr>
        </p:nvSpPr>
        <p:spPr>
          <a:xfrm>
            <a:off x="8366760" y="2011680"/>
            <a:ext cx="3456432" cy="4069080"/>
          </a:xfrm>
        </p:spPr>
        <p:txBody>
          <a:bodyPr wrap="square"/>
          <a:lstStyle/>
          <a:p>
            <a:pPr>
              <a:spcAft>
                <a:spcPts val="1000"/>
              </a:spcAft>
            </a:pPr>
            <a:r>
              <a:rPr sz="1600" b="0"/>
              <a:t>Every point gets an owner and a date before we leave.</a:t>
            </a:r>
          </a:p>
          <a:p>
            <a:pPr>
              <a:spcAft>
                <a:spcPts val="1000"/>
              </a:spcAft>
            </a:pPr>
            <a:r>
              <a:rPr sz="1600" b="0"/>
              <a:t>You will see it on the action list.</a:t>
            </a:r>
          </a:p>
        </p:txBody>
      </p:sp>
      <p:sp>
        <p:nvSpPr>
          <p:cNvPr id="8" name="Text Placeholder 7"/>
          <p:cNvSpPr>
            <a:spLocks noGrp="1"/>
          </p:cNvSpPr>
          <p:nvPr>
            <p:ph type="body" idx="12" sz="quarter"/>
          </p:nvPr>
        </p:nvSpPr>
        <p:spPr/>
        <p:txBody>
          <a:bodyPr wrap="square"/>
          <a:lstStyle/>
          <a:p>
            <a:pPr>
              <a:spcAft>
                <a:spcPts val="600"/>
              </a:spcAft>
            </a:pPr>
            <a:r>
              <a:rPr sz="2800" b="1"/>
              <a:t>Module 10: Feedback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822960"/>
            <a:ext cx="9966960" cy="914400"/>
          </a:xfrm>
          <a:prstGeom prst="rect">
            <a:avLst/>
          </a:prstGeom>
          <a:noFill/>
        </p:spPr>
        <p:txBody>
          <a:bodyPr wrap="square" lIns="0" rIns="0" tIns="0" bIns="0">
            <a:spAutoFit/>
          </a:bodyPr>
          <a:lstStyle/>
          <a:p>
            <a:pPr>
              <a:spcAft>
                <a:spcPts val="0"/>
              </a:spcAft>
            </a:pPr>
            <a:r>
              <a:rPr sz="4000" b="1">
                <a:solidFill>
                  <a:srgbClr val="FFFFFF"/>
                </a:solidFill>
              </a:rPr>
              <a:t>Thank you</a:t>
            </a:r>
          </a:p>
        </p:txBody>
      </p:sp>
      <p:sp>
        <p:nvSpPr>
          <p:cNvPr id="3" name="TextBox 2"/>
          <p:cNvSpPr txBox="1"/>
          <p:nvPr/>
        </p:nvSpPr>
        <p:spPr>
          <a:xfrm>
            <a:off x="1097280" y="3886200"/>
            <a:ext cx="9966960" cy="411480"/>
          </a:xfrm>
          <a:prstGeom prst="rect">
            <a:avLst/>
          </a:prstGeom>
          <a:noFill/>
        </p:spPr>
        <p:txBody>
          <a:bodyPr wrap="square" lIns="0" rIns="0" tIns="0" bIns="0">
            <a:spAutoFit/>
          </a:bodyPr>
          <a:lstStyle/>
          <a:p>
            <a:pPr>
              <a:spcAft>
                <a:spcPts val="0"/>
              </a:spcAft>
            </a:pPr>
            <a:r>
              <a:rPr sz="1800" b="1">
                <a:solidFill>
                  <a:srgbClr val="EDB71E"/>
                </a:solidFill>
              </a:rPr>
              <a:t>Where things live</a:t>
            </a:r>
          </a:p>
        </p:txBody>
      </p:sp>
      <p:sp>
        <p:nvSpPr>
          <p:cNvPr id="4" name="TextBox 3"/>
          <p:cNvSpPr txBox="1"/>
          <p:nvPr/>
        </p:nvSpPr>
        <p:spPr>
          <a:xfrm>
            <a:off x="1097280" y="4343400"/>
            <a:ext cx="10241280" cy="1554480"/>
          </a:xfrm>
          <a:prstGeom prst="rect">
            <a:avLst/>
          </a:prstGeom>
          <a:noFill/>
        </p:spPr>
        <p:txBody>
          <a:bodyPr wrap="square" lIns="0" rIns="0" tIns="0" bIns="0">
            <a:spAutoFit/>
          </a:bodyPr>
          <a:lstStyle/>
          <a:p>
            <a:pPr>
              <a:spcAft>
                <a:spcPts val="600"/>
              </a:spcAft>
            </a:pPr>
            <a:r>
              <a:rPr sz="1400" b="1">
                <a:solidFill>
                  <a:srgbClr val="FFFFFF"/>
                </a:solidFill>
              </a:rPr>
              <a:t>Dashboards   </a:t>
            </a:r>
            <a:r>
              <a:rPr sz="1400" b="0">
                <a:solidFill>
                  <a:srgbClr val="FFFFFF"/>
                </a:solidFill>
              </a:rPr>
              <a:t>http://sdrlazneuiis01d.corp.local:8080/sacred/</a:t>
            </a:r>
          </a:p>
          <a:p>
            <a:pPr>
              <a:spcAft>
                <a:spcPts val="600"/>
              </a:spcAft>
            </a:pPr>
            <a:r>
              <a:rPr sz="1400" b="1">
                <a:solidFill>
                  <a:srgbClr val="FFFFFF"/>
                </a:solidFill>
              </a:rPr>
              <a:t>Argo Navis   </a:t>
            </a:r>
            <a:r>
              <a:rPr sz="1400" b="0">
                <a:solidFill>
                  <a:srgbClr val="FFFFFF"/>
                </a:solidFill>
              </a:rPr>
              <a:t>http://sdrlazneuiis01d.corp.local:8080/sacred/dl1/</a:t>
            </a:r>
          </a:p>
          <a:p>
            <a:pPr>
              <a:spcAft>
                <a:spcPts val="600"/>
              </a:spcAft>
            </a:pPr>
            <a:r>
              <a:rPr sz="1400" b="1">
                <a:solidFill>
                  <a:srgbClr val="FFFFFF"/>
                </a:solidFill>
              </a:rPr>
              <a:t>SSORT   </a:t>
            </a:r>
            <a:r>
              <a:rPr sz="1400" b="0">
                <a:solidFill>
                  <a:srgbClr val="FFFFFF"/>
                </a:solidFill>
              </a:rPr>
              <a:t>http://sdrlazneuiis01d.corp.local:8080/SSORT/index.html</a:t>
            </a:r>
          </a:p>
          <a:p>
            <a:pPr>
              <a:spcAft>
                <a:spcPts val="600"/>
              </a:spcAft>
            </a:pPr>
            <a:r>
              <a:rPr sz="1400" b="1">
                <a:solidFill>
                  <a:srgbClr val="FFFFFF"/>
                </a:solidFill>
              </a:rPr>
              <a:t>WCGRRT   </a:t>
            </a:r>
            <a:r>
              <a:rPr sz="1400" b="0">
                <a:solidFill>
                  <a:srgbClr val="FFFFFF"/>
                </a:solidFill>
              </a:rPr>
              <a:t>http://sdrlazneuiis01d.corp.local:8080/sacred/WCE%20Rig%20Vist%20Reporting%20Tool%20V0.html</a:t>
            </a:r>
          </a:p>
        </p:txBody>
      </p:sp>
      <p:sp>
        <p:nvSpPr>
          <p:cNvPr id="5" name="TextBox 4"/>
          <p:cNvSpPr txBox="1"/>
          <p:nvPr/>
        </p:nvSpPr>
        <p:spPr>
          <a:xfrm>
            <a:off x="1097280" y="1783080"/>
            <a:ext cx="9966960" cy="548640"/>
          </a:xfrm>
          <a:prstGeom prst="rect">
            <a:avLst/>
          </a:prstGeom>
          <a:noFill/>
        </p:spPr>
        <p:txBody>
          <a:bodyPr wrap="square" lIns="0" rIns="0" tIns="0" bIns="0">
            <a:spAutoFit/>
          </a:bodyPr>
          <a:lstStyle/>
          <a:p>
            <a:pPr>
              <a:spcAft>
                <a:spcPts val="0"/>
              </a:spcAft>
            </a:pPr>
            <a:r>
              <a:rPr sz="1600" b="1">
                <a:solidFill>
                  <a:srgbClr val="FFFFFF"/>
                </a:solidFill>
              </a:rPr>
              <a:t>Dan Plant   </a:t>
            </a:r>
            <a:r>
              <a:rPr sz="1600" b="0">
                <a:solidFill>
                  <a:srgbClr val="FFFFFF"/>
                </a:solidFill>
              </a:rPr>
              <a:t>daniel.plant@seadrill.com</a:t>
            </a:r>
          </a:p>
        </p:txBody>
      </p:sp>
    </p:spTree>
  </p:cSld>
  <p:clrMapOvr>
    <a:masterClrMapping/>
  </p:clrMapOvr>
</p:sld>
</file>

<file path=ppt/theme/theme1.xml><?xml version="1.0" encoding="utf-8"?>
<a:theme xmlns:a="http://schemas.openxmlformats.org/drawingml/2006/main" name="Custom Design">
  <a:themeElements>
    <a:clrScheme name="Seadrill">
      <a:dk1>
        <a:srgbClr val="000000"/>
      </a:dk1>
      <a:lt1>
        <a:srgbClr val="FFFFFF"/>
      </a:lt1>
      <a:dk2>
        <a:srgbClr val="212121"/>
      </a:dk2>
      <a:lt2>
        <a:srgbClr val="E7E6E6"/>
      </a:lt2>
      <a:accent1>
        <a:srgbClr val="002C77"/>
      </a:accent1>
      <a:accent2>
        <a:srgbClr val="EDB71E"/>
      </a:accent2>
      <a:accent3>
        <a:srgbClr val="0082C0"/>
      </a:accent3>
      <a:accent4>
        <a:srgbClr val="E25303"/>
      </a:accent4>
      <a:accent5>
        <a:srgbClr val="43C0E8"/>
      </a:accent5>
      <a:accent6>
        <a:srgbClr val="002C7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oAutofit/>
      </a:bodyPr>
      <a:lstStyle>
        <a:defPPr marL="285750" indent="-285750" algn="l">
          <a:spcAft>
            <a:spcPts val="800"/>
          </a:spcAft>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Presentation1" id="{29CB1990-084D-474A-AA12-987D6F159E80}" vid="{3E671490-3286-4DE2-AAFC-3345196B7B2E}"/>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02C77"/>
      </a:accent1>
      <a:accent2>
        <a:srgbClr val="EDB71E"/>
      </a:accent2>
      <a:accent3>
        <a:srgbClr val="0082C0"/>
      </a:accent3>
      <a:accent4>
        <a:srgbClr val="E25303"/>
      </a:accent4>
      <a:accent5>
        <a:srgbClr val="717F81"/>
      </a:accent5>
      <a:accent6>
        <a:srgbClr val="59595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9CB1990-084D-474A-AA12-987D6F159E80}" vid="{8B204F00-078A-44CB-9993-A4DC78445B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1375B9474D2B458DD600039FC86ED7" ma:contentTypeVersion="4" ma:contentTypeDescription="Create a new document." ma:contentTypeScope="" ma:versionID="8ca5b959edefb95593e01c11d373b297">
  <xsd:schema xmlns:xsd="http://www.w3.org/2001/XMLSchema" xmlns:xs="http://www.w3.org/2001/XMLSchema" xmlns:p="http://schemas.microsoft.com/office/2006/metadata/properties" xmlns:ns2="be0707e9-4c2d-4f2b-a5be-32a9f9aedd29" xmlns:ns3="847bfa46-a70a-4209-b9e7-b1c0d256b223" targetNamespace="http://schemas.microsoft.com/office/2006/metadata/properties" ma:root="true" ma:fieldsID="4749cbcf97829576cb0a0b06cd7bf072" ns2:_="" ns3:_="">
    <xsd:import namespace="be0707e9-4c2d-4f2b-a5be-32a9f9aedd29"/>
    <xsd:import namespace="847bfa46-a70a-4209-b9e7-b1c0d256b22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0707e9-4c2d-4f2b-a5be-32a9f9aedd2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bfa46-a70a-4209-b9e7-b1c0d256b2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F775844E-0793-428A-AF85-9E8CB14D5142}">
  <ds:schemaRefs>
    <ds:schemaRef ds:uri="http://schemas.microsoft.com/sharepoint/v3/contenttype/forms"/>
  </ds:schemaRefs>
</ds:datastoreItem>
</file>

<file path=customXml/itemProps2.xml><?xml version="1.0" encoding="utf-8"?>
<ds:datastoreItem xmlns:ds="http://schemas.openxmlformats.org/officeDocument/2006/customXml" ds:itemID="{0A7E113A-FB21-4BBE-9696-7AC26CA26D0E}">
  <ds:schemaRefs>
    <ds:schemaRef ds:uri="http://purl.org/dc/dcmitype/"/>
    <ds:schemaRef ds:uri="3e33b254-58f8-498d-8fc0-1c99fb4c44f9"/>
    <ds:schemaRef ds:uri="http://schemas.microsoft.com/office/2006/documentManagement/types"/>
    <ds:schemaRef ds:uri="http://schemas.microsoft.com/office/2006/metadata/properties"/>
    <ds:schemaRef ds:uri="7887adca-63be-4a4c-a89d-ee06eeaacc9b"/>
    <ds:schemaRef ds:uri="http://purl.org/dc/terms/"/>
    <ds:schemaRef ds:uri="http://purl.org/dc/elements/1.1/"/>
    <ds:schemaRef ds:uri="99ce1116-cb14-49c8-a6a9-6466232a9e78"/>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8BBDD0-B096-4F82-A699-4F0DC0C1DF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0707e9-4c2d-4f2b-a5be-32a9f9aedd29"/>
    <ds:schemaRef ds:uri="847bfa46-a70a-4209-b9e7-b1c0d256b2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24F7851-CB0C-4D6A-A4EC-854EF05F9947}">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TotalTime>
  <Words>4468</Words>
  <Application>Microsoft Office PowerPoint</Application>
  <PresentationFormat>Widescreen</PresentationFormat>
  <Paragraphs>360</Paragraphs>
  <Slides>52</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52</vt:i4>
      </vt:variant>
    </vt:vector>
  </HeadingPairs>
  <TitlesOfParts>
    <vt:vector size="58" baseType="lpstr">
      <vt:lpstr>Arial</vt:lpstr>
      <vt:lpstr>Calibri</vt:lpstr>
      <vt:lpstr>MetaPro-Normal</vt:lpstr>
      <vt:lpstr>System Font Regular</vt:lpstr>
      <vt:lpstr>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Main headline in here</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Plant</dc:creator>
  <cp:lastModifiedBy>Daniel Plant</cp:lastModifiedBy>
  <cp:revision>1</cp:revision>
  <dcterms:created xsi:type="dcterms:W3CDTF">2026-01-10T14:20:43Z</dcterms:created>
  <dcterms:modified xsi:type="dcterms:W3CDTF">2026-01-10T14:21:53Z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0x0101003C1375B9474D2B458DD600039FC86ED7</vt:lpwstr>
  </property>
  <property fmtid="{D5CDD505-2E9C-101B-9397-08002B2CF9AE}" pid="3" name="MediaServiceImageTags">
    <vt:lpwstr/>
  </property>
  <property fmtid="{D5CDD505-2E9C-101B-9397-08002B2CF9AE}" pid="4" name="MSIP_Label_6ff5c69e-9d09-4250-825e-b99a9d4db320_Enabled">
    <vt:lpwstr>true</vt:lpwstr>
  </property>
  <property fmtid="{D5CDD505-2E9C-101B-9397-08002B2CF9AE}" pid="5" name="MSIP_Label_6ff5c69e-9d09-4250-825e-b99a9d4db320_SetDate">
    <vt:lpwstr>2024-11-05T09:59:55Z</vt:lpwstr>
  </property>
  <property fmtid="{D5CDD505-2E9C-101B-9397-08002B2CF9AE}" pid="6" name="MSIP_Label_6ff5c69e-9d09-4250-825e-b99a9d4db320_Method">
    <vt:lpwstr>Standard</vt:lpwstr>
  </property>
  <property fmtid="{D5CDD505-2E9C-101B-9397-08002B2CF9AE}" pid="7" name="MSIP_Label_6ff5c69e-9d09-4250-825e-b99a9d4db320_Name">
    <vt:lpwstr>General</vt:lpwstr>
  </property>
  <property fmtid="{D5CDD505-2E9C-101B-9397-08002B2CF9AE}" pid="8" name="MSIP_Label_6ff5c69e-9d09-4250-825e-b99a9d4db320_SiteId">
    <vt:lpwstr>d79da2e9-d03a-4707-9da7-67a34ac6465c</vt:lpwstr>
  </property>
  <property fmtid="{D5CDD505-2E9C-101B-9397-08002B2CF9AE}" pid="9" name="MSIP_Label_6ff5c69e-9d09-4250-825e-b99a9d4db320_ActionId">
    <vt:lpwstr>e5cdaace-1d9a-42fb-a3fe-168cea31a7c2</vt:lpwstr>
  </property>
  <property fmtid="{D5CDD505-2E9C-101B-9397-08002B2CF9AE}" pid="10" name="MSIP_Label_6ff5c69e-9d09-4250-825e-b99a9d4db320_ContentBits">
    <vt:lpwstr>0</vt:lpwstr>
  </property>
</Properties>
</file>