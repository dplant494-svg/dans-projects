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 id="2147483651" r:id="rId5"/>
  </p:sldMasterIdLst>
  <p:notesMasterIdLst>
    <p:notesMasterId r:id="rId13"/>
  </p:notesMasterIdLst>
  <p:sldIdLst>
    <p:sldId id="297" r:id="rId6"/>
    <p:sldId id="279" r:id="rId7"/>
    <p:sldId id="281" r:id="rId8"/>
    <p:sldId id="283" r:id="rId9"/>
    <p:sldId id="284" r:id="rId10"/>
    <p:sldId id="275" r:id="rId11"/>
    <p:sldId id="261" r:id="rId1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77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9" d="100"/>
          <a:sy n="139" d="100"/>
        </p:scale>
        <p:origin x="138" y="5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notesMaster" Target="notesMasters/notesMaster1.xml"/><Relationship Id="rId3" Type="http://schemas.openxmlformats.org/officeDocument/2006/relationships/customXml" Target="../customXml/item3.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5" Type="http://schemas.openxmlformats.org/officeDocument/2006/relationships/slideMaster" Target="slideMasters/slideMaster2.xml"/><Relationship Id="rId15" Type="http://schemas.openxmlformats.org/officeDocument/2006/relationships/viewProps" Target="viewProps.xml"/><Relationship Id="rId10" Type="http://schemas.openxmlformats.org/officeDocument/2006/relationships/slide" Target="slides/slide5.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32258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rPr lang="en-US"/>
              <a:t>CONSOLIDATED EVIDENCE AND REPORT ACTIONS</a:t>
            </a:r>
          </a:p>
          <a:p>
            <a:r>
              <a:rPr lang="en-US"/>
              <a:t>This slide combines the current content of former slides 3 and 4. All four photographs present in the current input are retained uncropped. Top left: West Tellus report photo, p. 1. Top right: West Neptune report photo, p. 2. Bottom left: user-supplied West Neptune damaged drive components. Bottom right: user-supplied socket-damage photo from former slide 4. Historical photo positions in original notes below refer to the earlier separate slides. Removed photos from earlier versions have not been restored.</a:t>
            </a:r>
          </a:p>
          <a:p>
            <a:r>
              <a:rPr lang="en-US"/>
              <a:t>Report actions reproduced on the slide: remove thick-wall sockets, NDE before each riser run/pull, measure plates using eDOCS 11242619 and report to WCEMPDG, replace affected components above 0.010 in permanent deformation. These are historical report directions. The following AAB slide provides more specific fleet direction, including inner/outer bolt-circle restrictions. The report investigation status does not establish present closure.</a:t>
            </a:r>
          </a:p>
          <a:p>
            <a:endParaRPr lang="en-US"/>
          </a:p>
          <a:p>
            <a:r>
              <a:rPr lang="en-US"/>
              <a:t>ORIGINAL SLIDE 3 SUPPORTING NOTES</a:t>
            </a:r>
          </a:p>
          <a:p>
            <a:r>
              <a:t>Authentic photographs extracted from the controlled incident report. Left: page 1, West Tellus equipment after socket failure during breakout on 21 September (2025 chronology in the current deck). Right: page 2, West Neptune fractured socket from 2 October 2025, described as newly received and failing on first use. Images preserve original proportions with no alteration or added annotations. The report states that the manufacturer investigation is ongoing. These photographs do not independently establish root cause.</a:t>
            </a:r>
          </a:p>
          <a:p>
            <a:r>
              <a:t>[Sources]</a:t>
            </a:r>
          </a:p>
          <a:p>
            <a:r>
              <a:t>SEADRILL-#11237290-v4-Seadrill_-_Incident_Report_IR-WCE-335-009_-_West_Tellus___West_Neptune_-_Riser_Torque_Tool_Socket_Failure (2).pdf, IR-WCE-335-009 Rev 3, pages 1–2. Retrieved from user-specified Riser Torque Tools/Clover Reports folder. Internal/confidential source.</a:t>
            </a:r>
          </a:p>
          <a:p>
            <a:r>
              <a:t>[/Sources]</a:t>
            </a:r>
          </a:p>
          <a:p>
            <a:endParaRPr lang="en-US"/>
          </a:p>
          <a:p>
            <a:r>
              <a:rPr lang="en-US"/>
              <a:t>Additional photograph supplied by Lee Arnold in this turn, identified by the user as West Neptune evidence to accompany the 2 October event. Placed at right alongside, not in place of, the existing report photographs. The photo visibly shows damaged drive components. No independent capture date or root-cause conclusion inferred.</a:t>
            </a:r>
          </a:p>
          <a:p>
            <a:r>
              <a:rPr lang="en-US"/>
              <a:t>[Sources]</a:t>
            </a:r>
          </a:p>
          <a:p>
            <a:r>
              <a:rPr lang="en-US"/>
              <a:t>User attachment image.png (image_25a0c6be), supplied 2 October 2026.</a:t>
            </a:r>
          </a:p>
          <a:p>
            <a:r>
              <a:rPr lang="en-US"/>
              <a:t>[/Sources]</a:t>
            </a:r>
          </a:p>
          <a:p>
            <a:endParaRPr lang="en-US"/>
          </a:p>
          <a:p>
            <a:r>
              <a:rPr lang="en-US"/>
              <a:t>ORIGINAL SLIDE 4 SUPPORTING NOTES</a:t>
            </a:r>
          </a:p>
          <a:p>
            <a:r>
              <a:rPr lang="en-US"/>
              <a:t>WEST NEPTUNE REPORT SUMMARY</a:t>
            </a:r>
          </a:p>
          <a:p>
            <a:r>
              <a:rPr lang="en-US"/>
              <a:t>Incident, page 2: On 2 October 2025, newly received Power Tork drive sockets broke on first use during a riser pull. Tool socket MPN 40/33C-DS, ICN 1977919.</a:t>
            </a:r>
          </a:p>
          <a:p>
            <a:r>
              <a:rPr lang="en-US"/>
              <a:t>Operating checks, page 4: reported RTT pressure 2400 psi, equating to approximately 26,000 ft-lbs. Crew inspected bolts/nuts to verify lubrication and checked thread integrity by ease of hand rotation.</a:t>
            </a:r>
          </a:p>
          <a:p>
            <a:r>
              <a:rPr lang="en-US"/>
              <a:t>Initial findings, page 5: manufacturer investigation ongoing to determine whether a manufacturing issue contributed; broken sockets were to return for root-cause failure analysis. This is the investigation status recorded in this report, not a statement about current closure.</a:t>
            </a:r>
          </a:p>
          <a:p>
            <a:r>
              <a:rPr lang="en-US"/>
              <a:t>Subsequent findings, page 7: report linked its reviewed failure population to thicker walls. Measurements 26.84 mm and 20.3 mm refer to West Tellus examples, not West Neptune measurements.</a:t>
            </a:r>
          </a:p>
          <a:p>
            <a:r>
              <a:rPr lang="en-US"/>
              <a:t>Conclusion, page 8: replace drive/body plate components if permanent hole deformation exceeds 0.010 in. The report describes 0.010 in socket-to-flange clearance separately. Measurement guide eDOCS 11242619. Do not infer that the numerical deformation threshold establishes the cause of the Neptune event.</a:t>
            </a:r>
          </a:p>
          <a:p>
            <a:r>
              <a:rPr lang="en-US"/>
              <a:t>Fleet actions, page 11: discontinue thicker-wall sockets; NDE before every run/pull; dimensional inspection and reporting to WCEMPDG; verify ICCP/ground faults and BOP anode mapping; use prescribed Moly 503, coefficient 0.067, on threads/shank/shoulder. Route identified thick-wall sockets to regional machining. These are report fleet controls, not findings unique to Neptune.</a:t>
            </a:r>
          </a:p>
          <a:p>
            <a:r>
              <a:rPr lang="en-US"/>
              <a:t>Related material: metallurgical analysis eDOCS 11242623 and measurement guide eDOCS 11242619 are listed attachments, not independently reviewed here. Torque calibration bench ICN 2285150 appears as a proposed calibration option at $46,000 in the report, not as part of the TorqLite quoted package.</a:t>
            </a:r>
          </a:p>
          <a:p>
            <a:r>
              <a:rPr lang="en-US"/>
              <a:t>Revision identification: document filename contains v4; report footer identifies IR-WCE-335-009 Rev 3, submitted 12 May 2026, Maximo C10247907.</a:t>
            </a:r>
          </a:p>
          <a:p>
            <a:r>
              <a:rPr lang="en-US"/>
              <a:t>[Sources]</a:t>
            </a:r>
          </a:p>
          <a:p>
            <a:r>
              <a:rPr lang="en-US"/>
              <a:t>SEADRILL-#11237290-v4-Seadrill_-_Incident_Report_IR-WCE-335-009_-_West_Tellus___West_Neptune_-_Riser_Torque_Tool_Socket_Failure (2).pdf, pages 2, 4–5, 7–11, user-specified Riser Torque Tools/Clover Reports folder. Created by Eric Rachall, approved by Ronnie Peeples. Internal/confidential.</a:t>
            </a:r>
          </a:p>
          <a:p>
            <a:r>
              <a:rPr lang="en-US"/>
              <a:t>[/Sources]</a:t>
            </a:r>
          </a:p>
          <a:p>
            <a:endParaRPr lang="en-US"/>
          </a:p>
          <a:p>
            <a:r>
              <a:rPr lang="en-US"/>
              <a:t>PHOTOGRAPHS ADDED TO SLIDE 4</a:t>
            </a:r>
          </a:p>
          <a:p>
            <a:r>
              <a:rPr lang="en-US"/>
              <a:t>Left: user-supplied replacement photograph of damaged sockets, received 2 October 2026. Capture date and provenance beyond user submission are not independently verified. Centre: internal thread inspection, report page 4 (West Neptune). Right: socket transition areas with original red annotations, report page 5 under West Neptune initial findings. The centre and right images are report photographs. The left image is supplied by the user. All preserve full original framing. Date stamps remain exactly as printed in the source photographs and are not interpreted as independently verified capture dates. Images document observed condition without establishing a manufacturing root cause. All previously recorded incident details, report controls and investigation caveats remain in these notes.</a:t>
            </a:r>
          </a:p>
          <a:p>
            <a:r>
              <a:rPr lang="en-US"/>
              <a:t>[Sources]</a:t>
            </a:r>
          </a:p>
          <a:p>
            <a:r>
              <a:rPr lang="en-US"/>
              <a:t>Same controlled report, pages 4–5, original embedded photographs.</a:t>
            </a:r>
          </a:p>
          <a:p>
            <a:r>
              <a:rPr lang="en-US"/>
              <a:t>[/Sources]</a:t>
            </a:r>
          </a:p>
          <a:p>
            <a:r>
              <a:rPr lang="en-US"/>
              <a:t>[Sources]</a:t>
            </a:r>
          </a:p>
          <a:p>
            <a:r>
              <a:rPr lang="en-US"/>
              <a:t>Left photograph: image.png supplied by Lee Arnold on 2 October 2026 as replacement for the selected photograph. No report page or independently verified capture date attributed to this image.</a:t>
            </a:r>
          </a:p>
          <a:p>
            <a:r>
              <a:rPr lang="en-US"/>
              <a:t>[/Sources]</a:t>
            </a:r>
          </a:p>
          <a:p>
            <a:endParaRPr lang="en-US"/>
          </a:p>
          <a:p>
            <a:r>
              <a:rPr lang="en-US"/>
              <a:t>ADDITIONAL WEST POLARIS EVIDENCE</a:t>
            </a:r>
          </a:p>
          <a:p>
            <a:r>
              <a:rPr lang="en-US"/>
              <a:t>User requested image 7 from the Polaris socket failure dated 28 September. The named source folder provides the year 2026. The photograph accompanies the existing West Tellus and West Neptune evidence, with all four previous photographs retained. Existing report actions remain attributed to IR-WCE-335-009 Rev 3 and are not presented as a newly established Polaris investigation conclusion. No root cause or new acceptance decision is inferred from the photograph.</a:t>
            </a:r>
          </a:p>
          <a:p>
            <a:r>
              <a:rPr lang="en-US"/>
              <a:t>[Sources]</a:t>
            </a:r>
          </a:p>
          <a:p>
            <a:r>
              <a:rPr lang="en-US"/>
              <a:t>User instruction, 2 October 2026. OneDrive: Documents/Copilot/Riser Torque Tools/Broken Sockets from Polaris 28SEPT26/image (7).jpg. Graph file graph_drive_item_e5767c0c. Original 600 x 800 photograph, unaltered and uncropped.</a:t>
            </a:r>
          </a:p>
          <a:p>
            <a:r>
              <a:rPr lang="en-US"/>
              <a:t>[/Sources]</a:t>
            </a:r>
          </a:p>
          <a:p>
            <a:endParaRPr lang="en-US"/>
          </a:p>
          <a:p>
            <a:endParaRPr lang="en-US"/>
          </a:p>
          <a:p>
            <a:r>
              <a:rPr lang="en-US"/>
              <a:t>DROPPED-OBJECT FLASH ALERT</a:t>
            </a:r>
          </a:p>
          <a:p>
            <a:r>
              <a:rPr lang="en-US"/>
              <a:t>The flash alert identifies West Tellus, 20 September 2025, Synergi 1790819, serious near miss with personal-injury loss potential. File name 1790817.PDF differs from the Synergi number printed inside the alert. The alert date differs from the 21 September date in the existing report caption. Both dates are retained with an explicit discrepancy note, without silently treating them as the same confirmed event date. Alert interim findings and recommendations do not establish a final root cause or investigation closure.</a:t>
            </a:r>
          </a:p>
          <a:p>
            <a:r>
              <a:rPr lang="en-US"/>
              <a:t>[Sources]</a:t>
            </a:r>
          </a:p>
          <a:p>
            <a:r>
              <a:rPr lang="en-US"/>
              <a:t>Documents/Copilot/Riser Torque Tools/flash alert/1790817.PDF, one-page flash alert, retrieved 2 October 2026. Graph entity graph_drive_item_92a152e3.</a:t>
            </a:r>
          </a:p>
          <a:p>
            <a:r>
              <a:rPr lang="en-US"/>
              <a:t>[/Sources]</a:t>
            </a:r>
          </a:p>
          <a:p>
            <a:r>
              <a:rPr lang="en-US"/>
              <a:t>FULL ALERT TEXT</a:t>
            </a:r>
          </a:p>
          <a:p>
            <a:r>
              <a:rPr lang="en-US"/>
              <a:t>                                                                                                         Date :</a:t>
            </a:r>
          </a:p>
          <a:p>
            <a:r>
              <a:rPr lang="en-US"/>
              <a:t>                                                                FLASH ALERT                            9/20/2025</a:t>
            </a:r>
          </a:p>
          <a:p>
            <a:endParaRPr lang="en-US"/>
          </a:p>
          <a:p>
            <a:r>
              <a:rPr lang="en-US"/>
              <a:t>      Identified By               Operating Units - Floater -   LOSS POTENTIAL</a:t>
            </a:r>
          </a:p>
          <a:p>
            <a:r>
              <a:rPr lang="en-US"/>
              <a:t>                                  West Tellus - Onboard</a:t>
            </a:r>
          </a:p>
          <a:p>
            <a:r>
              <a:rPr lang="en-US"/>
              <a:t>                                  Management</a:t>
            </a:r>
          </a:p>
          <a:p>
            <a:r>
              <a:rPr lang="en-US"/>
              <a:t>      For more info,contact       West Tellus SSS               Personal Injury             X   Loss of Containment</a:t>
            </a:r>
          </a:p>
          <a:p>
            <a:r>
              <a:rPr lang="en-US"/>
              <a:t>      Synergi                     1790819                       Financial Loss                  Downtime</a:t>
            </a:r>
          </a:p>
          <a:p>
            <a:endParaRPr lang="en-US"/>
          </a:p>
          <a:p>
            <a:endParaRPr lang="en-US"/>
          </a:p>
          <a:p>
            <a:r>
              <a:rPr lang="en-US"/>
              <a:t>                                       WTE-2025-Sep-20-Serious Near Miss-Dropped object</a:t>
            </a:r>
          </a:p>
          <a:p>
            <a:endParaRPr lang="en-US"/>
          </a:p>
          <a:p>
            <a:r>
              <a:rPr lang="en-US"/>
              <a:t>Description of incident : During to break the torque on one of the bolts, a 3 ¾” hex socket fractured and the broken segment bounced on</a:t>
            </a:r>
          </a:p>
          <a:p>
            <a:r>
              <a:rPr lang="en-US"/>
              <a:t>the rig floor towards the Riser catwalk, eventually falling onto the Riser deck.</a:t>
            </a:r>
          </a:p>
          <a:p>
            <a:endParaRPr lang="en-US"/>
          </a:p>
          <a:p>
            <a:endParaRPr lang="en-US"/>
          </a:p>
          <a:p>
            <a:r>
              <a:rPr lang="en-US"/>
              <a:t>The approximate height from the Riser catwalk to the point of impact on the deck is 13.6m. The weight of the socket fragment is</a:t>
            </a:r>
          </a:p>
          <a:p>
            <a:r>
              <a:rPr lang="en-US"/>
              <a:t>approximately 1.3 kg.</a:t>
            </a:r>
          </a:p>
          <a:p>
            <a:endParaRPr lang="en-US"/>
          </a:p>
          <a:p>
            <a:endParaRPr lang="en-US"/>
          </a:p>
          <a:p>
            <a:r>
              <a:rPr lang="en-US"/>
              <a:t>BOP has been in the water for 13 months and advanced corrosion is present on riser bolts.</a:t>
            </a:r>
          </a:p>
          <a:p>
            <a:endParaRPr lang="en-US"/>
          </a:p>
          <a:p>
            <a:endParaRPr lang="en-US"/>
          </a:p>
          <a:p>
            <a:r>
              <a:rPr lang="en-US"/>
              <a:t>At the time of the incident, red zone management is in place on the Riser deck area due to riser handling operations being carried out with</a:t>
            </a:r>
          </a:p>
          <a:p>
            <a:r>
              <a:rPr lang="en-US"/>
              <a:t>the Riser Gantry Crane.</a:t>
            </a:r>
          </a:p>
          <a:p>
            <a:endParaRPr lang="en-US"/>
          </a:p>
          <a:p>
            <a:endParaRPr lang="en-US"/>
          </a:p>
          <a:p>
            <a:r>
              <a:rPr lang="en-US"/>
              <a:t>OIM, DSL, RM and Company Man were immediately notified of the incident.</a:t>
            </a:r>
          </a:p>
          <a:p>
            <a:endParaRPr lang="en-US"/>
          </a:p>
          <a:p>
            <a:r>
              <a:rPr lang="en-US"/>
              <a:t>Interim Findings</a:t>
            </a:r>
          </a:p>
          <a:p>
            <a:r>
              <a:rPr lang="en-US"/>
              <a:t>High level of corrosion in the riser bolt required multiple torque break attempts. BOP in water for 13 months.</a:t>
            </a:r>
          </a:p>
          <a:p>
            <a:endParaRPr lang="en-US"/>
          </a:p>
          <a:p>
            <a:r>
              <a:rPr lang="en-US"/>
              <a:t>Interim Recommendations</a:t>
            </a:r>
          </a:p>
          <a:p>
            <a:r>
              <a:rPr lang="en-US"/>
              <a:t>Inspection in remaining riser torque tool sockets to identify possible damages.</a:t>
            </a:r>
          </a:p>
          <a:p>
            <a:endParaRPr lang="en-US"/>
          </a:p>
          <a:p>
            <a:r>
              <a:rPr lang="en-US"/>
              <a:t>Photos</a:t>
            </a:r>
          </a:p>
          <a:p>
            <a:endParaRPr lang="en-US"/>
          </a:p>
          <a:p>
            <a:r>
              <a:rPr lang="en-US"/>
              <a:t>IMG_8260                                                   IMG_8281</a:t>
            </a:r>
          </a:p>
          <a:p>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AAB C10247907</a:t>
            </a:r>
          </a:p>
          <a:p>
            <a:r>
              <a:t>Source: comments supplied by Lee Arnold on 2 October 2026. This slide summarizes the supplied direction rather than independently confirming the controlled AAB revision or current commercial terms. Mandatory requirements below retain the source meaning. Consult the controlled AAB for execution.</a:t>
            </a:r>
          </a:p>
          <a:p>
            <a:endParaRPr/>
          </a:p>
          <a:p>
            <a:r>
              <a:t>FULL SUPPLIED COMMENTS</a:t>
            </a:r>
          </a:p>
          <a:p>
            <a:r>
              <a:t>Since the 3rd quarter of last year, there have been several Power Tork Riser torque tool sockets fail due to several factors with the latest being on the West Polaris. You should have been contacted by now a few times by TSC requesting measurements of the tool bodies and associated parts as well as socket wall thicknesses.</a:t>
            </a:r>
          </a:p>
          <a:p>
            <a:endParaRPr/>
          </a:p>
          <a:p>
            <a:r>
              <a:t>This AAB provides mandatory fleet direction resulting from the ongoing investigation into riser drive socket failures associated with riser bolt make-up and break-out tooling. This guidance is effective immediately and shall be followed by all rigs going forward.</a:t>
            </a:r>
          </a:p>
          <a:p>
            <a:endParaRPr/>
          </a:p>
          <a:p>
            <a:r>
              <a:t>Background and Technical Basis</a:t>
            </a:r>
          </a:p>
          <a:p>
            <a:r>
              <a:t>The investigation has confirmed that multiple socket outside diameters are currently in circulation across the fleet:</a:t>
            </a:r>
          </a:p>
          <a:p>
            <a:r>
              <a:t>Thinner socket: approximately 5.375 in OD</a:t>
            </a:r>
          </a:p>
          <a:p>
            <a:r>
              <a:t>Thicker socket: approximately 5.875 in OD (introduced into production circa 2022)</a:t>
            </a:r>
          </a:p>
          <a:p>
            <a:r>
              <a:t>Key findings to date:</a:t>
            </a:r>
          </a:p>
          <a:p>
            <a:r>
              <a:t>All reviewed socket failures have involved the thicker (≈5.875 in OD) socket variant.</a:t>
            </a:r>
          </a:p>
          <a:p>
            <a:r>
              <a:t>Failures occurred exclusively while working on the inner riser bolt circle.</a:t>
            </a:r>
          </a:p>
          <a:p>
            <a:r>
              <a:t>The inner bolt circle spot-bore is approximately 6.0 in, leaving minimal radial clearance.</a:t>
            </a:r>
          </a:p>
          <a:p>
            <a:r>
              <a:t>Under high load, normal tool and socket deflection can cause interference between thicker sockets and the spot-bore, resulting in bending stresses, cracking, and socket failure.</a:t>
            </a:r>
          </a:p>
          <a:p>
            <a:endParaRPr/>
          </a:p>
          <a:p>
            <a:r>
              <a:t>MANDATORY FLEET REQUIREMENTS</a:t>
            </a:r>
          </a:p>
          <a:p>
            <a:r>
              <a:t>The following requirements SHALL be implemented and enforced on all rigs:</a:t>
            </a:r>
          </a:p>
          <a:p>
            <a:r>
              <a:t>Thicker drive sockets (≈5.875 in OD) SHALL NOT be used on the riser INNER bolt circle under any circumstances.</a:t>
            </a:r>
          </a:p>
          <a:p>
            <a:r>
              <a:t>If only thicker sockets are available currently onboard, a Hytorc wrench shall be used for initial breaking if inner bolts. If the correct Hytorc isn’t available currently onboard, please contact TSC Well Control Equipment group for assistance.</a:t>
            </a:r>
          </a:p>
          <a:p>
            <a:r>
              <a:t>Thicker drive sockets SHALL only be used on OUTER riser bolt circles, where sufficient clearance exists.</a:t>
            </a:r>
          </a:p>
          <a:p>
            <a:r>
              <a:t>For inner bolt circle operations, rigs SHALL use thinner socket variants (≈5.375 in OD).</a:t>
            </a:r>
          </a:p>
          <a:p>
            <a:r>
              <a:t>Tool selection SHALL be positively verified prior to riser bolt make-up or break-out activities.</a:t>
            </a:r>
          </a:p>
          <a:p>
            <a:r>
              <a:t>Any uncertainty regarding socket type, suitability, or clearance SHALL be escalated to Technical Services prior to use.</a:t>
            </a:r>
          </a:p>
          <a:p>
            <a:r>
              <a:t>Verify the Rig’s ICCP system is working properly as well as investigate and document onboard ground faults. TSC Electric department to be included in investigation.</a:t>
            </a:r>
          </a:p>
          <a:p>
            <a:r>
              <a:t>Perform a BOP cathodic protection survey as per AX061682 and verify the BOPs have their anodes installed per the latest anode mapping. TSC BOP controls to be included in investigation.</a:t>
            </a:r>
          </a:p>
          <a:p>
            <a:r>
              <a:t>NDE the drive sockets for cracks before each Riser run or pull. This requirement has been added to the BWM PM.</a:t>
            </a:r>
          </a:p>
          <a:p>
            <a:r>
              <a:t>Failure to comply with the above requirements may result in equipment damage and increased safety risk.</a:t>
            </a:r>
          </a:p>
          <a:p>
            <a:endParaRPr/>
          </a:p>
          <a:p>
            <a:r>
              <a:t>Next Steps and Formalization</a:t>
            </a:r>
          </a:p>
          <a:p>
            <a:r>
              <a:t>TSC is working with the OEM to turn down the existing thicker sockets and resolve the solution ASAP. TSC has also worked with the OEM to qualify revised socket designs and materials that maintain structural capacity while eliminating clearance-related failure modes.</a:t>
            </a:r>
          </a:p>
          <a:p>
            <a:r>
              <a:t>GOA / African Region rigs: Sockets to be sent back to Power Tork to be machined down free of charge.</a:t>
            </a:r>
          </a:p>
          <a:p>
            <a:r>
              <a:t>Brazilian Region: Sockets shall be sent to VRV in Macae' to be machined down with a cost of R$ 2.628,00 per socket. This is due to the import duty upon the sockets returning to Brazil if sent back to the manufacturer for machining. If any Brazil rigs opt to purchase new sockets, Clover has agreed to a 25% discount ($2,100 USD) to help alleviate part of the import duty.</a:t>
            </a:r>
          </a:p>
          <a:p>
            <a:endParaRPr/>
          </a:p>
          <a:p>
            <a:r>
              <a:t>Interpretation notes: The relative date “last year” remains as supplied. The parenthetical “$2,100 USD” remains as quoted, without interpreting whether this denotes the discounted price or the discount amount. The slide does not replace the controlled instruction. Earlier report slides retain their historical recommendations. This AAB supplies the more specific inner/outer bolt-circle restrictions described above.</a:t>
            </a:r>
          </a:p>
          <a:p>
            <a:r>
              <a:t>[Sources]</a:t>
            </a:r>
          </a:p>
          <a:p>
            <a:r>
              <a:t>User-provided AAB C10247907 comments, 2 October 2026.</a:t>
            </a:r>
          </a:p>
          <a:p>
            <a:r>
              <a:t>[/Sources]</a:t>
            </a:r>
          </a:p>
          <a:p>
            <a:endParaRPr lang="en-US"/>
          </a:p>
          <a:p>
            <a:r>
              <a:rPr lang="en-US"/>
              <a:t>SUPPLIED TECHNICAL DIAGRAM</a:t>
            </a:r>
          </a:p>
          <a:p>
            <a:r>
              <a:rPr lang="en-US"/>
              <a:t>User supplied image.png on 2 October 2026 for placement on slide 5. Image retained in full without cropping or distortion. It describes elastic stretch at the front radius of the drive and body plates, replacement where permanent hole deformation exceeds 0.010 in, and measurement/reporting guide eDOCS 11242619. Diagram is reproduced as supplied, not generated or redrawn. It provides supplementary inspection detail alongside AAB socket-selection restrictions.</a:t>
            </a:r>
          </a:p>
          <a:p>
            <a:r>
              <a:rPr lang="en-US"/>
              <a:t>[Sources]</a:t>
            </a:r>
          </a:p>
          <a:p>
            <a:r>
              <a:rPr lang="en-US"/>
              <a:t>User-supplied image.png, received 2 October 2026, Conclusion / front-radius measurement diagram.</a:t>
            </a:r>
          </a:p>
          <a:p>
            <a:r>
              <a:rPr lang="en-US"/>
              <a:t>[/Sources]</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User-supplied image.png received 2 October 2026, Power Tork Torque Tool Measurement Analysis Chart. Full supplied image preserved without cropping. The shown 3.693 and 4.440 values are nominal examples, not vessel submissions. Instructions call for measurements 90 degrees apart and entry into ØA/ØB cells. Green means sufficient dimensions and red calls for component replacement. Template headings specify ±0.010 in. AAB/report text elsewhere uses permanent deformation exceeding 0.010 in. Do not use this slide as independent equipment certification.</a:t>
            </a:r>
          </a:p>
          <a:p>
            <a:r>
              <a:t>[Sources]</a:t>
            </a:r>
          </a:p>
          <a:p>
            <a:r>
              <a:t>User-provided measurement example image, 2 October 2026. AAB C10247907 user-provided comments.</a:t>
            </a:r>
          </a:p>
          <a:p>
            <a:r>
              <a:t>[/Sources]</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rPr lang="en-US"/>
              <a:t>CONSOLIDATED SELECTED VESSEL RESULTS</a:t>
            </a:r>
          </a:p>
          <a:p>
            <a:r>
              <a:rPr lang="en-US"/>
              <a:t>All eight vessel entries and all selected dimension values from former slides 7 and 8 remain on this slide. Plate means drive plate. BO means break-out. MU means make-up. Dimensions remain in source column order. Workbook Good labels are qualified by concessions, low readings and remeasurement requests, and do not certify current serviceability.</a:t>
            </a:r>
          </a:p>
          <a:p>
            <a:endParaRPr lang="en-US"/>
          </a:p>
          <a:p>
            <a:r>
              <a:rPr lang="en-US"/>
              <a:t>ORIGINAL ON-SLIDE CONTENT</a:t>
            </a:r>
          </a:p>
          <a:p>
            <a:r>
              <a:rPr lang="en-US"/>
              <a:t>Vessel / selected tool | Submitted measurements | Workbook disposition / follow-up</a:t>
            </a:r>
          </a:p>
          <a:p>
            <a:r>
              <a:rPr lang="en-US"/>
              <a:t>West Polaris</a:t>
            </a:r>
          </a:p>
          <a:p>
            <a:r>
              <a:rPr lang="en-US"/>
              <a:t>Tool 1 | Drive plate break-out:</a:t>
            </a:r>
          </a:p>
          <a:p>
            <a:r>
              <a:rPr lang="en-US"/>
              <a:t>3.745 / 3.662 / 3.700 | Drive plates: Replace.</a:t>
            </a:r>
          </a:p>
          <a:p>
            <a:r>
              <a:rPr lang="en-US"/>
              <a:t>Tool 2 body also marked Replace.</a:t>
            </a:r>
          </a:p>
          <a:p>
            <a:r>
              <a:rPr lang="en-US"/>
              <a:t>Quenguela</a:t>
            </a:r>
          </a:p>
          <a:p>
            <a:r>
              <a:rPr lang="en-US"/>
              <a:t>C154033C599 | Body make-up: 4.446 / 4.453 / 4.454</a:t>
            </a:r>
          </a:p>
          <a:p>
            <a:r>
              <a:rPr lang="en-US"/>
              <a:t>Plate make-up: 3.707 / 3.706 / 3.702 | Body and drive plates: Replace.</a:t>
            </a:r>
          </a:p>
          <a:p>
            <a:r>
              <a:rPr lang="en-US"/>
              <a:t>Other records include a reading/status conflict.</a:t>
            </a:r>
          </a:p>
          <a:p>
            <a:r>
              <a:rPr lang="en-US"/>
              <a:t>West Tellus</a:t>
            </a:r>
          </a:p>
          <a:p>
            <a:r>
              <a:rPr lang="en-US"/>
              <a:t>Red tool | Body break-out:</a:t>
            </a:r>
          </a:p>
          <a:p>
            <a:r>
              <a:rPr lang="en-US"/>
              <a:t>4.465 / 4.447 / 4.472 | Body and drive plates: Replace.</a:t>
            </a:r>
          </a:p>
          <a:p>
            <a:r>
              <a:rPr lang="en-US"/>
              <a:t>Workbook says remove the Red tool from service now.</a:t>
            </a:r>
          </a:p>
          <a:p>
            <a:r>
              <a:rPr lang="en-US"/>
              <a:t>West Carina</a:t>
            </a:r>
          </a:p>
          <a:p>
            <a:r>
              <a:rPr lang="en-US"/>
              <a:t>First Green entry | Body break-out: 4.455 / 4.452 / 4.456</a:t>
            </a:r>
          </a:p>
          <a:p>
            <a:r>
              <a:rPr lang="en-US"/>
              <a:t>Plate break-out: 3.706 / 3.708 / 3.706 | Body and drive plates: Replace.</a:t>
            </a:r>
          </a:p>
          <a:p>
            <a:r>
              <a:rPr lang="en-US"/>
              <a:t>Workbook says replace all parts as soon as possible.</a:t>
            </a:r>
          </a:p>
          <a:p>
            <a:r>
              <a:rPr lang="en-US"/>
              <a:t>Vessel / selected tool | Submitted measurements | Workbook disposition / follow-up</a:t>
            </a:r>
          </a:p>
          <a:p>
            <a:r>
              <a:rPr lang="en-US"/>
              <a:t>West Auriga</a:t>
            </a:r>
          </a:p>
          <a:p>
            <a:r>
              <a:rPr lang="en-US"/>
              <a:t>Tools 2 and 3 | Tool 2 plate break-out:</a:t>
            </a:r>
          </a:p>
          <a:p>
            <a:r>
              <a:rPr lang="en-US"/>
              <a:t>3.703 / 3.707 / 3.711 | Tool 2 marked Good with tolerance concession / backup advice. Tool 3 plates: Replace.</a:t>
            </a:r>
          </a:p>
          <a:p>
            <a:r>
              <a:rPr lang="en-US"/>
              <a:t>Libongos</a:t>
            </a:r>
          </a:p>
          <a:p>
            <a:r>
              <a:rPr lang="en-US"/>
              <a:t>Tool 3 | Body break-out:</a:t>
            </a:r>
          </a:p>
          <a:p>
            <a:r>
              <a:rPr lang="en-US"/>
              <a:t>4.446 / 4.451 / 4.437 | Body marked Good with a 0.001 in concession. Recheck after each run. Drive plates: Replace.</a:t>
            </a:r>
          </a:p>
          <a:p>
            <a:r>
              <a:rPr lang="en-US"/>
              <a:t>West Jupiter</a:t>
            </a:r>
          </a:p>
          <a:p>
            <a:r>
              <a:rPr lang="en-US"/>
              <a:t>Black tool | Plate break-out:</a:t>
            </a:r>
          </a:p>
          <a:p>
            <a:r>
              <a:rPr lang="en-US"/>
              <a:t>3.684 / 3.676 / 3.686 | Drive plates marked Good, but workbook requests remeasurement of low readings.</a:t>
            </a:r>
          </a:p>
          <a:p>
            <a:r>
              <a:rPr lang="en-US"/>
              <a:t>West Saturn</a:t>
            </a:r>
          </a:p>
          <a:p>
            <a:r>
              <a:rPr lang="en-US"/>
              <a:t>Tool 1 | Body break-out:</a:t>
            </a:r>
          </a:p>
          <a:p>
            <a:r>
              <a:rPr lang="en-US"/>
              <a:t>4.408 / 4.438 / 4.438 | Body and plates marked Good, but workbook requests repeat measurements. Other tools also need rechecks.</a:t>
            </a:r>
          </a:p>
          <a:p>
            <a:endParaRPr lang="en-US"/>
          </a:p>
          <a:p>
            <a:r>
              <a:rPr lang="en-US"/>
              <a:t>PRESERVED SUPPORTING NOTES</a:t>
            </a:r>
          </a:p>
          <a:p>
            <a:r>
              <a:t>Selected examples, not a fleet-wide pass/fail assessment. Workbook dispositions are reproduced as source labels and do not establish current serviceability or completed actions. H/V/A means Horizontal/Vertical/Angle, except the W. Polaris sheet labels both C and D as Vertical. This slide selects one or more pertinent records from each named vessel. Source filename date retained as written, without assuming day/month interpretation.</a:t>
            </a:r>
          </a:p>
          <a:p>
            <a:endParaRPr/>
          </a:p>
          <a:p>
            <a:r>
              <a:t>WORKSHEET: W. Polaris</a:t>
            </a:r>
          </a:p>
          <a:p>
            <a:r>
              <a:t>A1: West Polaris</a:t>
            </a:r>
          </a:p>
          <a:p>
            <a:r>
              <a:t>A3: Tool 1 | B3: Horizontal | C3: Vertical | D3: Vertical</a:t>
            </a:r>
          </a:p>
          <a:p>
            <a:r>
              <a:t>A4: Tool Body | E4: Good</a:t>
            </a:r>
          </a:p>
          <a:p>
            <a:r>
              <a:t>A5: Break Out | B5: 4.444 | C5: 4.447 | D5: 4.444</a:t>
            </a:r>
          </a:p>
          <a:p>
            <a:r>
              <a:t>A6: Make Up | B6: 4.446 | C6: 4.444 | D6: 4.445</a:t>
            </a:r>
          </a:p>
          <a:p>
            <a:r>
              <a:t>A7: Drive Plates | E7: Replace</a:t>
            </a:r>
          </a:p>
          <a:p>
            <a:r>
              <a:t>A8: Break Out | B8: 3.745 | C8: 3.662 | D8: 3.7</a:t>
            </a:r>
          </a:p>
          <a:p>
            <a:r>
              <a:t>A9: Make Up | B9: 3.695 | C9: 3.68 | D9: 3.684</a:t>
            </a:r>
          </a:p>
          <a:p>
            <a:r>
              <a:t>A11: Tool 2</a:t>
            </a:r>
          </a:p>
          <a:p>
            <a:r>
              <a:t>A12: Tool body | E12: Replace</a:t>
            </a:r>
          </a:p>
          <a:p>
            <a:r>
              <a:t>A13: Break Out | B13: 4.449 | C13: 4.444 | D13: 4.443</a:t>
            </a:r>
          </a:p>
          <a:p>
            <a:r>
              <a:t>A14: Make Up | B14: 4.453 | C14: 4.448 | D14: 4.454</a:t>
            </a:r>
          </a:p>
          <a:p>
            <a:r>
              <a:t>A15: Drive Plates | E15: Good</a:t>
            </a:r>
          </a:p>
          <a:p>
            <a:r>
              <a:t>A16: Break Out | B16: 3.7 | C16: 3.697 | D16: 3.7</a:t>
            </a:r>
          </a:p>
          <a:p>
            <a:r>
              <a:t>A17: Make Up | B17: 3.7 | C17: 3.695 | D17: 3.695</a:t>
            </a:r>
          </a:p>
          <a:p>
            <a:r>
              <a:t>A19: Tool 5</a:t>
            </a:r>
          </a:p>
          <a:p>
            <a:r>
              <a:t>A20: Tool Body | E20: Good</a:t>
            </a:r>
          </a:p>
          <a:p>
            <a:r>
              <a:t>A21: Break Out | B21: 4.444 | C21: 4.44 | D21: 4.435</a:t>
            </a:r>
          </a:p>
          <a:p>
            <a:r>
              <a:t>A22: Make Up | B22: 4.44 | C22: 4.434 | D22: 4.442</a:t>
            </a:r>
          </a:p>
          <a:p>
            <a:r>
              <a:t>A23: Drive plates | E23: Good</a:t>
            </a:r>
          </a:p>
          <a:p>
            <a:r>
              <a:t>A24: Break Out | B24: 3.7 | C24: 3.7 | D24: 3.691</a:t>
            </a:r>
          </a:p>
          <a:p>
            <a:r>
              <a:t>A25: Make Up | B25: 3.7 | C25: 3.7 | D25: 3.695</a:t>
            </a:r>
          </a:p>
          <a:p>
            <a:r>
              <a:t>WORKSHEET: Quenguela</a:t>
            </a:r>
          </a:p>
          <a:p>
            <a:r>
              <a:t>A1: Quenguela</a:t>
            </a:r>
          </a:p>
          <a:p>
            <a:r>
              <a:t>A3: C154033C599 | B3: Horizontal | C3: Vertical | D3: Angle</a:t>
            </a:r>
          </a:p>
          <a:p>
            <a:r>
              <a:t>A4: Tool Body | E4: Replace</a:t>
            </a:r>
          </a:p>
          <a:p>
            <a:r>
              <a:t>A5: Break Out | B5: 4.442 | C5: 4.44 | D5: 4.447</a:t>
            </a:r>
          </a:p>
          <a:p>
            <a:r>
              <a:t>A6: Make Up | B6: 4.446 | C6: 4.453 | D6: 4.454</a:t>
            </a:r>
          </a:p>
          <a:p>
            <a:r>
              <a:t>A7: Drive Plates | E7: Replace</a:t>
            </a:r>
          </a:p>
          <a:p>
            <a:r>
              <a:t>A8: Break Out | B8: 3.704 | C8: 3.705 | D8: 3.704</a:t>
            </a:r>
          </a:p>
          <a:p>
            <a:r>
              <a:t>A9: Make Up | B9: 3.707 | C9: 3.706 | D9: 3.702</a:t>
            </a:r>
          </a:p>
          <a:p>
            <a:r>
              <a:t>A11: 224033C012</a:t>
            </a:r>
          </a:p>
          <a:p>
            <a:r>
              <a:t>A12: Tool Body | E12: Good</a:t>
            </a:r>
          </a:p>
          <a:p>
            <a:r>
              <a:t>A13: Break Out | B13: 4.44 | C13: 4.442 | D13: 4.443</a:t>
            </a:r>
          </a:p>
          <a:p>
            <a:r>
              <a:t>A14: Make Up  | B14: 4.44 | C14: 4.444 | D14: 4.444</a:t>
            </a:r>
          </a:p>
          <a:p>
            <a:r>
              <a:t>A15: Drive Plates | E15: Good</a:t>
            </a:r>
          </a:p>
          <a:p>
            <a:r>
              <a:t>A16: Break Out | B16: 3.691 | C16: 3.695 | D16: 3.691</a:t>
            </a:r>
          </a:p>
          <a:p>
            <a:r>
              <a:t>A17: Make Up  | B17: 3.694 | C17: 3.692 | D17: 3.692</a:t>
            </a:r>
          </a:p>
          <a:p>
            <a:r>
              <a:t>A19: K144033C565</a:t>
            </a:r>
          </a:p>
          <a:p>
            <a:r>
              <a:t>A20: Tool Body | E20: Good</a:t>
            </a:r>
          </a:p>
          <a:p>
            <a:r>
              <a:t>A21: Break Out | B21: 4.443 | C21: 4.445 | D21: 4.439</a:t>
            </a:r>
          </a:p>
          <a:p>
            <a:r>
              <a:t>A22: Make Up | B22: 4.449 | C22: 4.443 | D22: 4.442</a:t>
            </a:r>
          </a:p>
          <a:p>
            <a:r>
              <a:t>A23: Drive Plates | E23: Good</a:t>
            </a:r>
          </a:p>
          <a:p>
            <a:r>
              <a:t>A24: Break Out | B24: 3.703 | C24: 3.798 | D24: 3.701</a:t>
            </a:r>
          </a:p>
          <a:p>
            <a:r>
              <a:t>A25: Make Up | B25: 3.702 | C25: 3.702 | D25: 3.699</a:t>
            </a:r>
          </a:p>
          <a:p>
            <a:r>
              <a:t>A27: H214033C700</a:t>
            </a:r>
          </a:p>
          <a:p>
            <a:r>
              <a:t>A28: Tool Body | E28: Replace</a:t>
            </a:r>
          </a:p>
          <a:p>
            <a:r>
              <a:t>A29: Break Out | B29: 4.447 | C29: 4.449 | D29: 4.447</a:t>
            </a:r>
          </a:p>
          <a:p>
            <a:r>
              <a:t>A30: Make Up  | B30: 4.453 | C30: 4.445 | D30: 4.44</a:t>
            </a:r>
          </a:p>
          <a:p>
            <a:r>
              <a:t>A31: Drive Plates | E31: Good</a:t>
            </a:r>
          </a:p>
          <a:p>
            <a:r>
              <a:t>A32: Break Out | B32: 3.692 | C32: 3.695 | D32: 3.693</a:t>
            </a:r>
          </a:p>
          <a:p>
            <a:r>
              <a:t>A33: Make Up  | B33: 3.695 | C33: 3.692 | D33: 3.693</a:t>
            </a:r>
          </a:p>
          <a:p>
            <a:r>
              <a:t>WORKSHEET: West Tellus</a:t>
            </a:r>
          </a:p>
          <a:p>
            <a:r>
              <a:t>A1: West Tellus</a:t>
            </a:r>
          </a:p>
          <a:p>
            <a:r>
              <a:t>A3: Black | B3: Horizontal | C3: Vertical | D3: Angle</a:t>
            </a:r>
          </a:p>
          <a:p>
            <a:r>
              <a:t>A4: Tool Body | E4: Good</a:t>
            </a:r>
          </a:p>
          <a:p>
            <a:r>
              <a:t>A5: Break Out | B5: 4.447 | C5: 4.437 | D5: 4.436</a:t>
            </a:r>
          </a:p>
          <a:p>
            <a:r>
              <a:t>A6: Make Up  | B6: 4.436 | C6: 4.416 | D6: 4.44</a:t>
            </a:r>
          </a:p>
          <a:p>
            <a:r>
              <a:t>A7: Drive Plates | E7: Replace</a:t>
            </a:r>
          </a:p>
          <a:p>
            <a:r>
              <a:t>A8: Break Out | B8: 3.717 | C8: 3.711 | D8: 3.698</a:t>
            </a:r>
          </a:p>
          <a:p>
            <a:r>
              <a:t>A9: Make Up  | B9: 3.714 | C9: 3.706 | D9: 3.725</a:t>
            </a:r>
          </a:p>
          <a:p>
            <a:r>
              <a:t>A11: On the Make Up side of the Tool Body the measurement is 4.416.</a:t>
            </a:r>
          </a:p>
          <a:p>
            <a:r>
              <a:t>A12: This is smaller than the hub of the gear.  I put good on the body</a:t>
            </a:r>
          </a:p>
          <a:p>
            <a:r>
              <a:t>A13: because all of the other measurements are good.  Next time </a:t>
            </a:r>
          </a:p>
          <a:p>
            <a:r>
              <a:t>A14: you service the tool please measure that one again just to make sure.</a:t>
            </a:r>
          </a:p>
          <a:p>
            <a:r>
              <a:t>A16: Blue</a:t>
            </a:r>
          </a:p>
          <a:p>
            <a:r>
              <a:t>A17: Tool Body | E17: Good</a:t>
            </a:r>
          </a:p>
          <a:p>
            <a:r>
              <a:t>A18: Break Out | B18: 4.43 | C18: 4.42 | D18: 4.44</a:t>
            </a:r>
          </a:p>
          <a:p>
            <a:r>
              <a:t>A19: Make Up | B19: 4.434 | C19: 4.42 | D19: 4.44</a:t>
            </a:r>
          </a:p>
          <a:p>
            <a:r>
              <a:t>A20: Drive Plates | E20: Replace</a:t>
            </a:r>
          </a:p>
          <a:p>
            <a:r>
              <a:t>A21: Break Out | B21: 3.718 | C21: 3.708 | D21: 3.711</a:t>
            </a:r>
          </a:p>
          <a:p>
            <a:r>
              <a:t>A22: Make Up | B22: 3.718 | C22: 3.707 | D22: 3.725</a:t>
            </a:r>
          </a:p>
          <a:p>
            <a:r>
              <a:t>A24: Yellow</a:t>
            </a:r>
          </a:p>
          <a:p>
            <a:r>
              <a:t>A25: Tool Body | E25: Replace</a:t>
            </a:r>
          </a:p>
          <a:p>
            <a:r>
              <a:t>A26: Break Out | B26: 4.445 | C26: 4.453 | D26: 4.453</a:t>
            </a:r>
          </a:p>
          <a:p>
            <a:r>
              <a:t>A27: Make Up | B27: 4.45 | C27: 4.453 | D27: 4.444</a:t>
            </a:r>
          </a:p>
          <a:p>
            <a:r>
              <a:t>A28: Drive Plates | E28: Replace</a:t>
            </a:r>
          </a:p>
          <a:p>
            <a:r>
              <a:t>A29: Break Out | B29: 3.372 | C29: 3.709 | D29: 3.69</a:t>
            </a:r>
          </a:p>
          <a:p>
            <a:r>
              <a:t>A30: Make Up | B30: 3.732 | C30: 3.71 | D30: 3.693</a:t>
            </a:r>
          </a:p>
          <a:p>
            <a:r>
              <a:t>A32: Red</a:t>
            </a:r>
          </a:p>
          <a:p>
            <a:r>
              <a:t>A33: Tool Body | E33: Replace</a:t>
            </a:r>
          </a:p>
          <a:p>
            <a:r>
              <a:t>A34: Break Out | B34: 4.465 | C34: 4.447 | D34: 4.472</a:t>
            </a:r>
          </a:p>
          <a:p>
            <a:r>
              <a:t>A35: Make Up | B35: 4.459 | C35: 4.446 | D35: 4.445</a:t>
            </a:r>
          </a:p>
          <a:p>
            <a:r>
              <a:t>A36: Drive Plates | E36: Replace</a:t>
            </a:r>
          </a:p>
          <a:p>
            <a:r>
              <a:t>A37: Break Out | B37: 3.72 | C37: 3.685 | D37: 3.698</a:t>
            </a:r>
          </a:p>
          <a:p>
            <a:r>
              <a:t>A38: Make Up | B38: 3.717 | C38: 3.7 | D38: 3.698</a:t>
            </a:r>
          </a:p>
          <a:p>
            <a:r>
              <a:t>A40: The measurements on this Red Tool are so out of tolerance it </a:t>
            </a:r>
          </a:p>
          <a:p>
            <a:r>
              <a:t>A41: should be taken out of service now.</a:t>
            </a:r>
          </a:p>
          <a:p>
            <a:r>
              <a:t>WORKSHEET: West Carina</a:t>
            </a:r>
          </a:p>
          <a:p>
            <a:r>
              <a:t>A1: West Carina</a:t>
            </a:r>
          </a:p>
          <a:p>
            <a:r>
              <a:t>A3: Green  | B3: Horizontal | C3: Vertical | D3: Angle</a:t>
            </a:r>
          </a:p>
          <a:p>
            <a:r>
              <a:t>A4: Tool body | E4: Replace</a:t>
            </a:r>
          </a:p>
          <a:p>
            <a:r>
              <a:t>A5: Break Out | B5: 4.455 | C5: 4.452 | D5: 4.456</a:t>
            </a:r>
          </a:p>
          <a:p>
            <a:r>
              <a:t>A6: Make Up</a:t>
            </a:r>
          </a:p>
          <a:p>
            <a:r>
              <a:t>A7: Drive Plates | E7: Replace</a:t>
            </a:r>
          </a:p>
          <a:p>
            <a:r>
              <a:t>A8: Break Out | B8: 3.706 | C8: 3.708 | D8: 3.706</a:t>
            </a:r>
          </a:p>
          <a:p>
            <a:r>
              <a:t>A9: Make Up</a:t>
            </a:r>
          </a:p>
          <a:p>
            <a:r>
              <a:t>A11: Green  | B11: Horizontal | C11: Vertical | D11: Angle</a:t>
            </a:r>
          </a:p>
          <a:p>
            <a:r>
              <a:t>A12: Tool body | E12: Replace</a:t>
            </a:r>
          </a:p>
          <a:p>
            <a:r>
              <a:t>A13: Break Out | B13: 4.452 | C13: 4.454 | D13: 4.456</a:t>
            </a:r>
          </a:p>
          <a:p>
            <a:r>
              <a:t>A14: Make Up | E14: Replace</a:t>
            </a:r>
          </a:p>
          <a:p>
            <a:r>
              <a:t>A15: Drive Plates | B15: 3.709 | C15: 3.711 | D15: 3.711</a:t>
            </a:r>
          </a:p>
          <a:p>
            <a:r>
              <a:t>A16: Break Out</a:t>
            </a:r>
          </a:p>
          <a:p>
            <a:r>
              <a:t>A17: Make Up</a:t>
            </a:r>
          </a:p>
          <a:p>
            <a:r>
              <a:t>A19: Red | B19: Horizontal | C19: Vertical | D19: Angle</a:t>
            </a:r>
          </a:p>
          <a:p>
            <a:r>
              <a:t>A20: Tool body | E20: Replace</a:t>
            </a:r>
          </a:p>
          <a:p>
            <a:r>
              <a:t>A21: Break Out | B21: 4.447 | C21: 4.452 | D21: 4.457</a:t>
            </a:r>
          </a:p>
          <a:p>
            <a:r>
              <a:t>A22: Make Up | E22: Replace</a:t>
            </a:r>
          </a:p>
          <a:p>
            <a:r>
              <a:t>A23: Drive Plates | B23: 3.707 | C23: 3.7 | D23: 3.709</a:t>
            </a:r>
          </a:p>
          <a:p>
            <a:r>
              <a:t>A24: Break Out</a:t>
            </a:r>
          </a:p>
          <a:p>
            <a:r>
              <a:t>A25: Make Up</a:t>
            </a:r>
          </a:p>
          <a:p>
            <a:r>
              <a:t>A27: All parts should be replaced as soon as you can</a:t>
            </a:r>
            <a:r>
              <a:rPr lang="en-US"/>
              <a:t>.</a:t>
            </a:r>
          </a:p>
          <a:p>
            <a:endParaRPr lang="en-US"/>
          </a:p>
          <a:p>
            <a:r>
              <a:rPr lang="en-US"/>
              <a:t>Cautions: “Good” labels can conflict with recorded measurements or include concessions and remeasurement instructions. These are historical workbook judgments, not approval to bypass mandatory AAB controls. Quenguela K144033C565 has drive plate C24=3.798 with a Good label. West Auriga Tool 2 and Libongos Tool 3 include explicit tolerance concessions. West Tellus and other sheets contain low or unusual readings requiring confirmation. The workbook contains eight vessel worksheets and no West Neptune sheet.</a:t>
            </a:r>
          </a:p>
          <a:p>
            <a:r>
              <a:rPr lang="en-US"/>
              <a:t>[Sources]</a:t>
            </a:r>
          </a:p>
          <a:p>
            <a:r>
              <a:rPr lang="en-US"/>
              <a:t>https://sdrl-my.sharepoint.com/personal/lee_arnold_seadrill_com/Documents/Documents/Copilot/Riser%20Torque%20Tools/Clover%20Reports/Seadrill%20Measurements%2003-09-2026.xlsx</a:t>
            </a:r>
          </a:p>
          <a:p>
            <a:r>
              <a:rPr lang="en-US"/>
              <a:t>Microsoft Graph source entity: graph_drive_item_06314849. Worksheet/cell values reproduced above.</a:t>
            </a:r>
          </a:p>
          <a:p>
            <a:r>
              <a:rPr lang="en-US"/>
              <a:t>[/Sources]</a:t>
            </a:r>
          </a:p>
          <a:p>
            <a:endParaRPr lang="en-US"/>
          </a:p>
          <a:p>
            <a:r>
              <a:rPr lang="en-US"/>
              <a:t>Selected examples, not a fleet-wide pass/fail assessment. Workbook dispositions are reproduced as source labels and do not establish current serviceability or completed actions. H/V/A means Horizontal/Vertical/Angle, except the W. Polaris sheet labels both C and D as Vertical. This slide selects one or more pertinent records from each named vessel. Source filename date retained as written, without assuming day/month interpretation.</a:t>
            </a:r>
          </a:p>
          <a:p>
            <a:endParaRPr lang="en-US"/>
          </a:p>
          <a:p>
            <a:r>
              <a:rPr lang="en-US"/>
              <a:t>WORKSHEET: West Auriga</a:t>
            </a:r>
          </a:p>
          <a:p>
            <a:r>
              <a:rPr lang="en-US"/>
              <a:t>A1: West Auriga</a:t>
            </a:r>
          </a:p>
          <a:p>
            <a:r>
              <a:rPr lang="en-US"/>
              <a:t>A3: Tool 1</a:t>
            </a:r>
          </a:p>
          <a:p>
            <a:r>
              <a:rPr lang="en-US"/>
              <a:t>A4: Tool Body | B4: Horizontal | C4: vertical | D4: Angle | E4: Good</a:t>
            </a:r>
          </a:p>
          <a:p>
            <a:r>
              <a:rPr lang="en-US"/>
              <a:t>A5: Break Out | B5: 4.444 | C5: 4.439 | D5: 4.427</a:t>
            </a:r>
          </a:p>
          <a:p>
            <a:r>
              <a:rPr lang="en-US"/>
              <a:t>A6: Make Up | B6: 4.439 | C6: 4.415 | D6: 4.439</a:t>
            </a:r>
          </a:p>
          <a:p>
            <a:r>
              <a:rPr lang="en-US"/>
              <a:t>A7: Drive plates | E7: Good</a:t>
            </a:r>
          </a:p>
          <a:p>
            <a:r>
              <a:rPr lang="en-US"/>
              <a:t>A8: Break Out | B8: 3.69 | C8: 3.702 | D8: 3.672</a:t>
            </a:r>
          </a:p>
          <a:p>
            <a:r>
              <a:rPr lang="en-US"/>
              <a:t>A9: Make Up | B9: 3.702 | C9: 3.698 | D9: 3.693</a:t>
            </a:r>
          </a:p>
          <a:p>
            <a:r>
              <a:rPr lang="en-US"/>
              <a:t>A11: The measurements on the drive plates are very close to 0.010" out. </a:t>
            </a:r>
          </a:p>
          <a:p>
            <a:r>
              <a:rPr lang="en-US"/>
              <a:t>A12: You need to check these after the next riser run to make sure they are </a:t>
            </a:r>
          </a:p>
          <a:p>
            <a:r>
              <a:rPr lang="en-US"/>
              <a:t>A13: still good.</a:t>
            </a:r>
          </a:p>
          <a:p>
            <a:r>
              <a:rPr lang="en-US"/>
              <a:t>A15: Tool 2</a:t>
            </a:r>
          </a:p>
          <a:p>
            <a:r>
              <a:rPr lang="en-US"/>
              <a:t>A16: Tool Body | E16: Good</a:t>
            </a:r>
          </a:p>
          <a:p>
            <a:r>
              <a:rPr lang="en-US"/>
              <a:t>A17: Break Out | B17: 4.451 | C17: 4.423 | D17: 4.44</a:t>
            </a:r>
          </a:p>
          <a:p>
            <a:r>
              <a:rPr lang="en-US"/>
              <a:t>A18: Make up | B18: 4.444 | C18: 4.436 | D18: 4.439</a:t>
            </a:r>
          </a:p>
          <a:p>
            <a:r>
              <a:rPr lang="en-US"/>
              <a:t>A19: Drive Plates | E19: Good</a:t>
            </a:r>
          </a:p>
          <a:p>
            <a:r>
              <a:rPr lang="en-US"/>
              <a:t>A20: Break Out | B20: 3.703 | C20: 3.707 | D20: 3.711</a:t>
            </a:r>
          </a:p>
          <a:p>
            <a:r>
              <a:rPr lang="en-US"/>
              <a:t>A21: Make up | B21: 3.711 | C21: 3.701 | D21: 3.691</a:t>
            </a:r>
          </a:p>
          <a:p>
            <a:r>
              <a:rPr lang="en-US"/>
              <a:t>A23: The tool body is 0.010" over.  I let that go.  You only have three tools.  </a:t>
            </a:r>
          </a:p>
          <a:p>
            <a:r>
              <a:rPr lang="en-US"/>
              <a:t>A24: The drive plates are only 0.002" from being out of tolerance.  You need to keep </a:t>
            </a:r>
          </a:p>
          <a:p>
            <a:r>
              <a:rPr lang="en-US"/>
              <a:t>A25: a good eye on this one.  This tool is so close to the tolerance I would use it as  </a:t>
            </a:r>
          </a:p>
          <a:p>
            <a:r>
              <a:rPr lang="en-US"/>
              <a:t>A26: the back up.</a:t>
            </a:r>
          </a:p>
          <a:p>
            <a:r>
              <a:rPr lang="en-US"/>
              <a:t>A28: Tool 3</a:t>
            </a:r>
          </a:p>
          <a:p>
            <a:r>
              <a:rPr lang="en-US"/>
              <a:t>A29: Tool Body | E29: Good</a:t>
            </a:r>
          </a:p>
          <a:p>
            <a:r>
              <a:rPr lang="en-US"/>
              <a:t>A30: Break Out | B30: 4.44 | C30: 4.422 | D30: 4.431</a:t>
            </a:r>
          </a:p>
          <a:p>
            <a:r>
              <a:rPr lang="en-US"/>
              <a:t>A31: Make Up | B31: 4.439 | C31: 4.411 | D31: 4.441</a:t>
            </a:r>
          </a:p>
          <a:p>
            <a:r>
              <a:rPr lang="en-US"/>
              <a:t>A32: Drive Plates | E32: Replace</a:t>
            </a:r>
          </a:p>
          <a:p>
            <a:r>
              <a:rPr lang="en-US"/>
              <a:t>A33: Break Out | B33: 3.689 | C33: 3.696 | D33: 3.711</a:t>
            </a:r>
          </a:p>
          <a:p>
            <a:r>
              <a:rPr lang="en-US"/>
              <a:t>A34: Make Up | B34: 3.711 | C34: 3.701 | D34: 3.691</a:t>
            </a:r>
          </a:p>
          <a:p>
            <a:r>
              <a:rPr lang="en-US"/>
              <a:t>A36: The drive plates need to be replaced here.  Tool 2 is very close.  You need </a:t>
            </a:r>
          </a:p>
          <a:p>
            <a:r>
              <a:rPr lang="en-US"/>
              <a:t>A37: to order three sets for when these go out of tolernce.</a:t>
            </a:r>
          </a:p>
          <a:p>
            <a:r>
              <a:rPr lang="en-US"/>
              <a:t>WORKSHEET: Libongos</a:t>
            </a:r>
          </a:p>
          <a:p>
            <a:r>
              <a:rPr lang="en-US"/>
              <a:t>A1: Libongos</a:t>
            </a:r>
          </a:p>
          <a:p>
            <a:r>
              <a:rPr lang="en-US"/>
              <a:t>A3: Tool 1</a:t>
            </a:r>
          </a:p>
          <a:p>
            <a:r>
              <a:rPr lang="en-US"/>
              <a:t>A4: Tool Body | B4: Horizontal | C4: Vertical | D4: Angle | E4: Good</a:t>
            </a:r>
          </a:p>
          <a:p>
            <a:r>
              <a:rPr lang="en-US"/>
              <a:t>A5: Break Out | B5: 4.441 | C5: 4.445 | D5: 4.439</a:t>
            </a:r>
          </a:p>
          <a:p>
            <a:r>
              <a:rPr lang="en-US"/>
              <a:t>A6: Make Up | B6: 4.442 | C6: 4.45 | D6: 4.443</a:t>
            </a:r>
          </a:p>
          <a:p>
            <a:r>
              <a:rPr lang="en-US"/>
              <a:t>A7: Drive Plates | E7: Replace</a:t>
            </a:r>
          </a:p>
          <a:p>
            <a:r>
              <a:rPr lang="en-US"/>
              <a:t>A8: Break Out | B8: 3.71 | C8: 3.698 | D8: 3.7</a:t>
            </a:r>
          </a:p>
          <a:p>
            <a:r>
              <a:rPr lang="en-US"/>
              <a:t>A9: Make Up | B9: 3.71 | C9: 3.705 | D9: 3.7</a:t>
            </a:r>
          </a:p>
          <a:p>
            <a:r>
              <a:rPr lang="en-US"/>
              <a:t>A11: Tool 2</a:t>
            </a:r>
          </a:p>
          <a:p>
            <a:r>
              <a:rPr lang="en-US"/>
              <a:t>A12: Tool Body</a:t>
            </a:r>
          </a:p>
          <a:p>
            <a:r>
              <a:rPr lang="en-US"/>
              <a:t>A13: Break Out | B13: 4.442 | C13: 4.445 | D13: 4.447 | E13: Good</a:t>
            </a:r>
          </a:p>
          <a:p>
            <a:r>
              <a:rPr lang="en-US"/>
              <a:t>A14: Make up | B14: 4.447 | C14: 4.449 | D14: 4.44</a:t>
            </a:r>
          </a:p>
          <a:p>
            <a:r>
              <a:rPr lang="en-US"/>
              <a:t>A15: Drive Plates | E15: Replace</a:t>
            </a:r>
          </a:p>
          <a:p>
            <a:r>
              <a:rPr lang="en-US"/>
              <a:t>A16: Break Out | B16: 3.716 | C16: 3.7 | D16: 3.71</a:t>
            </a:r>
          </a:p>
          <a:p>
            <a:r>
              <a:rPr lang="en-US"/>
              <a:t>A17: Make up | B17: 3.716 | C17: 3.712 | D17: 3.69</a:t>
            </a:r>
          </a:p>
          <a:p>
            <a:r>
              <a:rPr lang="en-US"/>
              <a:t>A19: Tool 3</a:t>
            </a:r>
          </a:p>
          <a:p>
            <a:r>
              <a:rPr lang="en-US"/>
              <a:t>A20: Tool Body</a:t>
            </a:r>
          </a:p>
          <a:p>
            <a:r>
              <a:rPr lang="en-US"/>
              <a:t>A21: Break Out | B21: 4.446 | C21: 4.451 | D21: 4.437 | E21: Good</a:t>
            </a:r>
          </a:p>
          <a:p>
            <a:r>
              <a:rPr lang="en-US"/>
              <a:t>A22: Make Up | B22: 4.442 | C22: 4.45 | D22: 4.441</a:t>
            </a:r>
          </a:p>
          <a:p>
            <a:r>
              <a:rPr lang="en-US"/>
              <a:t>A23: Drive plates | E23: Replace</a:t>
            </a:r>
          </a:p>
          <a:p>
            <a:r>
              <a:rPr lang="en-US"/>
              <a:t>A24: Break Out | B24: 3.716 | C24: 3.7 | D24: 3.71</a:t>
            </a:r>
          </a:p>
          <a:p>
            <a:r>
              <a:rPr lang="en-US"/>
              <a:t>A25: Make Up | B25: 3.712 | C25: 3.708 | D25: 3.69</a:t>
            </a:r>
          </a:p>
          <a:p>
            <a:r>
              <a:rPr lang="en-US"/>
              <a:t>A27: The tool body is .001" over the .010' tolerance.  I let that one go.</a:t>
            </a:r>
          </a:p>
          <a:p>
            <a:r>
              <a:rPr lang="en-US"/>
              <a:t>A28: you only have three tools.  Keep a close eye on this one</a:t>
            </a:r>
          </a:p>
          <a:p>
            <a:r>
              <a:rPr lang="en-US"/>
              <a:t>A29: Measure it after every riser run and if it gets even 0.001 bigger, you need to </a:t>
            </a:r>
          </a:p>
          <a:p>
            <a:r>
              <a:rPr lang="en-US"/>
              <a:t>A30: order one.  I would also order at least 2 sets of drive plates because there </a:t>
            </a:r>
          </a:p>
          <a:p>
            <a:r>
              <a:rPr lang="en-US"/>
              <a:t>A31: are a couple that will probably be out of tolerance soon.</a:t>
            </a:r>
          </a:p>
          <a:p>
            <a:r>
              <a:rPr lang="en-US"/>
              <a:t>WORKSHEET: West Jupiter</a:t>
            </a:r>
          </a:p>
          <a:p>
            <a:r>
              <a:rPr lang="en-US"/>
              <a:t>A1: West Jupiter</a:t>
            </a:r>
          </a:p>
          <a:p>
            <a:r>
              <a:rPr lang="en-US"/>
              <a:t>A3: Black | B3: Horizontal | C3: Vertical | D3: Angle</a:t>
            </a:r>
          </a:p>
          <a:p>
            <a:r>
              <a:rPr lang="en-US"/>
              <a:t>A4: Tool body | E4: Good</a:t>
            </a:r>
          </a:p>
          <a:p>
            <a:r>
              <a:rPr lang="en-US"/>
              <a:t>A5: Break Out | B5: 4.449 | C5: 4.447 | D5: 4.449</a:t>
            </a:r>
          </a:p>
          <a:p>
            <a:r>
              <a:rPr lang="en-US"/>
              <a:t>A6: Make Up | B6: 4.45 | C6: 4.449 | D6: 4.449</a:t>
            </a:r>
          </a:p>
          <a:p>
            <a:r>
              <a:rPr lang="en-US"/>
              <a:t>A7: Drive Plates | E7: Good</a:t>
            </a:r>
          </a:p>
          <a:p>
            <a:r>
              <a:rPr lang="en-US"/>
              <a:t>A8: Break Out | B8: 3.684 | C8: 3.676 | D8: 3.686</a:t>
            </a:r>
          </a:p>
          <a:p>
            <a:r>
              <a:rPr lang="en-US"/>
              <a:t>A9: Make Up | B9: 3.703 | C9: 3.7 | D9: 3.696</a:t>
            </a:r>
          </a:p>
          <a:p>
            <a:r>
              <a:rPr lang="en-US"/>
              <a:t>A11: There are a few measurements on the drive plates that are low. The hub of the </a:t>
            </a:r>
          </a:p>
          <a:p>
            <a:r>
              <a:rPr lang="en-US"/>
              <a:t>A12: gear is 3.685  It would not fit into the drive plates if the measurements are that low.</a:t>
            </a:r>
          </a:p>
          <a:p>
            <a:r>
              <a:rPr lang="en-US"/>
              <a:t>A13: You need to measure those again.  The rest of the numbers on the drive plates are</a:t>
            </a:r>
          </a:p>
          <a:p>
            <a:r>
              <a:rPr lang="en-US"/>
              <a:t>A14: good so they are probably OK, but we need to know the real measurement.</a:t>
            </a:r>
          </a:p>
          <a:p>
            <a:r>
              <a:rPr lang="en-US"/>
              <a:t>A16: Blue</a:t>
            </a:r>
          </a:p>
          <a:p>
            <a:r>
              <a:rPr lang="en-US"/>
              <a:t>A17: Tool Body | E17: Good</a:t>
            </a:r>
          </a:p>
          <a:p>
            <a:r>
              <a:rPr lang="en-US"/>
              <a:t>A18: Break Out | B18: 4.43 | C18: 4.434 | D18: 4.44</a:t>
            </a:r>
          </a:p>
          <a:p>
            <a:r>
              <a:rPr lang="en-US"/>
              <a:t>A19: Make Up | B19: 4.442 | C19: 4.435 | D19: 4.449</a:t>
            </a:r>
          </a:p>
          <a:p>
            <a:r>
              <a:rPr lang="en-US"/>
              <a:t>A20: Drive Plates | E20: Good</a:t>
            </a:r>
          </a:p>
          <a:p>
            <a:r>
              <a:rPr lang="en-US"/>
              <a:t>A21: Break Out | B21: 3.7 | C21: 3.695 | D21: 3.651</a:t>
            </a:r>
          </a:p>
          <a:p>
            <a:r>
              <a:rPr lang="en-US"/>
              <a:t>A22: Make Up | B22: 3.689 | C22: 3.695 | D22: 3.697</a:t>
            </a:r>
          </a:p>
          <a:p>
            <a:r>
              <a:rPr lang="en-US"/>
              <a:t>A24: some of the drive plate measurements are low.  The gear hub is 3.685.  It would not fit.</a:t>
            </a:r>
          </a:p>
          <a:p>
            <a:r>
              <a:rPr lang="en-US"/>
              <a:t>A25: I called it good but they need to be measured again just to make sure.  Same for the </a:t>
            </a:r>
          </a:p>
          <a:p>
            <a:r>
              <a:rPr lang="en-US"/>
              <a:t>A26: Body</a:t>
            </a:r>
          </a:p>
          <a:p>
            <a:r>
              <a:rPr lang="en-US"/>
              <a:t>A28: Yellow</a:t>
            </a:r>
          </a:p>
          <a:p>
            <a:r>
              <a:rPr lang="en-US"/>
              <a:t>A29: Tool Body | E29: Good</a:t>
            </a:r>
          </a:p>
          <a:p>
            <a:r>
              <a:rPr lang="en-US"/>
              <a:t>A30: Break Out | B30: 4.443 | C30: 4.441 | D30: 4.444</a:t>
            </a:r>
          </a:p>
          <a:p>
            <a:r>
              <a:rPr lang="en-US"/>
              <a:t>A31: Make Up | B31: 4.448 | C31: 4.431 | D31: 4.444</a:t>
            </a:r>
          </a:p>
          <a:p>
            <a:r>
              <a:rPr lang="en-US"/>
              <a:t>A32: Drive Plates | E32: Good</a:t>
            </a:r>
          </a:p>
          <a:p>
            <a:r>
              <a:rPr lang="en-US"/>
              <a:t>A33: Break Out | B33: 3.687 | C33: 3.682 | D33: 3.657</a:t>
            </a:r>
          </a:p>
          <a:p>
            <a:r>
              <a:rPr lang="en-US"/>
              <a:t>A34: Make Up | B34: 3.685 | C34: 3.686 | D34: 3.697</a:t>
            </a:r>
          </a:p>
          <a:p>
            <a:r>
              <a:rPr lang="en-US"/>
              <a:t>A36: The measurements of body and drive plates are low.  You need to check them again.</a:t>
            </a:r>
          </a:p>
          <a:p>
            <a:r>
              <a:rPr lang="en-US"/>
              <a:t>A38: Red</a:t>
            </a:r>
          </a:p>
          <a:p>
            <a:r>
              <a:rPr lang="en-US"/>
              <a:t>A39: Tool Body | E39: Good</a:t>
            </a:r>
          </a:p>
          <a:p>
            <a:r>
              <a:rPr lang="en-US"/>
              <a:t>A40: Break Out | B40: 4.44 | C40: 4.432 | D40: 4.432</a:t>
            </a:r>
          </a:p>
          <a:p>
            <a:r>
              <a:rPr lang="en-US"/>
              <a:t>A41: Make Up | B41: 4.435 | C41: 4.436 | D41: 4.433</a:t>
            </a:r>
          </a:p>
          <a:p>
            <a:r>
              <a:rPr lang="en-US"/>
              <a:t>A42: Drive Plates | E42: Good</a:t>
            </a:r>
          </a:p>
          <a:p>
            <a:r>
              <a:rPr lang="en-US"/>
              <a:t>A43: Break Out | B43: 3.638 | C43: 3.688 | D43: 3.686</a:t>
            </a:r>
          </a:p>
          <a:p>
            <a:r>
              <a:rPr lang="en-US"/>
              <a:t>A44: Make Up | B44: 3.691 | C44: 3.701 | D44: 3.691</a:t>
            </a:r>
          </a:p>
          <a:p>
            <a:r>
              <a:rPr lang="en-US"/>
              <a:t>A46: The measurements are very low.  You need to check them again.</a:t>
            </a:r>
          </a:p>
          <a:p>
            <a:r>
              <a:rPr lang="en-US"/>
              <a:t>WORKSHEET: West Saturn</a:t>
            </a:r>
          </a:p>
          <a:p>
            <a:r>
              <a:rPr lang="en-US"/>
              <a:t>A1: West Saturn</a:t>
            </a:r>
          </a:p>
          <a:p>
            <a:r>
              <a:rPr lang="en-US"/>
              <a:t>A3: Tool 1 | B3: Horizontal | C3: Vertical | D3: Angle</a:t>
            </a:r>
          </a:p>
          <a:p>
            <a:r>
              <a:rPr lang="en-US"/>
              <a:t>A4: Tool Body | E4: Good</a:t>
            </a:r>
          </a:p>
          <a:p>
            <a:r>
              <a:rPr lang="en-US"/>
              <a:t>A5: Break Out | B5: 4.408 | C5: 4.438 | D5: 4.438</a:t>
            </a:r>
          </a:p>
          <a:p>
            <a:r>
              <a:rPr lang="en-US"/>
              <a:t>A6: Make Up | B6: 4.44 | C6: 4.443 | D6: 4.438</a:t>
            </a:r>
          </a:p>
          <a:p>
            <a:r>
              <a:rPr lang="en-US"/>
              <a:t>A7: Drive pLates | E7: Good</a:t>
            </a:r>
          </a:p>
          <a:p>
            <a:r>
              <a:rPr lang="en-US"/>
              <a:t>A8: Break Out | B8: 3.696 | C8: 3.69 | D8: 3.69</a:t>
            </a:r>
          </a:p>
          <a:p>
            <a:r>
              <a:rPr lang="en-US"/>
              <a:t>A9: Make Up | B9: 3.699 | C9: 3.684 | D9: 3.69</a:t>
            </a:r>
          </a:p>
          <a:p>
            <a:r>
              <a:rPr lang="en-US"/>
              <a:t>A11: I gave it all Good but the measurements are very low.  They need to be taken </a:t>
            </a:r>
          </a:p>
          <a:p>
            <a:r>
              <a:rPr lang="en-US"/>
              <a:t>A12: again just to make sure.  If they are within 0.010 of the dimension they are </a:t>
            </a:r>
          </a:p>
          <a:p>
            <a:r>
              <a:rPr lang="en-US"/>
              <a:t>A13: Good.  Toool Body 4.440".  Drive plates 3.693.</a:t>
            </a:r>
          </a:p>
          <a:p>
            <a:r>
              <a:rPr lang="en-US"/>
              <a:t>A15: Tool 2</a:t>
            </a:r>
          </a:p>
          <a:p>
            <a:r>
              <a:rPr lang="en-US"/>
              <a:t>A16: Tol body | E16: Good</a:t>
            </a:r>
          </a:p>
          <a:p>
            <a:r>
              <a:rPr lang="en-US"/>
              <a:t>A17: Break Out | B17: 4.44 | C17: 4.443 | D17: 4.438</a:t>
            </a:r>
          </a:p>
          <a:p>
            <a:r>
              <a:rPr lang="en-US"/>
              <a:t>A18: make Up | B18: 4.443 | C18: 4.44 | D18: 4.434</a:t>
            </a:r>
          </a:p>
          <a:p>
            <a:r>
              <a:rPr lang="en-US"/>
              <a:t>A19: Drive pLates | E19: Good</a:t>
            </a:r>
          </a:p>
          <a:p>
            <a:r>
              <a:rPr lang="en-US"/>
              <a:t>A20: Break Uot | B20: 3.697 | C20: 3.693 | D20: 3.688</a:t>
            </a:r>
          </a:p>
          <a:p>
            <a:r>
              <a:rPr lang="en-US"/>
              <a:t>A21: make Up | B21: 3.698 | C21: 3.689 | D21: 3.686</a:t>
            </a:r>
          </a:p>
          <a:p>
            <a:r>
              <a:rPr lang="en-US"/>
              <a:t>A23: Again the measurements are A little low.  Take them again just to make sure.</a:t>
            </a:r>
          </a:p>
          <a:p>
            <a:r>
              <a:rPr lang="en-US"/>
              <a:t>A25: Tool 3</a:t>
            </a:r>
          </a:p>
          <a:p>
            <a:r>
              <a:rPr lang="en-US"/>
              <a:t>A26: Tol body | E26: Good</a:t>
            </a:r>
          </a:p>
          <a:p>
            <a:r>
              <a:rPr lang="en-US"/>
              <a:t>A27: Break Out | B27: 4.439 | C27: 4.437 | D27: 4.432</a:t>
            </a:r>
          </a:p>
          <a:p>
            <a:r>
              <a:rPr lang="en-US"/>
              <a:t>A28: Make Up | B28: 4.434 | C28: 4.425 | D28: 4.438</a:t>
            </a:r>
          </a:p>
          <a:p>
            <a:r>
              <a:rPr lang="en-US"/>
              <a:t>A29: Drive Plates | E29: Good</a:t>
            </a:r>
          </a:p>
          <a:p>
            <a:r>
              <a:rPr lang="en-US"/>
              <a:t>A30: Break Out | B30: 3.698 | C30: 3.691 | D30: 3.692</a:t>
            </a:r>
          </a:p>
          <a:p>
            <a:r>
              <a:rPr lang="en-US"/>
              <a:t>A31: Make Up | B31: 3.695 | C31: 3.702 | D31: 3.69</a:t>
            </a:r>
          </a:p>
          <a:p>
            <a:r>
              <a:rPr lang="en-US"/>
              <a:t>A33: Low measurements.  They need to be taken again.</a:t>
            </a:r>
          </a:p>
          <a:p>
            <a:r>
              <a:rPr lang="en-US"/>
              <a:t>A35: Tool 4</a:t>
            </a:r>
          </a:p>
          <a:p>
            <a:r>
              <a:rPr lang="en-US"/>
              <a:t>A36: Tool Body | E36: Good</a:t>
            </a:r>
          </a:p>
          <a:p>
            <a:r>
              <a:rPr lang="en-US"/>
              <a:t>A37: Break Out | B37: 4.437 | C37: 4.443 | D37: 4.436</a:t>
            </a:r>
          </a:p>
          <a:p>
            <a:r>
              <a:rPr lang="en-US"/>
              <a:t>A38: Make up | B38: 4.437 | C38: 4.434 | D38: 4.436</a:t>
            </a:r>
          </a:p>
          <a:p>
            <a:r>
              <a:rPr lang="en-US"/>
              <a:t>A39: Drive Plates | E39: Good</a:t>
            </a:r>
          </a:p>
          <a:p>
            <a:r>
              <a:rPr lang="en-US"/>
              <a:t>A40: Break Out | B40: 3.698 | C40: 3.691 | D40: 3.691</a:t>
            </a:r>
          </a:p>
          <a:p>
            <a:r>
              <a:rPr lang="en-US"/>
              <a:t>A41: Make up | B41: 3.692 | C41: 3.694 | D41: 3.686</a:t>
            </a:r>
          </a:p>
          <a:p>
            <a:r>
              <a:rPr lang="en-US"/>
              <a:t>A43: Low Measurements.  They need to be taken again</a:t>
            </a:r>
            <a:r>
              <a:t>.</a:t>
            </a:r>
          </a:p>
          <a:p>
            <a:endParaRPr/>
          </a:p>
          <a:p>
            <a:r>
              <a:t>Cautions: “Good” labels can conflict with recorded measurements or include concessions and remeasurement instructions. These are historical workbook judgments, not approval to bypass mandatory AAB controls. Quenguela K144033C565 has drive plate C24=3.798 with a Good label. West Auriga Tool 2 and Libongos Tool 3 include explicit tolerance concessions. West Tellus and other sheets contain low or unusual readings requiring confirmation. The workbook contains eight vessel worksheets and no West Neptune sheet.</a:t>
            </a:r>
          </a:p>
          <a:p>
            <a:r>
              <a:t>[Sources]</a:t>
            </a:r>
          </a:p>
          <a:p>
            <a:r>
              <a:t>https://sdrl-my.sharepoint.com/personal/lee_arnold_seadrill_com/Documents/Documents/Copilot/Riser%20Torque%20Tools/Clover%20Reports/Seadrill%20Measurements%2003-09-2026.xlsx</a:t>
            </a:r>
          </a:p>
          <a:p>
            <a:r>
              <a:t>Microsoft Graph source entity: graph_drive_item_06314849. Worksheet/cell values reproduced above.</a:t>
            </a:r>
          </a:p>
          <a:p>
            <a:r>
              <a:t>[/Sources]</a:t>
            </a:r>
          </a:p>
          <a:p>
            <a:endParaRPr lang="en-US"/>
          </a:p>
          <a:p>
            <a:r>
              <a:rPr lang="en-US"/>
              <a:t>COLOUR KEY</a:t>
            </a:r>
          </a:p>
          <a:p>
            <a:r>
              <a:rPr lang="en-US"/>
              <a:t>Red: source rejection/replacement instructions, or individual recorded dimensions outside the stated template band. Green: individual recorded dimensions within the inclusive nominal ±0.010 in band (drive plates 3.683–3.703 in, bodies 4.430–4.450 in). Amber: conditional Good dispositions, concessions, remeasurement requests or conflicting evidence. No conditional Good component has been certified in specification or approved for service by this formatting change. Individual green readings do not overrule other red readings, workbook replacement instructions, repeat-measurement requirements or AAB controls. Source numbers and dispositions remain unchanged.</a:t>
            </a:r>
          </a:p>
          <a:p>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CORRECTED COST BASIS: Source workbook Neptune K30 = $357,609.38 and Tellus I13 = $173,516.04, combined $531,125.42. TorqLite summary: West Auriga $62,925 plus Sevan Louisiana $23,574 = $86,499. Difference $444,626.42 / $531,125.42 = 83.71396%. Annualized totals divide the labelled two-year period by two. Annualized per rig: Clover $132,781.36 and TorqLite $21,624.75. Historical purchasing includes stock, repairs, urgent orders and reorders, not failure-only consumption. No common operating-day/run/deployment denominator. Do not extrapolate as guaranteed annual savings or payback. Prior deck cost numbers and the $439,166.57 failed-parts claim are superseded or unverified.</a:t>
            </a:r>
          </a:p>
          <a:p>
            <a:r>
              <a:t>DOWNTIME LIMITATION: Original slide 13 headline says 2.5 h Clover vs 2.0 h TorqLite, but its rig rows show Neptune 7.0 h plus Tellus 6.5 h = 13.5 h. No underlying Synergi report was present in the supplied root folder. Neither the 0.5 h/20% claim nor a derived 11.5 h reduction should be used until event scope is reconciled. Original values retained below solely as an audit trail.</a:t>
            </a:r>
          </a:p>
          <a:p>
            <a:r>
              <a:t>[Sources]</a:t>
            </a:r>
          </a:p>
          <a:p>
            <a:r>
              <a:t>West Neptune and Tellus Torque Tool Repair Parts Spend to Clover for last 2 years.xlsx, Neptune and Tellus sheets.</a:t>
            </a:r>
          </a:p>
          <a:p>
            <a:r>
              <a:t>Auriga and Sevan Louisiana 2 year POs to TorqLite.xlsx, WAU AND SLO 2 YEAR PO TOTALS. Retrieved from specified folder.</a:t>
            </a:r>
          </a:p>
          <a:p>
            <a:endParaRPr/>
          </a:p>
          <a:p>
            <a:r>
              <a:t>SUPPORTING DETAIL FROM ORIGINAL DECK</a:t>
            </a:r>
          </a:p>
          <a:p>
            <a:r>
              <a:t>Original slide 12</a:t>
            </a:r>
          </a:p>
          <a:p>
            <a:r>
              <a:t>Two-Year Cost Comparison: Power Tork / Clover vs. TorqLite</a:t>
            </a:r>
          </a:p>
          <a:p>
            <a:r>
              <a:t>West Neptune and West Tellus documented Power Tork / Clover PO line costs compared with West Auriga and Sevan Louisiana Torqlite purchase orders.</a:t>
            </a:r>
          </a:p>
          <a:p>
            <a:r>
              <a:t>$530,442.04</a:t>
            </a:r>
          </a:p>
          <a:p>
            <a:r>
              <a:t>WNE + WTE Power Tork / Clover combined two-year cost</a:t>
            </a:r>
          </a:p>
          <a:p>
            <a:r>
              <a:t>$439,166.57 in failed parts relating to drive gears, pawls, sockets, bearings, and frames </a:t>
            </a:r>
          </a:p>
          <a:p>
            <a:endParaRPr/>
          </a:p>
          <a:p>
            <a:r>
              <a:t>$86,499.00</a:t>
            </a:r>
          </a:p>
          <a:p>
            <a:r>
              <a:t>WAU + SLO TorqLite all PO line costs 2 years</a:t>
            </a:r>
          </a:p>
          <a:p>
            <a:r>
              <a:t>$443,943.04</a:t>
            </a:r>
          </a:p>
          <a:p>
            <a:r>
              <a:t>Two-Year cost difference</a:t>
            </a:r>
          </a:p>
          <a:p>
            <a:r>
              <a:t>Cost basis | WNE Power Tork / Clover | TorqLite - WAU and SLO</a:t>
            </a:r>
          </a:p>
          <a:p>
            <a:r>
              <a:t>Two-year total | $530,422.04 | $86,499.00</a:t>
            </a:r>
          </a:p>
          <a:p>
            <a:r>
              <a:t>Rig allocation | West Neptune: $356,926.04 | West Tellus: $173,516.00 | West Auriga: $62,925 | Sevan Louisiana: $23,574</a:t>
            </a:r>
          </a:p>
          <a:p>
            <a:r>
              <a:t>Cost population | West Neptune all PO line costs plus West Tellus total Clover Tool spend | All listed TorqLite POs worldwide</a:t>
            </a:r>
          </a:p>
          <a:p>
            <a:r>
              <a:t>Operating context | West Neptune PO activity and West Tellus two-year Clover spend | Auriga: 10 BOP deployments since rejoining Seadrill</a:t>
            </a:r>
          </a:p>
          <a:p>
            <a:r>
              <a:t>Equipment history | Combined Power Tork / Clover cost basis for the last two years | Auriga TorqLite wrenches in service since 2022</a:t>
            </a:r>
          </a:p>
          <a:p>
            <a:r>
              <a:t>The combined TorqLite PO total is $443,943.04 lower than the complete Power Tork / Clover PO line-cost total, a 84% difference.</a:t>
            </a:r>
          </a:p>
          <a:p>
            <a:r>
              <a:t>Sources: Attached Maximo Purchase Order Details report; Auriga and Sevan Louisiana 2 year POs to TorqLite.xlsx, “WAU AND SLO 2 YEAR PO TOTALS”; operating-history notes provided by Eric Rachall.</a:t>
            </a:r>
          </a:p>
          <a:p>
            <a:endParaRPr/>
          </a:p>
          <a:p>
            <a:r>
              <a:t>CONFIDENTIAL - EXCO BUSINESS CASE</a:t>
            </a:r>
          </a:p>
          <a:p>
            <a:r>
              <a:t>12</a:t>
            </a:r>
          </a:p>
          <a:p>
            <a:r>
              <a:t>$530,442.04 										$443,943.04                           </a:t>
            </a:r>
          </a:p>
          <a:p>
            <a:r>
              <a:t>Power Tork / Clover combined two-year cost								Two-Year Cost Difference</a:t>
            </a:r>
          </a:p>
          <a:p>
            <a:endParaRPr/>
          </a:p>
          <a:p>
            <a:r>
              <a:t>Original slide 13</a:t>
            </a:r>
          </a:p>
          <a:p>
            <a:r>
              <a:t>RTT Downtime Comparison: Power Tork / Clover vs. TorqLite</a:t>
            </a:r>
          </a:p>
          <a:p>
            <a:r>
              <a:t>Synergi downtime events directly involving riser torque tooling or riser-bolt breakout.</a:t>
            </a:r>
          </a:p>
          <a:p>
            <a:r>
              <a:t>2.5 HOURS</a:t>
            </a:r>
          </a:p>
          <a:p>
            <a:r>
              <a:t>Neptune + Tellus</a:t>
            </a:r>
          </a:p>
          <a:p>
            <a:r>
              <a:t>2.0 HOURS</a:t>
            </a:r>
          </a:p>
          <a:p>
            <a:r>
              <a:t>Auriga + Sevan Louisiana</a:t>
            </a:r>
          </a:p>
          <a:p>
            <a:r>
              <a:t>.5 HOURS</a:t>
            </a:r>
          </a:p>
          <a:p>
            <a:r>
              <a:t>Lower TorqLite-group downtime</a:t>
            </a:r>
          </a:p>
          <a:p>
            <a:r>
              <a:t>Equipment group / rig | RTT-related downtime | Supported events</a:t>
            </a:r>
          </a:p>
          <a:p>
            <a:r>
              <a:t>Power Tork / Clover | West Neptune | 7.0 h | RRT would not unlock; stem required corrective torque</a:t>
            </a:r>
          </a:p>
          <a:p>
            <a:r>
              <a:t>Power Tork / Clover | West Tellus | 6.5 h | Riser-bolt breakout issue; RTT socket broke during breakout</a:t>
            </a:r>
          </a:p>
          <a:p>
            <a:r>
              <a:t>TorqLite | West Auriga | 2.0 h | Unable to release riser torque tool from riser bolt during spin-out</a:t>
            </a:r>
          </a:p>
          <a:p>
            <a:r>
              <a:t>TorqLite | Sevan Louisiana | 0.0 h | No RTT-related downtime event identified</a:t>
            </a:r>
          </a:p>
          <a:p>
            <a:r>
              <a:t>COMPARISON | 2.5 h vs. 2.0 h | TorqLite-group downtime is .5 h lower</a:t>
            </a:r>
          </a:p>
          <a:p>
            <a:r>
              <a:t>EXCO TAKEAWAY: Within the reviewed Synergi records, the TorqLite-equipped comparison group recorded 2.0 hours of RTT-related downtime versus 2.5 hours for the Power Tork / Clover group. This is a .5-hour reduction, or approximately 20% lower recorded RTT-related downtime.</a:t>
            </a:r>
          </a:p>
          <a:p>
            <a:r>
              <a:t>Source: Synergi Life.pdf, downtime cases for West Tellus and Sevan Louisiana, May 2024 through 2 October 2026</a:t>
            </a:r>
          </a:p>
          <a:p>
            <a:endParaRPr/>
          </a:p>
          <a:p>
            <a:r>
              <a:t>CONFIDENTIAL - EXCO BUSINESS CASE</a:t>
            </a:r>
          </a:p>
          <a:p>
            <a:r>
              <a:t>13</a:t>
            </a:r>
          </a:p>
          <a:p>
            <a:r>
              <a:t>[Sources]</a:t>
            </a:r>
          </a:p>
          <a:p>
            <a:r>
              <a:t>Synergi Life.pdf: West Neptune and West Tellus downtime cases.</a:t>
            </a:r>
          </a:p>
          <a:p>
            <a:r>
              <a:t>Synergi Life Auriga and Sevan.pdf: West Auriga and Sevan Louisiana downtime cases.</a:t>
            </a:r>
          </a:p>
          <a:p>
            <a:r>
              <a:t>[/Sources]</a:t>
            </a:r>
          </a:p>
          <a:p>
            <a:endParaRPr/>
          </a:p>
          <a:p>
            <a:r>
              <a:t>[Sources]</a:t>
            </a:r>
          </a:p>
          <a:p>
            <a:r>
              <a:t>Current presentation, original slides 12, 13.</a:t>
            </a:r>
          </a:p>
          <a:p>
            <a:r>
              <a:t>Reference design: Seadrill CBM specific &amp; Cost Presentation.pptx, specified Example of PPT required and template folder.</a:t>
            </a:r>
          </a:p>
          <a:p>
            <a:endParaRPr/>
          </a:p>
          <a:p>
            <a:r>
              <a:t>West Neptune and Tellus Torque Tool Repair Parts Spend to Clover for last 2 years.xlsx, Neptune and Tellus sheets.</a:t>
            </a:r>
          </a:p>
          <a:p>
            <a:r>
              <a:t>Auriga and Sevan Louisiana 2 year POs to TorqLite.xlsx, WAU AND SLO 2 YEAR PO TOTALS. Retrieved from specified folder.</a:t>
            </a:r>
          </a:p>
          <a:p>
            <a:r>
              <a:t>[/Sources]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a:t>RT-24 modified tool has hydraulic motor, 2½ in square drive, reversible drop-down reaction bar and extended low-profile quad gearbox for Shaffer FT-H risers. Socket is 95 mm / 3¾ in ATF, 6-point, Z-40M60-RT. Four 30 ft hoses and fittings per IDCC. Rig dimensional checks, training, spares, procedures and PMS/Maximo integration remain required.</a:t>
            </a:r>
          </a:p>
          <a:p>
            <a:r>
              <a:rPr lang="en-US"/>
              <a:t>[Sources]</a:t>
            </a:r>
          </a:p>
          <a:p>
            <a:r>
              <a:rPr lang="en-US"/>
              <a:t>Original deck technical scope and quotations S39960-GOA-R2, S39960-INTL-R1 and S40003 as cited there.</a:t>
            </a:r>
          </a:p>
          <a:p>
            <a:endParaRPr lang="en-US"/>
          </a:p>
          <a:p>
            <a:r>
              <a:rPr lang="en-US"/>
              <a:t>SUPPORTING DETAIL FROM ORIGINAL DECK</a:t>
            </a:r>
          </a:p>
          <a:p>
            <a:r>
              <a:rPr lang="en-US"/>
              <a:t>Original slide 6</a:t>
            </a:r>
          </a:p>
          <a:p>
            <a:r>
              <a:rPr lang="en-US"/>
              <a:t>TorqLite Technical Basis</a:t>
            </a:r>
          </a:p>
          <a:p>
            <a:r>
              <a:rPr lang="en-US"/>
              <a:t>Current quote scope clarifies the single-rig equipment configuration.</a:t>
            </a:r>
          </a:p>
          <a:p>
            <a:endParaRPr lang="en-US"/>
          </a:p>
          <a:p>
            <a:r>
              <a:rPr lang="en-US"/>
              <a:t>4 x RT-24-S</a:t>
            </a:r>
          </a:p>
          <a:p>
            <a:r>
              <a:rPr lang="en-US"/>
              <a:t>Modified Riser Torque tools</a:t>
            </a:r>
          </a:p>
          <a:p>
            <a:endParaRPr lang="en-US"/>
          </a:p>
          <a:p>
            <a:r>
              <a:rPr lang="en-US"/>
              <a:t>4 x Z-40M60-RT</a:t>
            </a:r>
          </a:p>
          <a:p>
            <a:r>
              <a:rPr lang="en-US"/>
              <a:t>2 ½” Square Drive 95 mm impact sockets</a:t>
            </a:r>
          </a:p>
          <a:p>
            <a:endParaRPr lang="en-US"/>
          </a:p>
          <a:p>
            <a:r>
              <a:rPr lang="en-US"/>
              <a:t>2 x IDCC</a:t>
            </a:r>
          </a:p>
          <a:p>
            <a:r>
              <a:rPr lang="en-US"/>
              <a:t>Dual-control consoles</a:t>
            </a:r>
          </a:p>
          <a:p>
            <a:endParaRPr lang="en-US"/>
          </a:p>
          <a:p>
            <a:r>
              <a:rPr lang="en-US"/>
              <a:t>2 x CATB</a:t>
            </a:r>
          </a:p>
          <a:p>
            <a:r>
              <a:rPr lang="en-US"/>
              <a:t>Oil-bath toolboxes</a:t>
            </a:r>
          </a:p>
          <a:p>
            <a:endParaRPr lang="en-US"/>
          </a:p>
          <a:p>
            <a:endParaRPr lang="en-US"/>
          </a:p>
          <a:p>
            <a:r>
              <a:rPr lang="en-US"/>
              <a:t>APPLICATION</a:t>
            </a:r>
          </a:p>
          <a:p>
            <a:r>
              <a:rPr lang="en-US"/>
              <a:t>RT-24 modified tool with hydraulic motor, 2-1/2 in square drive, reversible drop-down reaction bar and extended low-profile quad gearbox for Shaffer FT-H risers.</a:t>
            </a:r>
          </a:p>
          <a:p>
            <a:endParaRPr lang="en-US"/>
          </a:p>
          <a:p>
            <a:endParaRPr lang="en-US"/>
          </a:p>
          <a:p>
            <a:r>
              <a:rPr lang="en-US"/>
              <a:t>SOCKET / HOSES</a:t>
            </a:r>
          </a:p>
          <a:p>
            <a:r>
              <a:rPr lang="en-US"/>
              <a:t>2-1/2 in square drive x 95 mm (3-3/4 in) ATF, 6-point impact socket. Each IDCC includes four 30 ft hoses with fittings.</a:t>
            </a:r>
          </a:p>
          <a:p>
            <a:endParaRPr lang="en-US"/>
          </a:p>
          <a:p>
            <a:endParaRPr lang="en-US"/>
          </a:p>
          <a:p>
            <a:r>
              <a:rPr lang="en-US"/>
              <a:t>READINESS</a:t>
            </a:r>
          </a:p>
          <a:p>
            <a:r>
              <a:rPr lang="en-US"/>
              <a:t>Rig-specific dimensional checks, onboard training, spares, procedures and PMS/Maximo integration remain deployment controls.</a:t>
            </a:r>
          </a:p>
          <a:p>
            <a:endParaRPr lang="en-US"/>
          </a:p>
          <a:p>
            <a:r>
              <a:rPr lang="en-US"/>
              <a:t>[Sources]</a:t>
            </a:r>
          </a:p>
          <a:p>
            <a:r>
              <a:rPr lang="en-US"/>
              <a:t>Torq/Lite S39960-GOA-R2, item lines 1-4.</a:t>
            </a:r>
          </a:p>
          <a:p>
            <a:r>
              <a:rPr lang="en-US"/>
              <a:t>Torq/Lite S39960-INTL-R1, item lines 1-4.</a:t>
            </a:r>
          </a:p>
          <a:p>
            <a:r>
              <a:rPr lang="en-US"/>
              <a:t>Original EXCO presentation, slide 6.</a:t>
            </a:r>
          </a:p>
          <a:p>
            <a:r>
              <a:rPr lang="en-US"/>
              <a:t>[/Sources]</a:t>
            </a:r>
          </a:p>
          <a:p>
            <a:endParaRPr lang="en-US"/>
          </a:p>
          <a:p>
            <a:r>
              <a:rPr lang="en-US"/>
              <a:t>Original slide 9</a:t>
            </a:r>
          </a:p>
          <a:p>
            <a:r>
              <a:rPr lang="en-US"/>
              <a:t>Options Assessment</a:t>
            </a:r>
          </a:p>
          <a:p>
            <a:r>
              <a:rPr lang="en-US"/>
              <a:t>Purchase provides the strongest long-term strategic alignment; rental remains a contingency.</a:t>
            </a:r>
          </a:p>
          <a:p>
            <a:r>
              <a:rPr lang="en-US"/>
              <a:t>Option | Reliability concern | Operational complexity | Commercial profile | Assessment</a:t>
            </a:r>
          </a:p>
          <a:p>
            <a:r>
              <a:rPr lang="en-US"/>
              <a:t>Continue Power Tork | High | High | Low immediate | Not recommended</a:t>
            </a:r>
          </a:p>
          <a:p>
            <a:r>
              <a:rPr lang="en-US"/>
              <a:t>Rent alternatives | Medium | Medium-high | Recurring | Contingency only</a:t>
            </a:r>
          </a:p>
          <a:p>
            <a:r>
              <a:rPr lang="en-US"/>
              <a:t>Purchase TorqLite | Lower target | Medium during rollout | Capital required | RECOMMENDED</a:t>
            </a:r>
          </a:p>
          <a:p>
            <a:r>
              <a:rPr lang="en-US"/>
              <a:t>Mixed / phased fleet | Medium | High complexity | Staged capital | Funding fallback</a:t>
            </a:r>
          </a:p>
          <a:p>
            <a:endParaRPr lang="en-US"/>
          </a:p>
          <a:p>
            <a:r>
              <a:rPr lang="en-US"/>
              <a:t>Preferred path: purchase and phase deployment by technical risk and operating schedule.</a:t>
            </a:r>
          </a:p>
          <a:p>
            <a:endParaRPr lang="en-US"/>
          </a:p>
          <a:p>
            <a:r>
              <a:rPr lang="en-US"/>
              <a:t>[Sources]</a:t>
            </a:r>
          </a:p>
          <a:p>
            <a:r>
              <a:rPr lang="en-US"/>
              <a:t>Original EXCO presentation, slide 8.</a:t>
            </a:r>
          </a:p>
          <a:p>
            <a:r>
              <a:rPr lang="en-US"/>
              <a:t>Current Torq/Lite quotations.</a:t>
            </a:r>
          </a:p>
          <a:p>
            <a:r>
              <a:rPr lang="en-US"/>
              <a:t>[/Sources]</a:t>
            </a:r>
          </a:p>
          <a:p>
            <a:endParaRPr lang="en-US"/>
          </a:p>
          <a:p>
            <a:r>
              <a:rPr lang="en-US"/>
              <a:t>[Sources]</a:t>
            </a:r>
          </a:p>
          <a:p>
            <a:r>
              <a:rPr lang="en-US"/>
              <a:t>Current presentation, original slides 6, 9.</a:t>
            </a:r>
          </a:p>
          <a:p>
            <a:r>
              <a:rPr lang="en-US"/>
              <a:t>Reference design: Seadrill CBM specific &amp; Cost Presentation.pptx, specified Example of PPT required and template folder.</a:t>
            </a:r>
          </a:p>
          <a:p>
            <a:endParaRPr lang="en-US"/>
          </a:p>
          <a:p>
            <a:r>
              <a:rPr lang="en-US"/>
              <a:t>Original deck technical scope and quotations S39960-GOA-R2, S39960-INTL-R1 and S40003 as cited there.</a:t>
            </a:r>
          </a:p>
          <a:p>
            <a:r>
              <a:rPr lang="en-US"/>
              <a:t>[/Sources]</a:t>
            </a:r>
          </a:p>
          <a:p>
            <a:endParaRPr lang="en-US"/>
          </a:p>
          <a:p>
            <a:endParaRPr lang="en-US"/>
          </a:p>
          <a:p>
            <a:r>
              <a:rPr lang="en-US"/>
              <a:t>CURRENT FULL-FLEET PURCHASE BASIS, 2 OCTOBER 2026</a:t>
            </a:r>
          </a:p>
          <a:p>
            <a:r>
              <a:rPr lang="en-US"/>
              <a:t>The user removed the Brazil phased option. The active plan is three RT24-S tools per vessel for all 11 vessels, plus the complete quoted ancillary equipment and full spares package for EACH vessel. All prior Brazil pool scenarios and earlier USD 32,752 unit-rate estimates are superseded.</a:t>
            </a:r>
          </a:p>
          <a:p>
            <a:r>
              <a:rPr lang="en-US"/>
              <a:t>Verified quote S39960-GOA-R2 dated 25 August 2026: RT24-S USD 44,654 each. Maximo ICN 4085835 supplied by user. Per vessel: 3 tools = USD 133,962. Ancillary scope: 4 sockets x USD 1,006 = USD 4,024; 2 IDCC x USD 20,458 = USD 40,916; 2 CATB x USD 15,354 = USD 30,708. Ancillary sum USD 75,648. Full quoted spares (items 6–25) USD 37,424 per vessel, without reductions or sharing across vessels. Total USD 247,034 per vessel.</a:t>
            </a:r>
          </a:p>
          <a:p>
            <a:r>
              <a:rPr lang="en-US"/>
              <a:t>Full 11-vessel allocation: 33 tools USD 1,473,582 + ancillary equipment USD 832,128 + 11 full spares packages USD 411,664 = USD 2,717,374. Cross-check: 11 x USD 247,034 = USD 2,717,374. This total is unchanged from the previous three-tool calculation because that calculation already included full spares per vessel; the optional Brazil allocation is now removed.</a:t>
            </a:r>
          </a:p>
          <a:p>
            <a:r>
              <a:rPr lang="en-US"/>
              <a:t>Supplier quote originally has 4 tools, equipment subtotal USD 254,264 plus spares USD 37,424 = USD 291,688. Planned configuration subtracts one USD 44,654 tool and retains all other quoted quantities. This is calculated scope pending supplier confirmation, not a revised supplier-issued quotation. Maintenance USD 42,180 less 100% quoted discount USD 42,180 = net zero. Trade-in credit unapplied: conditional USD 4,465.40 per eligible tool, minimum three rig packages, 30-day validity from quote date has expired. EXW origin. Freight, insurance, duties and taxes excluded from the planning total. Reconfirm price, configuration and maintenance terms before purchase.</a:t>
            </a:r>
          </a:p>
          <a:p>
            <a:r>
              <a:rPr lang="en-US"/>
              <a:t>[Sources]</a:t>
            </a:r>
          </a:p>
          <a:p>
            <a:r>
              <a:rPr lang="en-US"/>
              <a:t>TLSQ39960-GOA-R2 Seadrill 08252026.pdf, pages 1–3, retrieved from Documents/Copilot/Riser Torque Tools/RT 24 quotes on 2 October 2026. Graph entity graph_drive_item_5e9aaf64. User instruction, 2 October 2026: remove Brazil option, retain three tools per vessel and all quoted spares, calculate all 11 vessels.</a:t>
            </a:r>
          </a:p>
          <a:p>
            <a:r>
              <a:rPr lang="en-US"/>
              <a:t>[/Sources]</a:t>
            </a:r>
          </a:p>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7F8FA"/>
        </a:solidFill>
        <a:effectLst/>
      </p:bgPr>
    </p:bg>
    <p:spTree>
      <p:nvGrpSpPr>
        <p:cNvPr id="1" name=""/>
        <p:cNvGrpSpPr/>
        <p:nvPr/>
      </p:nvGrpSpPr>
      <p:grpSpPr>
        <a:xfrm>
          <a:off x="0" y="0"/>
          <a:ext cx="0" cy="0"/>
          <a:chOff x="0" y="0"/>
          <a:chExt cx="0" cy="0"/>
        </a:xfrm>
      </p:grpSpPr>
      <p:sp>
        <p:nvSpPr>
          <p:cNvPr id="2" name="Shape 0"/>
          <p:cNvSpPr/>
          <p:nvPr/>
        </p:nvSpPr>
        <p:spPr>
          <a:xfrm>
            <a:off x="0" y="0"/>
            <a:ext cx="12191695" cy="128016"/>
          </a:xfrm>
          <a:prstGeom prst="rect">
            <a:avLst/>
          </a:prstGeom>
          <a:solidFill>
            <a:srgbClr val="F2C100"/>
          </a:solidFill>
          <a:ln w="12700">
            <a:solidFill>
              <a:srgbClr val="F2C100"/>
            </a:solidFill>
            <a:prstDash val="solid"/>
          </a:ln>
        </p:spPr>
        <p:txBody>
          <a:bodyPr/>
          <a:lstStyle/>
          <a:p>
            <a:endParaRPr lang="en-US"/>
          </a:p>
        </p:txBody>
      </p:sp>
      <p:sp>
        <p:nvSpPr>
          <p:cNvPr id="3" name="Text 1"/>
          <p:cNvSpPr/>
          <p:nvPr/>
        </p:nvSpPr>
        <p:spPr>
          <a:xfrm>
            <a:off x="411480" y="201168"/>
            <a:ext cx="1051560" cy="256032"/>
          </a:xfrm>
          <a:prstGeom prst="rect">
            <a:avLst/>
          </a:prstGeom>
          <a:noFill/>
          <a:ln/>
        </p:spPr>
        <p:txBody>
          <a:bodyPr wrap="square" lIns="0" tIns="0" rIns="0" bIns="0" rtlCol="0" anchor="ctr"/>
          <a:lstStyle/>
          <a:p>
            <a:pPr marL="0" indent="0">
              <a:buNone/>
            </a:pPr>
            <a:r>
              <a:rPr lang="en-US" sz="1600" b="1">
                <a:solidFill>
                  <a:srgbClr val="17365D"/>
                </a:solidFill>
                <a:latin typeface="Aptos Display" pitchFamily="34" charset="0"/>
                <a:ea typeface="Aptos Display" pitchFamily="34" charset="-122"/>
                <a:cs typeface="Aptos Display" pitchFamily="34" charset="-120"/>
              </a:rPr>
              <a:t>Seadrill</a:t>
            </a:r>
            <a:endParaRPr lang="en-US" sz="1600"/>
          </a:p>
        </p:txBody>
      </p:sp>
      <p:sp>
        <p:nvSpPr>
          <p:cNvPr id="4" name="Shape 2"/>
          <p:cNvSpPr/>
          <p:nvPr/>
        </p:nvSpPr>
        <p:spPr>
          <a:xfrm>
            <a:off x="411480" y="6510528"/>
            <a:ext cx="11365992" cy="0"/>
          </a:xfrm>
          <a:prstGeom prst="line">
            <a:avLst/>
          </a:prstGeom>
          <a:noFill/>
          <a:ln w="12700">
            <a:solidFill>
              <a:srgbClr val="D7DCE3"/>
            </a:solidFill>
            <a:prstDash val="solid"/>
          </a:ln>
        </p:spPr>
        <p:txBody>
          <a:bodyPr/>
          <a:lstStyle/>
          <a:p>
            <a:endParaRPr lang="en-US"/>
          </a:p>
        </p:txBody>
      </p:sp>
      <p:sp>
        <p:nvSpPr>
          <p:cNvPr id="5" name="Text 3"/>
          <p:cNvSpPr/>
          <p:nvPr/>
        </p:nvSpPr>
        <p:spPr>
          <a:xfrm>
            <a:off x="8778240" y="6565392"/>
            <a:ext cx="2971800" cy="164592"/>
          </a:xfrm>
          <a:prstGeom prst="rect">
            <a:avLst/>
          </a:prstGeom>
          <a:noFill/>
          <a:ln/>
        </p:spPr>
        <p:txBody>
          <a:bodyPr wrap="square" lIns="0" tIns="0" rIns="0" bIns="0" rtlCol="0" anchor="ctr"/>
          <a:lstStyle/>
          <a:p>
            <a:pPr marL="0" indent="0" algn="r">
              <a:buNone/>
            </a:pPr>
            <a:r>
              <a:rPr lang="en-US" sz="700">
                <a:solidFill>
                  <a:srgbClr val="7A8594"/>
                </a:solidFill>
              </a:rPr>
              <a:t>INTERNAL | EXCO DECISION SUPPORT</a:t>
            </a:r>
            <a:endParaRPr lang="en-US" sz="700"/>
          </a:p>
        </p:txBody>
      </p:sp>
      <p:sp>
        <p:nvSpPr>
          <p:cNvPr id="25" name="Slide Number Placeholder 0"/>
          <p:cNvSpPr>
            <a:spLocks noGrp="1"/>
          </p:cNvSpPr>
          <p:nvPr>
            <p:ph type="sldNum" sz="quarter" idx="4294967295"/>
          </p:nvPr>
        </p:nvSpPr>
        <p:spPr>
          <a:xfrm>
            <a:off x="411480" y="6565392"/>
            <a:ext cx="365760" cy="164592"/>
          </a:xfrm>
          <a:prstGeom prst="rect">
            <a:avLst/>
          </a:prstGeom>
          <a:extLst>
            <a:ext uri="{C572A759-6A51-4108-AA02-DFA0A04FC94B}">
              <ma14:wrappingTextBoxFlag xmlns:ma14="http://schemas.microsoft.com/office/mac/drawingml/2011/main" xmlns="" val="0"/>
            </a:ext>
          </a:extLst>
        </p:spPr>
        <p:txBody>
          <a:bodyPr/>
          <a:lstStyle>
            <a:lvl1pPr>
              <a:defRPr sz="700">
                <a:solidFill>
                  <a:srgbClr val="7A8594"/>
                </a:solidFill>
              </a:defRPr>
            </a:lvl1pPr>
          </a:lstStyle>
          <a:p>
            <a:pPr algn="l"/>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2_Title Slide">
    <p:spTree>
      <p:nvGrpSpPr>
        <p:cNvPr id="1" name=""/>
        <p:cNvGrpSpPr/>
        <p:nvPr/>
      </p:nvGrpSpPr>
      <p:grpSpPr>
        <a:xfrm>
          <a:off x="0" y="0"/>
          <a:ext cx="0" cy="0"/>
          <a:chOff x="0" y="0"/>
          <a:chExt cx="0" cy="0"/>
        </a:xfrm>
      </p:grpSpPr>
      <p:sp>
        <p:nvSpPr>
          <p:cNvPr id="19" name="Picture Placeholder 4">
            <a:extLst>
              <a:ext uri="{FF2B5EF4-FFF2-40B4-BE49-F238E27FC236}">
                <a16:creationId xmlns:a16="http://schemas.microsoft.com/office/drawing/2014/main" id="{649831A4-7313-58D2-9FD2-0E481EF89DC8}"/>
              </a:ext>
            </a:extLst>
          </p:cNvPr>
          <p:cNvSpPr>
            <a:spLocks noGrp="1"/>
          </p:cNvSpPr>
          <p:nvPr>
            <p:ph type="pic" sz="quarter" idx="13" hasCustomPrompt="1"/>
          </p:nvPr>
        </p:nvSpPr>
        <p:spPr>
          <a:xfrm>
            <a:off x="389468" y="380941"/>
            <a:ext cx="11419417" cy="6096118"/>
          </a:xfrm>
          <a:prstGeom prst="rect">
            <a:avLst/>
          </a:prstGeom>
          <a:solidFill>
            <a:schemeClr val="bg1">
              <a:lumMod val="95000"/>
            </a:schemeClr>
          </a:solidFill>
          <a:ln>
            <a:noFill/>
          </a:ln>
        </p:spPr>
        <p:txBody>
          <a:bodyPr tIns="1440000"/>
          <a:lstStyle>
            <a:lvl1pPr marL="0" indent="0" algn="ctr">
              <a:buNone/>
              <a:defRPr/>
            </a:lvl1pPr>
          </a:lstStyle>
          <a:p>
            <a:r>
              <a:rPr lang="en-GB"/>
              <a:t>Drag and drop image here</a:t>
            </a:r>
          </a:p>
        </p:txBody>
      </p:sp>
      <p:sp>
        <p:nvSpPr>
          <p:cNvPr id="16" name="Text Placeholder 11">
            <a:extLst>
              <a:ext uri="{FF2B5EF4-FFF2-40B4-BE49-F238E27FC236}">
                <a16:creationId xmlns:a16="http://schemas.microsoft.com/office/drawing/2014/main" id="{90CBD0E2-BD76-85F1-EBA7-0C521B7B12B6}"/>
              </a:ext>
            </a:extLst>
          </p:cNvPr>
          <p:cNvSpPr>
            <a:spLocks noGrp="1"/>
          </p:cNvSpPr>
          <p:nvPr>
            <p:ph type="body" sz="quarter" idx="12" hasCustomPrompt="1"/>
          </p:nvPr>
        </p:nvSpPr>
        <p:spPr>
          <a:xfrm>
            <a:off x="965258" y="3884300"/>
            <a:ext cx="5316841" cy="1354008"/>
          </a:xfrm>
          <a:prstGeom prst="rect">
            <a:avLst/>
          </a:prstGeom>
        </p:spPr>
        <p:txBody>
          <a:bodyPr wrap="square" lIns="0" tIns="0" rIns="0" bIns="0">
            <a:noAutofit/>
          </a:bodyPr>
          <a:lstStyle>
            <a:lvl1pPr marL="0" indent="0">
              <a:lnSpc>
                <a:spcPct val="80000"/>
              </a:lnSpc>
              <a:spcBef>
                <a:spcPts val="0"/>
              </a:spcBef>
              <a:buNone/>
              <a:defRPr sz="5400" b="1" i="0">
                <a:solidFill>
                  <a:schemeClr val="bg1"/>
                </a:solidFill>
                <a:latin typeface="Arial" panose="020B0604020202020204" pitchFamily="34" charset="0"/>
                <a:cs typeface="Arial" panose="020B0604020202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Presentation</a:t>
            </a:r>
            <a:br>
              <a:rPr lang="en-US"/>
            </a:br>
            <a:r>
              <a:rPr lang="en-US"/>
              <a:t>title in two lines</a:t>
            </a:r>
            <a:endParaRPr lang="en-GB"/>
          </a:p>
        </p:txBody>
      </p:sp>
      <p:sp>
        <p:nvSpPr>
          <p:cNvPr id="8" name="Subtitle 2">
            <a:extLst>
              <a:ext uri="{FF2B5EF4-FFF2-40B4-BE49-F238E27FC236}">
                <a16:creationId xmlns:a16="http://schemas.microsoft.com/office/drawing/2014/main" id="{AC1F414A-9ED3-0CD2-7D64-8F9EB3E5F763}"/>
              </a:ext>
            </a:extLst>
          </p:cNvPr>
          <p:cNvSpPr>
            <a:spLocks noGrp="1"/>
          </p:cNvSpPr>
          <p:nvPr>
            <p:ph type="subTitle" idx="1" hasCustomPrompt="1"/>
          </p:nvPr>
        </p:nvSpPr>
        <p:spPr>
          <a:xfrm>
            <a:off x="965258" y="5238308"/>
            <a:ext cx="5316841" cy="492366"/>
          </a:xfrm>
          <a:prstGeom prst="rect">
            <a:avLst/>
          </a:prstGeom>
        </p:spPr>
        <p:txBody>
          <a:bodyPr lIns="0" rIns="0" anchor="t" anchorCtr="0"/>
          <a:lstStyle>
            <a:lvl1pPr marL="0" indent="0" algn="l">
              <a:spcBef>
                <a:spcPts val="0"/>
              </a:spcBef>
              <a:spcAft>
                <a:spcPts val="200"/>
              </a:spcAft>
              <a:buNone/>
              <a:defRPr sz="3600" b="1">
                <a:solidFill>
                  <a:schemeClr val="accent2"/>
                </a:solidFill>
              </a:defRPr>
            </a:lvl1pPr>
            <a:lvl2pPr marL="304770" indent="0" algn="ctr">
              <a:buNone/>
              <a:defRPr sz="1333"/>
            </a:lvl2pPr>
            <a:lvl3pPr marL="609539" indent="0" algn="ctr">
              <a:buNone/>
              <a:defRPr sz="1200"/>
            </a:lvl3pPr>
            <a:lvl4pPr marL="914309" indent="0" algn="ctr">
              <a:buNone/>
              <a:defRPr sz="1067"/>
            </a:lvl4pPr>
            <a:lvl5pPr marL="1219078" indent="0" algn="ctr">
              <a:buNone/>
              <a:defRPr sz="1067"/>
            </a:lvl5pPr>
            <a:lvl6pPr marL="1523848" indent="0" algn="ctr">
              <a:buNone/>
              <a:defRPr sz="1067"/>
            </a:lvl6pPr>
            <a:lvl7pPr marL="1828617" indent="0" algn="ctr">
              <a:buNone/>
              <a:defRPr sz="1067"/>
            </a:lvl7pPr>
            <a:lvl8pPr marL="2133387" indent="0" algn="ctr">
              <a:buNone/>
              <a:defRPr sz="1067"/>
            </a:lvl8pPr>
            <a:lvl9pPr marL="2438156" indent="0" algn="ctr">
              <a:buNone/>
              <a:defRPr sz="1067"/>
            </a:lvl9pPr>
          </a:lstStyle>
          <a:p>
            <a:r>
              <a:rPr lang="en-US"/>
              <a:t>Subtitle style </a:t>
            </a:r>
            <a:endParaRPr lang="en-GB"/>
          </a:p>
        </p:txBody>
      </p:sp>
      <p:pic>
        <p:nvPicPr>
          <p:cNvPr id="7" name="Graphic 6">
            <a:extLst>
              <a:ext uri="{FF2B5EF4-FFF2-40B4-BE49-F238E27FC236}">
                <a16:creationId xmlns:a16="http://schemas.microsoft.com/office/drawing/2014/main" id="{FDD0D450-6D81-843E-F037-26D0725B514D}"/>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979833" y="3054227"/>
            <a:ext cx="1291719" cy="478341"/>
          </a:xfrm>
          <a:prstGeom prst="rect">
            <a:avLst/>
          </a:prstGeom>
        </p:spPr>
      </p:pic>
    </p:spTree>
    <p:extLst>
      <p:ext uri="{BB962C8B-B14F-4D97-AF65-F5344CB8AC3E}">
        <p14:creationId xmlns:p14="http://schemas.microsoft.com/office/powerpoint/2010/main" val="3720601802"/>
      </p:ext>
    </p:extLst>
  </p:cSld>
  <p:clrMapOvr>
    <a:masterClrMapping/>
  </p:clrMapOvr>
  <p:extLst>
    <p:ext uri="{DCECCB84-F9BA-43D5-87BE-67443E8EF086}">
      <p15:sldGuideLst xmlns:p15="http://schemas.microsoft.com/office/powerpoint/2012/main">
        <p15:guide id="3" pos="234">
          <p15:clr>
            <a:srgbClr val="FBAE40"/>
          </p15:clr>
        </p15:guide>
        <p15:guide id="4" pos="11158">
          <p15:clr>
            <a:srgbClr val="FBAE40"/>
          </p15:clr>
        </p15:guide>
        <p15:guide id="5" orient="horz" pos="5758">
          <p15:clr>
            <a:srgbClr val="FBAE40"/>
          </p15:clr>
        </p15:guide>
        <p15:guide id="6" pos="7446">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920274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pic>
        <p:nvPicPr>
          <p:cNvPr id="2" name="Image 0" descr="/mnt/data/work/pptx/ppt/media/image2.png"/>
          <p:cNvPicPr>
            <a:picLocks noChangeAspect="1"/>
          </p:cNvPicPr>
          <p:nvPr/>
        </p:nvPicPr>
        <p:blipFill>
          <a:blip r:embed="rId2"/>
          <a:stretch>
            <a:fillRect/>
          </a:stretch>
        </p:blipFill>
        <p:spPr>
          <a:xfrm>
            <a:off x="320040" y="6327648"/>
            <a:ext cx="822960" cy="301752"/>
          </a:xfrm>
          <a:prstGeom prst="rect">
            <a:avLst/>
          </a:prstGeom>
        </p:spPr>
      </p:pic>
      <p:sp>
        <p:nvSpPr>
          <p:cNvPr id="3" name="Shape 0"/>
          <p:cNvSpPr/>
          <p:nvPr/>
        </p:nvSpPr>
        <p:spPr>
          <a:xfrm>
            <a:off x="320040" y="6199632"/>
            <a:ext cx="11539728" cy="0"/>
          </a:xfrm>
          <a:prstGeom prst="line">
            <a:avLst/>
          </a:prstGeom>
          <a:noFill/>
          <a:ln w="12700">
            <a:solidFill>
              <a:srgbClr val="D9E2F3"/>
            </a:solidFill>
            <a:prstDash val="solid"/>
          </a:ln>
        </p:spPr>
        <p:txBody>
          <a:bodyPr/>
          <a:lstStyle/>
          <a:p>
            <a:endParaRPr lang="en-US"/>
          </a:p>
        </p:txBody>
      </p:sp>
      <p:sp>
        <p:nvSpPr>
          <p:cNvPr id="4" name="Text 1"/>
          <p:cNvSpPr/>
          <p:nvPr/>
        </p:nvSpPr>
        <p:spPr>
          <a:xfrm>
            <a:off x="8595360" y="6300216"/>
            <a:ext cx="3200400" cy="201168"/>
          </a:xfrm>
          <a:prstGeom prst="rect">
            <a:avLst/>
          </a:prstGeom>
          <a:noFill/>
          <a:ln/>
        </p:spPr>
        <p:txBody>
          <a:bodyPr wrap="square" lIns="0" tIns="0" rIns="0" bIns="0" rtlCol="0" anchor="ctr"/>
          <a:lstStyle/>
          <a:p>
            <a:pPr marL="0" indent="0" algn="r">
              <a:buNone/>
            </a:pPr>
            <a:r>
              <a:rPr lang="en-US" sz="800">
                <a:solidFill>
                  <a:srgbClr val="667085"/>
                </a:solidFill>
                <a:latin typeface="Arial" pitchFamily="34" charset="0"/>
                <a:ea typeface="Arial" pitchFamily="34" charset="-122"/>
                <a:cs typeface="Arial" pitchFamily="34" charset="-120"/>
              </a:rPr>
              <a:t>CONFIDENTIAL - EXCO BUSINESS CASE</a:t>
            </a:r>
            <a:endParaRPr lang="en-US" sz="800"/>
          </a:p>
        </p:txBody>
      </p:sp>
      <p:sp>
        <p:nvSpPr>
          <p:cNvPr id="25" name="Slide Number Placeholder 0"/>
          <p:cNvSpPr>
            <a:spLocks noGrp="1"/>
          </p:cNvSpPr>
          <p:nvPr>
            <p:ph type="sldNum" sz="quarter" idx="4294967295"/>
          </p:nvPr>
        </p:nvSpPr>
        <p:spPr>
          <a:xfrm>
            <a:off x="11658600" y="6309360"/>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667085"/>
                </a:solidFill>
                <a:latin typeface="Arial"/>
                <a:ea typeface="Arial"/>
                <a:cs typeface="Arial"/>
              </a:defRPr>
            </a:lvl1pPr>
          </a:lstStyle>
          <a:p>
            <a:pPr algn="l"/>
            <a:fld id="{F7021451-1387-4CA6-816F-3879F97B5CBC}" type="slidenum">
              <a:rPr lang="en-US" b="0"/>
              <a:t>‹#›</a:t>
            </a:fld>
            <a:endParaRPr lang="en-US"/>
          </a:p>
        </p:txBody>
      </p:sp>
    </p:spTree>
    <p:extLst>
      <p:ext uri="{BB962C8B-B14F-4D97-AF65-F5344CB8AC3E}">
        <p14:creationId xmlns:p14="http://schemas.microsoft.com/office/powerpoint/2010/main" val="260802989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5.xml"/><Relationship Id="rId1"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411480" y="6565392"/>
            <a:ext cx="365760" cy="164592"/>
          </a:xfrm>
          <a:prstGeom prst="rect">
            <a:avLst/>
          </a:prstGeom>
          <a:extLst>
            <a:ext uri="{C572A759-6A51-4108-AA02-DFA0A04FC94B}">
              <ma14:wrappingTextBoxFlag xmlns:ma14="http://schemas.microsoft.com/office/mac/drawingml/2011/main" xmlns="" val="0"/>
            </a:ext>
          </a:extLst>
        </p:spPr>
        <p:txBody>
          <a:bodyPr/>
          <a:lstStyle>
            <a:lvl1pPr>
              <a:defRPr sz="700">
                <a:solidFill>
                  <a:srgbClr val="7A8594"/>
                </a:solidFill>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4"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658600" y="6309360"/>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667085"/>
                </a:solidFill>
                <a:latin typeface="Arial"/>
                <a:ea typeface="Arial"/>
                <a:cs typeface="Arial"/>
              </a:defRPr>
            </a:lvl1pPr>
          </a:lstStyle>
          <a:p>
            <a:pPr algn="l"/>
            <a:fld id="{F7021451-1387-4CA6-816F-3879F97B5CBC}" type="slidenum">
              <a:rPr lang="en-US" b="0"/>
              <a:t>‹#›</a:t>
            </a:fld>
            <a:endParaRPr lang="en-US"/>
          </a:p>
        </p:txBody>
      </p:sp>
    </p:spTree>
    <p:extLst>
      <p:ext uri="{BB962C8B-B14F-4D97-AF65-F5344CB8AC3E}">
        <p14:creationId xmlns:p14="http://schemas.microsoft.com/office/powerpoint/2010/main" val="1909900133"/>
      </p:ext>
    </p:extLst>
  </p:cSld>
  <p:clrMap bg1="lt1" tx1="dk1" bg2="lt2" tx2="dk2" accent1="accent1" accent2="accent2" accent3="accent3" accent4="accent4" accent5="accent5" accent6="accent6" hlink="hlink" folHlink="folHlink"/>
  <p:sldLayoutIdLst>
    <p:sldLayoutId id="2147483652" r:id="rId1"/>
    <p:sldLayoutId id="2147483653"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8" Type="http://schemas.openxmlformats.org/officeDocument/2006/relationships/image" Target="../media/image8.jp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Placeholder 2">
            <a:extLst>
              <a:ext uri="{FF2B5EF4-FFF2-40B4-BE49-F238E27FC236}">
                <a16:creationId xmlns:a16="http://schemas.microsoft.com/office/drawing/2014/main" id="{77356947-B708-CD92-06B9-1D71C8BC68B6}"/>
              </a:ext>
            </a:extLst>
          </p:cNvPr>
          <p:cNvPicPr>
            <a:picLocks noGrp="1" noChangeAspect="1"/>
          </p:cNvPicPr>
          <p:nvPr>
            <p:ph type="pic" sz="quarter" idx="13"/>
          </p:nvPr>
        </p:nvPicPr>
        <p:blipFill rotWithShape="1">
          <a:blip r:embed="rId3" cstate="screen">
            <a:extLst>
              <a:ext uri="{28A0092B-C50C-407E-A947-70E740481C1C}">
                <a14:useLocalDpi xmlns:a14="http://schemas.microsoft.com/office/drawing/2010/main"/>
              </a:ext>
            </a:extLst>
          </a:blip>
          <a:srcRect/>
          <a:stretch/>
        </p:blipFill>
        <p:spPr>
          <a:xfrm>
            <a:off x="386291" y="380941"/>
            <a:ext cx="11419417" cy="6096118"/>
          </a:xfrm>
        </p:spPr>
      </p:pic>
      <p:sp>
        <p:nvSpPr>
          <p:cNvPr id="3" name="Text Placeholder 2">
            <a:extLst>
              <a:ext uri="{FF2B5EF4-FFF2-40B4-BE49-F238E27FC236}">
                <a16:creationId xmlns:a16="http://schemas.microsoft.com/office/drawing/2014/main" id="{E4B5F1A6-664B-B89C-CD43-FCFCC4450D88}"/>
              </a:ext>
            </a:extLst>
          </p:cNvPr>
          <p:cNvSpPr>
            <a:spLocks noGrp="1"/>
          </p:cNvSpPr>
          <p:nvPr>
            <p:ph type="body" sz="quarter" idx="12"/>
          </p:nvPr>
        </p:nvSpPr>
        <p:spPr>
          <a:xfrm>
            <a:off x="1051560" y="4754880"/>
            <a:ext cx="9326880" cy="502920"/>
          </a:xfrm>
        </p:spPr>
        <p:txBody>
          <a:bodyPr wrap="square"/>
          <a:lstStyle/>
          <a:p>
            <a:pPr>
              <a:defRPr/>
            </a:pPr>
            <a:r>
              <a:rPr lang="en-GB" sz="3600">
                <a:solidFill>
                  <a:srgbClr val="FFFFFF"/>
                </a:solidFill>
                <a:latin typeface="Arial"/>
              </a:rPr>
              <a:t>Technical Services – WCEMPDG</a:t>
            </a:r>
          </a:p>
        </p:txBody>
      </p:sp>
      <p:pic>
        <p:nvPicPr>
          <p:cNvPr id="6" name="Graphic 6">
            <a:extLst>
              <a:ext uri="{FF2B5EF4-FFF2-40B4-BE49-F238E27FC236}">
                <a16:creationId xmlns:a16="http://schemas.microsoft.com/office/drawing/2014/main" id="{55B63F18-CB1B-B52D-E058-F72543CC762E}"/>
              </a:ext>
            </a:extLst>
          </p:cNvPr>
          <p:cNvPicPr>
            <a:picLocks noChangeAspect="1"/>
          </p:cNvPicPr>
          <p:nvPr/>
        </p:nvPicPr>
        <p:blipFill>
          <a:blip r:embed="rId4" cstate="print">
            <a:extLst>
              <a:ext uri="{28A0092B-C50C-407E-A947-70E740481C1C}">
                <a14:useLocalDpi xmlns:a14="http://schemas.microsoft.com/office/drawing/2010/main"/>
              </a:ext>
            </a:extLst>
          </a:blip>
          <a:srcRect/>
          <a:stretch/>
        </p:blipFill>
        <p:spPr>
          <a:xfrm>
            <a:off x="980619" y="3054226"/>
            <a:ext cx="3570584" cy="1322439"/>
          </a:xfrm>
          <a:prstGeom prst="rect">
            <a:avLst/>
          </a:prstGeom>
        </p:spPr>
      </p:pic>
      <p:sp>
        <p:nvSpPr>
          <p:cNvPr id="7" name="Subtitle 6">
            <a:extLst>
              <a:ext uri="{FF2B5EF4-FFF2-40B4-BE49-F238E27FC236}">
                <a16:creationId xmlns:a16="http://schemas.microsoft.com/office/drawing/2014/main" id="{3F272FD8-9093-42E8-812D-03A6BCB1B0A3}"/>
              </a:ext>
            </a:extLst>
          </p:cNvPr>
          <p:cNvSpPr>
            <a:spLocks noGrp="1"/>
          </p:cNvSpPr>
          <p:nvPr>
            <p:ph type="subTitle" idx="1"/>
          </p:nvPr>
        </p:nvSpPr>
        <p:spPr>
          <a:xfrm>
            <a:off x="1051560" y="5340096"/>
            <a:ext cx="9326880" cy="384048"/>
          </a:xfrm>
        </p:spPr>
        <p:txBody>
          <a:bodyPr wrap="square">
            <a:noAutofit/>
          </a:bodyPr>
          <a:lstStyle/>
          <a:p>
            <a:pPr>
              <a:lnSpc>
                <a:spcPct val="110000"/>
              </a:lnSpc>
            </a:pPr>
            <a:r>
              <a:rPr lang="en-US" altLang="en-US" sz="2000">
                <a:solidFill>
                  <a:srgbClr val="FFFFFF"/>
                </a:solidFill>
                <a:latin typeface="Arial"/>
              </a:rPr>
              <a:t>Riser Torque Tool Failure and Exposure</a:t>
            </a:r>
            <a:endParaRPr lang="en-US" altLang="en-US" sz="2000" b="0">
              <a:solidFill>
                <a:schemeClr val="bg1"/>
              </a:solidFill>
            </a:endParaRPr>
          </a:p>
        </p:txBody>
      </p:sp>
      <p:sp>
        <p:nvSpPr>
          <p:cNvPr id="8" name="TextBox 7"/>
          <p:cNvSpPr txBox="1"/>
          <p:nvPr/>
        </p:nvSpPr>
        <p:spPr>
          <a:xfrm>
            <a:off x="9070848" y="6400800"/>
            <a:ext cx="2743200" cy="246888"/>
          </a:xfrm>
          <a:prstGeom prst="rect">
            <a:avLst/>
          </a:prstGeom>
          <a:noFill/>
        </p:spPr>
        <p:txBody>
          <a:bodyPr wrap="square" anchor="ctr">
            <a:spAutoFit/>
          </a:bodyPr>
          <a:lstStyle/>
          <a:p>
            <a:pPr algn="r">
              <a:buNone/>
            </a:pPr>
            <a:r>
              <a:rPr sz="800" b="0">
                <a:solidFill>
                  <a:srgbClr val="2F5597"/>
                </a:solidFill>
                <a:latin typeface="Arial"/>
              </a:rPr>
              <a:t>1</a:t>
            </a:r>
          </a:p>
        </p:txBody>
      </p:sp>
    </p:spTree>
    <p:extLst>
      <p:ext uri="{BB962C8B-B14F-4D97-AF65-F5344CB8AC3E}">
        <p14:creationId xmlns:p14="http://schemas.microsoft.com/office/powerpoint/2010/main" val="42634808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74904" y="347472"/>
            <a:ext cx="11247120" cy="443711"/>
          </a:xfrm>
          <a:prstGeom prst="rect">
            <a:avLst/>
          </a:prstGeom>
          <a:noFill/>
          <a:ln>
            <a:noFill/>
          </a:ln>
        </p:spPr>
        <p:txBody>
          <a:bodyPr wrap="square" lIns="0" tIns="0" rIns="0" bIns="0" anchor="t">
            <a:spAutoFit/>
          </a:bodyPr>
          <a:lstStyle/>
          <a:p>
            <a:pPr algn="l">
              <a:lnSpc>
                <a:spcPct val="112000"/>
              </a:lnSpc>
              <a:spcBef>
                <a:spcPts val="0"/>
              </a:spcBef>
              <a:spcAft>
                <a:spcPts val="1000"/>
              </a:spcAft>
            </a:pPr>
            <a:r>
              <a:rPr lang="en-US" sz="2800" b="0" dirty="0">
                <a:solidFill>
                  <a:srgbClr val="2F5597"/>
                </a:solidFill>
                <a:latin typeface="Arial"/>
              </a:rPr>
              <a:t>Riser torque tool failures: Events and HSE</a:t>
            </a:r>
            <a:endParaRPr sz="2800" b="0" dirty="0">
              <a:solidFill>
                <a:srgbClr val="2F5597"/>
              </a:solidFill>
              <a:latin typeface="Arial"/>
            </a:endParaRPr>
          </a:p>
        </p:txBody>
      </p:sp>
      <p:sp>
        <p:nvSpPr>
          <p:cNvPr id="3" name="TextBox 2"/>
          <p:cNvSpPr txBox="1"/>
          <p:nvPr/>
        </p:nvSpPr>
        <p:spPr>
          <a:xfrm>
            <a:off x="438912" y="978408"/>
            <a:ext cx="10972800" cy="237694"/>
          </a:xfrm>
          <a:prstGeom prst="rect">
            <a:avLst/>
          </a:prstGeom>
          <a:noFill/>
          <a:ln>
            <a:noFill/>
          </a:ln>
        </p:spPr>
        <p:txBody>
          <a:bodyPr wrap="square" lIns="0" tIns="0" rIns="0" bIns="0" anchor="t">
            <a:spAutoFit/>
          </a:bodyPr>
          <a:lstStyle/>
          <a:p>
            <a:pPr algn="l">
              <a:lnSpc>
                <a:spcPct val="112000"/>
              </a:lnSpc>
              <a:spcBef>
                <a:spcPts val="0"/>
              </a:spcBef>
              <a:spcAft>
                <a:spcPts val="1000"/>
              </a:spcAft>
            </a:pPr>
            <a:r>
              <a:rPr sz="1500" b="0">
                <a:solidFill>
                  <a:srgbClr val="00677C"/>
                </a:solidFill>
                <a:latin typeface="Arial"/>
              </a:rPr>
              <a:t>West Tellus and West Neptune</a:t>
            </a:r>
            <a:r>
              <a:rPr lang="pt-BR" sz="1500" b="0">
                <a:solidFill>
                  <a:srgbClr val="00677C"/>
                </a:solidFill>
                <a:latin typeface="Arial"/>
              </a:rPr>
              <a:t>     IR-WCE-335-009 Rev 3     eDOCS 11237290</a:t>
            </a:r>
            <a:endParaRPr sz="1500" b="0">
              <a:solidFill>
                <a:srgbClr val="00677C"/>
              </a:solidFill>
              <a:latin typeface="Arial"/>
            </a:endParaRPr>
          </a:p>
        </p:txBody>
      </p:sp>
      <p:cxnSp>
        <p:nvCxnSpPr>
          <p:cNvPr id="4" name="Straight Connector 1">
            <a:extLst>
              <a:ext uri="{FF2B5EF4-FFF2-40B4-BE49-F238E27FC236}">
                <a16:creationId xmlns:a16="http://schemas.microsoft.com/office/drawing/2014/main" id="{FC5A151D-BBF2-DF50-2A3A-314381357F62}"/>
              </a:ext>
            </a:extLst>
          </p:cNvPr>
          <p:cNvCxnSpPr>
            <a:cxnSpLocks/>
          </p:cNvCxnSpPr>
          <p:nvPr/>
        </p:nvCxnSpPr>
        <p:spPr>
          <a:xfrm>
            <a:off x="371371" y="850600"/>
            <a:ext cx="2092130" cy="0"/>
          </a:xfrm>
          <a:prstGeom prst="line">
            <a:avLst/>
          </a:prstGeom>
          <a:ln w="28575"/>
        </p:spPr>
        <p:style>
          <a:lnRef idx="1">
            <a:schemeClr val="accent1"/>
          </a:lnRef>
          <a:fillRef idx="0">
            <a:schemeClr val="accent1"/>
          </a:fillRef>
          <a:effectRef idx="0">
            <a:schemeClr val="accent1"/>
          </a:effectRef>
          <a:fontRef idx="minor">
            <a:schemeClr val="tx1"/>
          </a:fontRef>
        </p:style>
      </p:cxnSp>
      <p:pic>
        <p:nvPicPr>
          <p:cNvPr id="5" name="Picture 107" descr="image.png"/>
          <p:cNvPicPr>
            <a:picLocks noChangeAspect="1"/>
          </p:cNvPicPr>
          <p:nvPr/>
        </p:nvPicPr>
        <p:blipFill>
          <a:blip r:embed="rId3"/>
          <a:stretch>
            <a:fillRect/>
          </a:stretch>
        </p:blipFill>
        <p:spPr>
          <a:xfrm>
            <a:off x="383133" y="6316675"/>
            <a:ext cx="826617" cy="303093"/>
          </a:xfrm>
          <a:prstGeom prst="rect">
            <a:avLst/>
          </a:prstGeom>
        </p:spPr>
      </p:pic>
      <p:sp>
        <p:nvSpPr>
          <p:cNvPr id="6" name="TextBox 108"/>
          <p:cNvSpPr txBox="1"/>
          <p:nvPr/>
        </p:nvSpPr>
        <p:spPr>
          <a:xfrm>
            <a:off x="11064240" y="6400800"/>
            <a:ext cx="731520" cy="126766"/>
          </a:xfrm>
          <a:prstGeom prst="rect">
            <a:avLst/>
          </a:prstGeom>
          <a:noFill/>
          <a:ln>
            <a:noFill/>
          </a:ln>
        </p:spPr>
        <p:txBody>
          <a:bodyPr wrap="square" lIns="0" tIns="0" rIns="0" bIns="0" anchor="t">
            <a:spAutoFit/>
          </a:bodyPr>
          <a:lstStyle/>
          <a:p>
            <a:pPr algn="l">
              <a:lnSpc>
                <a:spcPct val="112000"/>
              </a:lnSpc>
              <a:spcBef>
                <a:spcPts val="0"/>
              </a:spcBef>
              <a:spcAft>
                <a:spcPts val="1000"/>
              </a:spcAft>
            </a:pPr>
            <a:r>
              <a:rPr lang="en-US" sz="800" b="0">
                <a:solidFill>
                  <a:srgbClr val="2F5597"/>
                </a:solidFill>
                <a:latin typeface="Arial"/>
              </a:rPr>
              <a:t>2</a:t>
            </a:r>
            <a:endParaRPr sz="800" b="0">
              <a:solidFill>
                <a:srgbClr val="2F5597"/>
              </a:solidFill>
              <a:latin typeface="Arial"/>
            </a:endParaRPr>
          </a:p>
        </p:txBody>
      </p:sp>
      <p:pic>
        <p:nvPicPr>
          <p:cNvPr id="9" name="Picture 111" descr="event-001.png"/>
          <p:cNvPicPr>
            <a:picLocks noChangeAspect="1"/>
          </p:cNvPicPr>
          <p:nvPr/>
        </p:nvPicPr>
        <p:blipFill>
          <a:blip r:embed="rId4"/>
          <a:srcRect/>
          <a:stretch>
            <a:fillRect/>
          </a:stretch>
        </p:blipFill>
        <p:spPr>
          <a:xfrm>
            <a:off x="484632" y="1709035"/>
            <a:ext cx="2176272" cy="943617"/>
          </a:xfrm>
          <a:prstGeom prst="rect">
            <a:avLst/>
          </a:prstGeom>
        </p:spPr>
      </p:pic>
      <p:pic>
        <p:nvPicPr>
          <p:cNvPr id="12" name="Picture 114" descr="event-003.png"/>
          <p:cNvPicPr>
            <a:picLocks noChangeAspect="1"/>
          </p:cNvPicPr>
          <p:nvPr/>
        </p:nvPicPr>
        <p:blipFill>
          <a:blip r:embed="rId5"/>
          <a:srcRect/>
          <a:stretch>
            <a:fillRect/>
          </a:stretch>
        </p:blipFill>
        <p:spPr>
          <a:xfrm>
            <a:off x="2834640" y="1675030"/>
            <a:ext cx="2176272" cy="1011626"/>
          </a:xfrm>
          <a:prstGeom prst="rect">
            <a:avLst/>
          </a:prstGeom>
        </p:spPr>
      </p:pic>
      <p:pic>
        <p:nvPicPr>
          <p:cNvPr id="15" name="Picture 14" descr="image.png"/>
          <p:cNvPicPr>
            <a:picLocks noChangeAspect="1"/>
          </p:cNvPicPr>
          <p:nvPr/>
        </p:nvPicPr>
        <p:blipFill>
          <a:blip r:embed="rId6"/>
          <a:srcRect/>
          <a:stretch>
            <a:fillRect/>
          </a:stretch>
        </p:blipFill>
        <p:spPr>
          <a:xfrm>
            <a:off x="484632" y="4214866"/>
            <a:ext cx="2176272" cy="1134891"/>
          </a:xfrm>
          <a:prstGeom prst="rect">
            <a:avLst/>
          </a:prstGeom>
        </p:spPr>
      </p:pic>
      <p:pic>
        <p:nvPicPr>
          <p:cNvPr id="16" name="Picture 15" descr="image.png"/>
          <p:cNvPicPr>
            <a:picLocks noChangeAspect="1"/>
          </p:cNvPicPr>
          <p:nvPr/>
        </p:nvPicPr>
        <p:blipFill>
          <a:blip r:embed="rId7"/>
          <a:srcRect/>
          <a:stretch>
            <a:fillRect/>
          </a:stretch>
        </p:blipFill>
        <p:spPr>
          <a:xfrm>
            <a:off x="2834640" y="4061846"/>
            <a:ext cx="2176272" cy="1440930"/>
          </a:xfrm>
          <a:prstGeom prst="rect">
            <a:avLst/>
          </a:prstGeom>
        </p:spPr>
      </p:pic>
      <p:sp>
        <p:nvSpPr>
          <p:cNvPr id="17" name="TextBox 16"/>
          <p:cNvSpPr txBox="1"/>
          <p:nvPr/>
        </p:nvSpPr>
        <p:spPr>
          <a:xfrm>
            <a:off x="484632" y="2926080"/>
            <a:ext cx="2176272" cy="240579"/>
          </a:xfrm>
          <a:prstGeom prst="rect">
            <a:avLst/>
          </a:prstGeom>
          <a:noFill/>
        </p:spPr>
        <p:txBody>
          <a:bodyPr wrap="square" lIns="0" tIns="0" rIns="0" bIns="0">
            <a:spAutoFit/>
          </a:bodyPr>
          <a:lstStyle/>
          <a:p>
            <a:pPr>
              <a:lnSpc>
                <a:spcPct val="105000"/>
              </a:lnSpc>
              <a:spcAft>
                <a:spcPts val="1000"/>
              </a:spcAft>
            </a:pPr>
            <a:r>
              <a:rPr lang="en-US" sz="1600" b="1">
                <a:solidFill>
                  <a:srgbClr val="00677C"/>
                </a:solidFill>
                <a:latin typeface="Arial"/>
              </a:rPr>
              <a:t>WEST TELLUS</a:t>
            </a:r>
          </a:p>
        </p:txBody>
      </p:sp>
      <p:sp>
        <p:nvSpPr>
          <p:cNvPr id="18" name="TextBox 17"/>
          <p:cNvSpPr txBox="1"/>
          <p:nvPr/>
        </p:nvSpPr>
        <p:spPr>
          <a:xfrm>
            <a:off x="484632" y="3255264"/>
            <a:ext cx="2176272" cy="625812"/>
          </a:xfrm>
          <a:prstGeom prst="rect">
            <a:avLst/>
          </a:prstGeom>
          <a:noFill/>
        </p:spPr>
        <p:txBody>
          <a:bodyPr wrap="square" lIns="0" tIns="0" rIns="0" bIns="0">
            <a:spAutoFit/>
          </a:bodyPr>
          <a:lstStyle/>
          <a:p>
            <a:pPr>
              <a:lnSpc>
                <a:spcPct val="100000"/>
              </a:lnSpc>
              <a:spcBef>
                <a:spcPts val="0"/>
              </a:spcBef>
              <a:spcAft>
                <a:spcPts val="200"/>
              </a:spcAft>
            </a:pPr>
            <a:r>
              <a:rPr lang="en-US" sz="1300" b="0">
                <a:solidFill>
                  <a:srgbClr val="2F5597"/>
                </a:solidFill>
                <a:latin typeface="Arial"/>
              </a:rPr>
              <a:t>21 September 2025</a:t>
            </a:r>
            <a:endParaRPr lang="en-US" sz="1200" b="0">
              <a:solidFill>
                <a:srgbClr val="2F5597"/>
              </a:solidFill>
              <a:latin typeface="Arial"/>
            </a:endParaRPr>
          </a:p>
          <a:p>
            <a:pPr>
              <a:lnSpc>
                <a:spcPct val="100000"/>
              </a:lnSpc>
              <a:spcBef>
                <a:spcPts val="0"/>
              </a:spcBef>
              <a:spcAft>
                <a:spcPts val="200"/>
              </a:spcAft>
            </a:pPr>
            <a:r>
              <a:rPr lang="en-US" sz="1300" b="0">
                <a:solidFill>
                  <a:srgbClr val="2F5597"/>
                </a:solidFill>
                <a:latin typeface="Arial"/>
              </a:rPr>
              <a:t>Socket failure during riser-bolt breakout</a:t>
            </a:r>
            <a:endParaRPr lang="en-US" sz="1200" b="0">
              <a:solidFill>
                <a:srgbClr val="2F5597"/>
              </a:solidFill>
              <a:latin typeface="Arial"/>
            </a:endParaRPr>
          </a:p>
        </p:txBody>
      </p:sp>
      <p:sp>
        <p:nvSpPr>
          <p:cNvPr id="19" name="TextBox 18"/>
          <p:cNvSpPr txBox="1"/>
          <p:nvPr/>
        </p:nvSpPr>
        <p:spPr>
          <a:xfrm>
            <a:off x="2834640" y="2926080"/>
            <a:ext cx="2176272" cy="240579"/>
          </a:xfrm>
          <a:prstGeom prst="rect">
            <a:avLst/>
          </a:prstGeom>
          <a:noFill/>
        </p:spPr>
        <p:txBody>
          <a:bodyPr wrap="square" lIns="0" tIns="0" rIns="0" bIns="0">
            <a:spAutoFit/>
          </a:bodyPr>
          <a:lstStyle/>
          <a:p>
            <a:pPr>
              <a:lnSpc>
                <a:spcPct val="105000"/>
              </a:lnSpc>
              <a:spcAft>
                <a:spcPts val="1000"/>
              </a:spcAft>
            </a:pPr>
            <a:r>
              <a:rPr lang="en-US" sz="1600" b="1">
                <a:solidFill>
                  <a:srgbClr val="00677C"/>
                </a:solidFill>
                <a:latin typeface="Arial"/>
              </a:rPr>
              <a:t>WEST NEPTUNE</a:t>
            </a:r>
          </a:p>
        </p:txBody>
      </p:sp>
      <p:sp>
        <p:nvSpPr>
          <p:cNvPr id="20" name="TextBox 19"/>
          <p:cNvSpPr txBox="1"/>
          <p:nvPr/>
        </p:nvSpPr>
        <p:spPr>
          <a:xfrm>
            <a:off x="2834640" y="3255264"/>
            <a:ext cx="2176272" cy="625812"/>
          </a:xfrm>
          <a:prstGeom prst="rect">
            <a:avLst/>
          </a:prstGeom>
          <a:noFill/>
        </p:spPr>
        <p:txBody>
          <a:bodyPr wrap="square" lIns="0" tIns="0" rIns="0" bIns="0">
            <a:spAutoFit/>
          </a:bodyPr>
          <a:lstStyle/>
          <a:p>
            <a:pPr>
              <a:lnSpc>
                <a:spcPct val="100000"/>
              </a:lnSpc>
              <a:spcBef>
                <a:spcPts val="0"/>
              </a:spcBef>
              <a:spcAft>
                <a:spcPts val="200"/>
              </a:spcAft>
            </a:pPr>
            <a:r>
              <a:rPr lang="en-US" sz="1300" b="0">
                <a:solidFill>
                  <a:srgbClr val="2F5597"/>
                </a:solidFill>
                <a:latin typeface="Arial"/>
              </a:rPr>
              <a:t>2 October 2025</a:t>
            </a:r>
            <a:endParaRPr lang="en-US" sz="1200" b="0">
              <a:solidFill>
                <a:srgbClr val="2F5597"/>
              </a:solidFill>
              <a:latin typeface="Arial"/>
            </a:endParaRPr>
          </a:p>
          <a:p>
            <a:pPr>
              <a:lnSpc>
                <a:spcPct val="100000"/>
              </a:lnSpc>
              <a:spcBef>
                <a:spcPts val="0"/>
              </a:spcBef>
              <a:spcAft>
                <a:spcPts val="200"/>
              </a:spcAft>
            </a:pPr>
            <a:r>
              <a:rPr lang="en-US" sz="1300" b="0">
                <a:solidFill>
                  <a:srgbClr val="2F5597"/>
                </a:solidFill>
                <a:latin typeface="Arial"/>
              </a:rPr>
              <a:t>New sockets failed on first use during riser pull</a:t>
            </a:r>
            <a:endParaRPr lang="en-US" sz="1200" b="0">
              <a:solidFill>
                <a:srgbClr val="2F5597"/>
              </a:solidFill>
              <a:latin typeface="Arial"/>
            </a:endParaRPr>
          </a:p>
        </p:txBody>
      </p:sp>
      <p:sp>
        <p:nvSpPr>
          <p:cNvPr id="21" name="TextBox 20"/>
          <p:cNvSpPr txBox="1"/>
          <p:nvPr/>
        </p:nvSpPr>
        <p:spPr>
          <a:xfrm>
            <a:off x="484632" y="5596128"/>
            <a:ext cx="2176272" cy="600164"/>
          </a:xfrm>
          <a:prstGeom prst="rect">
            <a:avLst/>
          </a:prstGeom>
          <a:noFill/>
        </p:spPr>
        <p:txBody>
          <a:bodyPr wrap="square" lIns="0" tIns="0" rIns="0" bIns="0">
            <a:spAutoFit/>
          </a:bodyPr>
          <a:lstStyle/>
          <a:p>
            <a:pPr>
              <a:lnSpc>
                <a:spcPct val="100000"/>
              </a:lnSpc>
              <a:spcAft>
                <a:spcPts val="200"/>
              </a:spcAft>
            </a:pPr>
            <a:r>
              <a:rPr lang="en-US" sz="1300">
                <a:solidFill>
                  <a:srgbClr val="2F5597"/>
                </a:solidFill>
                <a:latin typeface="Arial"/>
              </a:rPr>
              <a:t>Gear failures and body/plate tolerance issues. Rebuilt gear failed after 1–2 runs.</a:t>
            </a:r>
          </a:p>
        </p:txBody>
      </p:sp>
      <p:sp>
        <p:nvSpPr>
          <p:cNvPr id="22" name="TextBox 21"/>
          <p:cNvSpPr txBox="1"/>
          <p:nvPr/>
        </p:nvSpPr>
        <p:spPr>
          <a:xfrm>
            <a:off x="2834640" y="5596128"/>
            <a:ext cx="2176272" cy="802784"/>
          </a:xfrm>
          <a:prstGeom prst="rect">
            <a:avLst/>
          </a:prstGeom>
          <a:noFill/>
        </p:spPr>
        <p:txBody>
          <a:bodyPr wrap="square" lIns="0" tIns="0" rIns="0" bIns="0">
            <a:spAutoFit/>
          </a:bodyPr>
          <a:lstStyle/>
          <a:p>
            <a:pPr>
              <a:lnSpc>
                <a:spcPct val="100000"/>
              </a:lnSpc>
              <a:spcAft>
                <a:spcPts val="200"/>
              </a:spcAft>
            </a:pPr>
            <a:r>
              <a:rPr lang="en-US" sz="1300">
                <a:solidFill>
                  <a:srgbClr val="2F5597"/>
                </a:solidFill>
                <a:latin typeface="Arial"/>
              </a:rPr>
              <a:t>Socket fracture and cracks. Newly received sockets failed on first use.</a:t>
            </a:r>
          </a:p>
          <a:p>
            <a:pPr>
              <a:lnSpc>
                <a:spcPct val="100000"/>
              </a:lnSpc>
              <a:spcBef>
                <a:spcPts val="0"/>
              </a:spcBef>
              <a:spcAft>
                <a:spcPts val="200"/>
              </a:spcAft>
            </a:pPr>
            <a:endParaRPr lang="en-US" sz="1150" b="0">
              <a:solidFill>
                <a:srgbClr val="2F5597"/>
              </a:solidFill>
              <a:latin typeface="Arial"/>
            </a:endParaRPr>
          </a:p>
        </p:txBody>
      </p:sp>
      <p:pic>
        <p:nvPicPr>
          <p:cNvPr id="26" name="West Polaris failure 28 September 2026 - image 7" descr="image (7).jpg"/>
          <p:cNvPicPr>
            <a:picLocks noChangeAspect="1"/>
          </p:cNvPicPr>
          <p:nvPr/>
        </p:nvPicPr>
        <p:blipFill>
          <a:blip r:embed="rId8"/>
          <a:stretch>
            <a:fillRect/>
          </a:stretch>
        </p:blipFill>
        <p:spPr>
          <a:xfrm>
            <a:off x="5193792" y="1938528"/>
            <a:ext cx="2139696" cy="2852928"/>
          </a:xfrm>
          <a:prstGeom prst="rect">
            <a:avLst/>
          </a:prstGeom>
        </p:spPr>
      </p:pic>
      <p:sp>
        <p:nvSpPr>
          <p:cNvPr id="27" name="TextBox 26"/>
          <p:cNvSpPr txBox="1"/>
          <p:nvPr/>
        </p:nvSpPr>
        <p:spPr>
          <a:xfrm>
            <a:off x="5193792" y="1572768"/>
            <a:ext cx="2139696" cy="246221"/>
          </a:xfrm>
          <a:prstGeom prst="rect">
            <a:avLst/>
          </a:prstGeom>
          <a:noFill/>
        </p:spPr>
        <p:txBody>
          <a:bodyPr wrap="square" lIns="0" tIns="0" rIns="0" bIns="0">
            <a:spAutoFit/>
          </a:bodyPr>
          <a:lstStyle/>
          <a:p>
            <a:r>
              <a:rPr lang="en-US" sz="1600" b="1">
                <a:solidFill>
                  <a:srgbClr val="00677C"/>
                </a:solidFill>
                <a:latin typeface="Arial"/>
              </a:rPr>
              <a:t>WEST POLARIS</a:t>
            </a:r>
          </a:p>
        </p:txBody>
      </p:sp>
      <p:sp>
        <p:nvSpPr>
          <p:cNvPr id="28" name="TextBox 27"/>
          <p:cNvSpPr txBox="1"/>
          <p:nvPr/>
        </p:nvSpPr>
        <p:spPr>
          <a:xfrm>
            <a:off x="5193792" y="4937760"/>
            <a:ext cx="2139696" cy="1051570"/>
          </a:xfrm>
          <a:prstGeom prst="rect">
            <a:avLst/>
          </a:prstGeom>
          <a:noFill/>
        </p:spPr>
        <p:txBody>
          <a:bodyPr wrap="square" lIns="0" tIns="0" rIns="0" bIns="0">
            <a:spAutoFit/>
          </a:bodyPr>
          <a:lstStyle/>
          <a:p>
            <a:pPr>
              <a:lnSpc>
                <a:spcPct val="100000"/>
              </a:lnSpc>
              <a:spcAft>
                <a:spcPts val="200"/>
              </a:spcAft>
            </a:pPr>
            <a:r>
              <a:rPr sz="1300" b="0" dirty="0">
                <a:solidFill>
                  <a:srgbClr val="2F5597"/>
                </a:solidFill>
                <a:latin typeface="Arial"/>
              </a:rPr>
              <a:t>28 September 2026
</a:t>
            </a:r>
            <a:r>
              <a:rPr lang="en-US" sz="1300">
                <a:solidFill>
                  <a:srgbClr val="2F5597"/>
                </a:solidFill>
                <a:latin typeface="Arial"/>
              </a:rPr>
              <a:t>10 sockets with broken bodies or sheared shafts. Only 1 RTT fully operational.</a:t>
            </a:r>
          </a:p>
          <a:p>
            <a:pPr>
              <a:lnSpc>
                <a:spcPct val="100000"/>
              </a:lnSpc>
              <a:spcAft>
                <a:spcPts val="200"/>
              </a:spcAft>
            </a:pPr>
            <a:endParaRPr lang="en-US" sz="1300" b="0">
              <a:solidFill>
                <a:srgbClr val="2F5597"/>
              </a:solidFill>
              <a:latin typeface="Arial"/>
            </a:endParaRPr>
          </a:p>
        </p:txBody>
      </p:sp>
      <p:sp>
        <p:nvSpPr>
          <p:cNvPr id="29" name="TextBox 28"/>
          <p:cNvSpPr txBox="1"/>
          <p:nvPr/>
        </p:nvSpPr>
        <p:spPr>
          <a:xfrm>
            <a:off x="7516368" y="1581019"/>
            <a:ext cx="4160520" cy="246221"/>
          </a:xfrm>
          <a:prstGeom prst="rect">
            <a:avLst/>
          </a:prstGeom>
          <a:noFill/>
        </p:spPr>
        <p:txBody>
          <a:bodyPr wrap="square" lIns="0" tIns="0" rIns="0" bIns="0">
            <a:spAutoFit/>
          </a:bodyPr>
          <a:lstStyle/>
          <a:p>
            <a:pPr>
              <a:lnSpc>
                <a:spcPct val="100000"/>
              </a:lnSpc>
              <a:spcAft>
                <a:spcPts val="400"/>
              </a:spcAft>
            </a:pPr>
            <a:r>
              <a:rPr lang="en-US" sz="1600" b="1">
                <a:solidFill>
                  <a:srgbClr val="B42318"/>
                </a:solidFill>
                <a:latin typeface="Arial"/>
              </a:rPr>
              <a:t>FLASH ALERT: DROPPED OBJECT</a:t>
            </a:r>
          </a:p>
        </p:txBody>
      </p:sp>
      <p:sp>
        <p:nvSpPr>
          <p:cNvPr id="30" name="Flash alert date and unit"/>
          <p:cNvSpPr txBox="1"/>
          <p:nvPr/>
        </p:nvSpPr>
        <p:spPr>
          <a:xfrm>
            <a:off x="7516368" y="1965960"/>
            <a:ext cx="4160520" cy="859536"/>
          </a:xfrm>
          <a:prstGeom prst="rect">
            <a:avLst/>
          </a:prstGeom>
          <a:noFill/>
        </p:spPr>
        <p:txBody>
          <a:bodyPr wrap="square" lIns="0" tIns="0" rIns="0" bIns="0">
            <a:spAutoFit/>
          </a:bodyPr>
          <a:lstStyle/>
          <a:p>
            <a:pPr>
              <a:lnSpc>
                <a:spcPct val="100000"/>
              </a:lnSpc>
              <a:spcAft>
                <a:spcPts val="800"/>
              </a:spcAft>
            </a:pPr>
            <a:r>
              <a:rPr sz="1400" b="1">
                <a:solidFill>
                  <a:srgbClr val="00677C"/>
                </a:solidFill>
                <a:latin typeface="Arial"/>
              </a:rPr>
              <a:t>Date: 20 September 2025</a:t>
            </a:r>
          </a:p>
          <a:p>
            <a:pPr>
              <a:lnSpc>
                <a:spcPct val="100000"/>
              </a:lnSpc>
              <a:spcAft>
                <a:spcPts val="800"/>
              </a:spcAft>
            </a:pPr>
            <a:r>
              <a:rPr sz="1400" b="1">
                <a:solidFill>
                  <a:srgbClr val="00677C"/>
                </a:solidFill>
                <a:latin typeface="Arial"/>
              </a:rPr>
              <a:t>Unit: West Tellus (floater)</a:t>
            </a:r>
          </a:p>
          <a:p>
            <a:pPr>
              <a:lnSpc>
                <a:spcPct val="100000"/>
              </a:lnSpc>
              <a:spcAft>
                <a:spcPts val="800"/>
              </a:spcAft>
            </a:pPr>
            <a:r>
              <a:rPr sz="1400" b="1">
                <a:solidFill>
                  <a:srgbClr val="00677C"/>
                </a:solidFill>
                <a:latin typeface="Arial"/>
              </a:rPr>
              <a:t>Serious near miss   /   Synergi 1790819</a:t>
            </a:r>
          </a:p>
        </p:txBody>
      </p:sp>
      <p:sp>
        <p:nvSpPr>
          <p:cNvPr id="31" name="Flash alert incident description"/>
          <p:cNvSpPr txBox="1"/>
          <p:nvPr/>
        </p:nvSpPr>
        <p:spPr>
          <a:xfrm>
            <a:off x="7516368" y="2962656"/>
            <a:ext cx="4160520" cy="2724912"/>
          </a:xfrm>
          <a:prstGeom prst="rect">
            <a:avLst/>
          </a:prstGeom>
          <a:noFill/>
        </p:spPr>
        <p:txBody>
          <a:bodyPr wrap="square" lIns="0" tIns="0" rIns="0" bIns="0">
            <a:spAutoFit/>
          </a:bodyPr>
          <a:lstStyle/>
          <a:p>
            <a:pPr>
              <a:lnSpc>
                <a:spcPct val="100000"/>
              </a:lnSpc>
              <a:spcAft>
                <a:spcPts val="800"/>
              </a:spcAft>
            </a:pPr>
            <a:r>
              <a:rPr sz="1400" b="0">
                <a:solidFill>
                  <a:srgbClr val="2F5597"/>
                </a:solidFill>
                <a:latin typeface="Arial"/>
              </a:rPr>
              <a:t>During an attempt to break torque on a riser bolt, a 3¾-inch hex socket fractured. The broken segment bounced across the rig floor toward the riser catwalk, then fell onto the riser deck.</a:t>
            </a:r>
          </a:p>
          <a:p>
            <a:pPr>
              <a:lnSpc>
                <a:spcPct val="100000"/>
              </a:lnSpc>
              <a:spcAft>
                <a:spcPts val="800"/>
              </a:spcAft>
            </a:pPr>
            <a:r>
              <a:rPr sz="1400" b="0">
                <a:solidFill>
                  <a:srgbClr val="2F5597"/>
                </a:solidFill>
                <a:latin typeface="Arial"/>
              </a:rPr>
              <a:t>The fragment weighed approximately 1.3 kg and fell approximately 13.6 m from the catwalk to the deck.</a:t>
            </a:r>
          </a:p>
          <a:p>
            <a:pPr>
              <a:lnSpc>
                <a:spcPct val="100000"/>
              </a:lnSpc>
              <a:spcAft>
                <a:spcPts val="800"/>
              </a:spcAft>
            </a:pPr>
            <a:r>
              <a:rPr sz="1400" b="0">
                <a:solidFill>
                  <a:srgbClr val="2F5597"/>
                </a:solidFill>
                <a:latin typeface="Arial"/>
              </a:rPr>
              <a:t>Advanced riser-bolt corrosion required repeated torque-break attempts. The BOP had been in the water for 13 months.</a:t>
            </a:r>
          </a:p>
          <a:p>
            <a:pPr>
              <a:lnSpc>
                <a:spcPct val="100000"/>
              </a:lnSpc>
              <a:spcAft>
                <a:spcPts val="800"/>
              </a:spcAft>
            </a:pPr>
            <a:r>
              <a:rPr sz="1400" b="0">
                <a:solidFill>
                  <a:srgbClr val="2F5597"/>
                </a:solidFill>
                <a:latin typeface="Arial"/>
              </a:rPr>
              <a:t>Red-zone controls were in place on the riser deck during riser handling with the gantry crane.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1"/>
          <p:cNvSpPr txBox="1"/>
          <p:nvPr/>
        </p:nvSpPr>
        <p:spPr>
          <a:xfrm>
            <a:off x="374904" y="347472"/>
            <a:ext cx="11247120" cy="443711"/>
          </a:xfrm>
          <a:prstGeom prst="rect">
            <a:avLst/>
          </a:prstGeom>
          <a:noFill/>
          <a:ln>
            <a:noFill/>
          </a:ln>
        </p:spPr>
        <p:txBody>
          <a:bodyPr wrap="square" lIns="0" tIns="0" rIns="0" bIns="0" anchor="t">
            <a:spAutoFit/>
          </a:bodyPr>
          <a:lstStyle/>
          <a:p>
            <a:pPr algn="l">
              <a:lnSpc>
                <a:spcPct val="112000"/>
              </a:lnSpc>
              <a:spcBef>
                <a:spcPts val="0"/>
              </a:spcBef>
              <a:spcAft>
                <a:spcPts val="1000"/>
              </a:spcAft>
            </a:pPr>
            <a:r>
              <a:rPr sz="2800" b="0" dirty="0">
                <a:solidFill>
                  <a:srgbClr val="2F5597"/>
                </a:solidFill>
                <a:latin typeface="Arial"/>
              </a:rPr>
              <a:t>AAB C10247907: </a:t>
            </a:r>
            <a:r>
              <a:rPr lang="en-US" sz="2800" b="0" dirty="0">
                <a:solidFill>
                  <a:srgbClr val="2F5597"/>
                </a:solidFill>
                <a:latin typeface="Arial"/>
              </a:rPr>
              <a:t>M</a:t>
            </a:r>
            <a:r>
              <a:rPr sz="2800" b="0" dirty="0">
                <a:solidFill>
                  <a:srgbClr val="2F5597"/>
                </a:solidFill>
                <a:latin typeface="Arial"/>
              </a:rPr>
              <a:t>andatory fleet requirements</a:t>
            </a:r>
          </a:p>
        </p:txBody>
      </p:sp>
      <p:sp>
        <p:nvSpPr>
          <p:cNvPr id="4" name="TextBox 2"/>
          <p:cNvSpPr txBox="1"/>
          <p:nvPr/>
        </p:nvSpPr>
        <p:spPr>
          <a:xfrm>
            <a:off x="438912" y="978408"/>
            <a:ext cx="10972800" cy="502920"/>
          </a:xfrm>
          <a:prstGeom prst="rect">
            <a:avLst/>
          </a:prstGeom>
          <a:noFill/>
          <a:ln>
            <a:noFill/>
          </a:ln>
        </p:spPr>
        <p:txBody>
          <a:bodyPr wrap="square" lIns="0" tIns="0" rIns="0" bIns="0" anchor="t">
            <a:spAutoFit/>
          </a:bodyPr>
          <a:lstStyle/>
          <a:p>
            <a:pPr algn="l">
              <a:lnSpc>
                <a:spcPct val="112000"/>
              </a:lnSpc>
              <a:spcBef>
                <a:spcPts val="0"/>
              </a:spcBef>
              <a:spcAft>
                <a:spcPts val="1000"/>
              </a:spcAft>
            </a:pPr>
            <a:r>
              <a:rPr sz="1500" b="0">
                <a:solidFill>
                  <a:srgbClr val="00677C"/>
                </a:solidFill>
                <a:latin typeface="Arial"/>
              </a:rPr>
              <a:t>Effective immediately on all rigs. Summary of the supplied AAB direction.</a:t>
            </a:r>
          </a:p>
        </p:txBody>
      </p:sp>
      <p:cxnSp>
        <p:nvCxnSpPr>
          <p:cNvPr id="5" name="Straight Connector 1">
            <a:extLst>
              <a:ext uri="{FF2B5EF4-FFF2-40B4-BE49-F238E27FC236}">
                <a16:creationId xmlns:a16="http://schemas.microsoft.com/office/drawing/2014/main" id="{FC5A151D-BBF2-DF50-2A3A-314381357F62}"/>
              </a:ext>
            </a:extLst>
          </p:cNvPr>
          <p:cNvCxnSpPr>
            <a:cxnSpLocks/>
          </p:cNvCxnSpPr>
          <p:nvPr/>
        </p:nvCxnSpPr>
        <p:spPr>
          <a:xfrm>
            <a:off x="371371" y="850600"/>
            <a:ext cx="2092130" cy="0"/>
          </a:xfrm>
          <a:prstGeom prst="line">
            <a:avLst/>
          </a:prstGeom>
          <a:ln w="28575"/>
        </p:spPr>
        <p:style>
          <a:lnRef idx="1">
            <a:schemeClr val="accent1"/>
          </a:lnRef>
          <a:fillRef idx="0">
            <a:schemeClr val="accent1"/>
          </a:fillRef>
          <a:effectRef idx="0">
            <a:schemeClr val="accent1"/>
          </a:effectRef>
          <a:fontRef idx="minor">
            <a:schemeClr val="tx1"/>
          </a:fontRef>
        </p:style>
      </p:cxnSp>
      <p:pic>
        <p:nvPicPr>
          <p:cNvPr id="6" name="Picture 4" descr="image.png"/>
          <p:cNvPicPr>
            <a:picLocks noChangeAspect="1"/>
          </p:cNvPicPr>
          <p:nvPr/>
        </p:nvPicPr>
        <p:blipFill>
          <a:blip r:embed="rId3"/>
          <a:stretch>
            <a:fillRect/>
          </a:stretch>
        </p:blipFill>
        <p:spPr>
          <a:xfrm>
            <a:off x="383133" y="6316675"/>
            <a:ext cx="826617" cy="303093"/>
          </a:xfrm>
          <a:prstGeom prst="rect">
            <a:avLst/>
          </a:prstGeom>
        </p:spPr>
      </p:pic>
      <p:sp>
        <p:nvSpPr>
          <p:cNvPr id="7" name="TextBox 108"/>
          <p:cNvSpPr txBox="1"/>
          <p:nvPr/>
        </p:nvSpPr>
        <p:spPr>
          <a:xfrm>
            <a:off x="11064240" y="6400800"/>
            <a:ext cx="731520" cy="126766"/>
          </a:xfrm>
          <a:prstGeom prst="rect">
            <a:avLst/>
          </a:prstGeom>
          <a:noFill/>
          <a:ln>
            <a:noFill/>
          </a:ln>
        </p:spPr>
        <p:txBody>
          <a:bodyPr wrap="square" lIns="0" tIns="0" rIns="0" bIns="0" anchor="t">
            <a:spAutoFit/>
          </a:bodyPr>
          <a:lstStyle/>
          <a:p>
            <a:pPr algn="l">
              <a:lnSpc>
                <a:spcPct val="112000"/>
              </a:lnSpc>
              <a:spcBef>
                <a:spcPts val="0"/>
              </a:spcBef>
              <a:spcAft>
                <a:spcPts val="1000"/>
              </a:spcAft>
            </a:pPr>
            <a:r>
              <a:rPr lang="en-US" sz="800" b="0">
                <a:solidFill>
                  <a:srgbClr val="2F5597"/>
                </a:solidFill>
                <a:latin typeface="Arial"/>
              </a:rPr>
              <a:t>3</a:t>
            </a:r>
            <a:endParaRPr sz="800" b="0">
              <a:solidFill>
                <a:srgbClr val="2F5597"/>
              </a:solidFill>
              <a:latin typeface="Arial"/>
            </a:endParaRPr>
          </a:p>
        </p:txBody>
      </p:sp>
      <p:sp>
        <p:nvSpPr>
          <p:cNvPr id="9" name="TextBox 8"/>
          <p:cNvSpPr txBox="1"/>
          <p:nvPr/>
        </p:nvSpPr>
        <p:spPr>
          <a:xfrm>
            <a:off x="484632" y="1508760"/>
            <a:ext cx="5376672" cy="246221"/>
          </a:xfrm>
          <a:prstGeom prst="rect">
            <a:avLst/>
          </a:prstGeom>
          <a:noFill/>
        </p:spPr>
        <p:txBody>
          <a:bodyPr wrap="square" lIns="0" tIns="0" rIns="0" bIns="0">
            <a:spAutoFit/>
          </a:bodyPr>
          <a:lstStyle/>
          <a:p>
            <a:pPr>
              <a:lnSpc>
                <a:spcPct val="100000"/>
              </a:lnSpc>
              <a:spcAft>
                <a:spcPts val="500"/>
              </a:spcAft>
            </a:pPr>
            <a:r>
              <a:rPr lang="en-US" sz="1600" b="1">
                <a:solidFill>
                  <a:srgbClr val="00677C"/>
                </a:solidFill>
                <a:latin typeface="Arial"/>
              </a:rPr>
              <a:t>SOCKET SELECTION AND USE</a:t>
            </a:r>
          </a:p>
        </p:txBody>
      </p:sp>
      <p:sp>
        <p:nvSpPr>
          <p:cNvPr id="10" name="TextBox 9"/>
          <p:cNvSpPr txBox="1"/>
          <p:nvPr/>
        </p:nvSpPr>
        <p:spPr>
          <a:xfrm>
            <a:off x="484632" y="1865376"/>
            <a:ext cx="5376672" cy="2432304"/>
          </a:xfrm>
          <a:prstGeom prst="rect">
            <a:avLst/>
          </a:prstGeom>
          <a:noFill/>
        </p:spPr>
        <p:txBody>
          <a:bodyPr wrap="square" lIns="0" tIns="0" rIns="0" bIns="0">
            <a:spAutoFit/>
          </a:bodyPr>
          <a:lstStyle/>
          <a:p>
            <a:pPr>
              <a:lnSpc>
                <a:spcPct val="100000"/>
              </a:lnSpc>
              <a:spcAft>
                <a:spcPts val="600"/>
              </a:spcAft>
            </a:pPr>
            <a:r>
              <a:rPr lang="en-US" sz="1600" b="0">
                <a:solidFill>
                  <a:srgbClr val="2F5597"/>
                </a:solidFill>
                <a:latin typeface="Arial"/>
              </a:rPr>
              <a:t>Inner bolt circle: ≈5.875 in OD sockets SHALL NOT be used. Use ≈5.375 in OD sockets.</a:t>
            </a:r>
          </a:p>
          <a:p>
            <a:pPr>
              <a:lnSpc>
                <a:spcPct val="100000"/>
              </a:lnSpc>
              <a:spcAft>
                <a:spcPts val="600"/>
              </a:spcAft>
            </a:pPr>
            <a:r>
              <a:rPr lang="en-US" sz="1600" b="0">
                <a:solidFill>
                  <a:srgbClr val="2F5597"/>
                </a:solidFill>
                <a:latin typeface="Arial"/>
              </a:rPr>
              <a:t>If only thick sockets are onboard, use Hytorc for initial inner-bolt breaking. Contact TSC Well Control Equipment if the correct Hytorc is unavailable.</a:t>
            </a:r>
          </a:p>
          <a:p>
            <a:pPr>
              <a:lnSpc>
                <a:spcPct val="100000"/>
              </a:lnSpc>
              <a:spcAft>
                <a:spcPts val="600"/>
              </a:spcAft>
            </a:pPr>
            <a:r>
              <a:rPr lang="en-US" sz="1600" b="0">
                <a:solidFill>
                  <a:srgbClr val="2F5597"/>
                </a:solidFill>
                <a:latin typeface="Arial"/>
              </a:rPr>
              <a:t>Thick sockets: OUTER bolt circle only, with sufficient clearance.</a:t>
            </a:r>
          </a:p>
          <a:p>
            <a:pPr>
              <a:lnSpc>
                <a:spcPct val="100000"/>
              </a:lnSpc>
              <a:spcAft>
                <a:spcPts val="600"/>
              </a:spcAft>
            </a:pPr>
            <a:r>
              <a:rPr lang="en-US" sz="1600" b="0">
                <a:solidFill>
                  <a:srgbClr val="2F5597"/>
                </a:solidFill>
                <a:latin typeface="Arial"/>
              </a:rPr>
              <a:t>Verify tool selection before make-up/break-out. Escalate uncertainty to Technical Services before use.</a:t>
            </a:r>
          </a:p>
        </p:txBody>
      </p:sp>
      <p:sp>
        <p:nvSpPr>
          <p:cNvPr id="11" name="TextBox 10"/>
          <p:cNvSpPr txBox="1"/>
          <p:nvPr/>
        </p:nvSpPr>
        <p:spPr>
          <a:xfrm>
            <a:off x="6236208" y="4590288"/>
            <a:ext cx="5458968" cy="274320"/>
          </a:xfrm>
          <a:prstGeom prst="rect">
            <a:avLst/>
          </a:prstGeom>
          <a:noFill/>
        </p:spPr>
        <p:txBody>
          <a:bodyPr wrap="square" lIns="0" tIns="0" rIns="0" bIns="0">
            <a:spAutoFit/>
          </a:bodyPr>
          <a:lstStyle/>
          <a:p>
            <a:pPr>
              <a:lnSpc>
                <a:spcPct val="100000"/>
              </a:lnSpc>
              <a:spcAft>
                <a:spcPts val="0"/>
              </a:spcAft>
            </a:pPr>
            <a:r>
              <a:rPr lang="en-US" sz="1600" b="1">
                <a:solidFill>
                  <a:srgbClr val="00677C"/>
                </a:solidFill>
                <a:latin typeface="Arial"/>
              </a:rPr>
              <a:t>INSPECTION AND PROTECTION</a:t>
            </a:r>
          </a:p>
        </p:txBody>
      </p:sp>
      <p:sp>
        <p:nvSpPr>
          <p:cNvPr id="12" name="TextBox 11"/>
          <p:cNvSpPr txBox="1"/>
          <p:nvPr/>
        </p:nvSpPr>
        <p:spPr>
          <a:xfrm>
            <a:off x="6236208" y="4928616"/>
            <a:ext cx="5458968" cy="1395254"/>
          </a:xfrm>
          <a:prstGeom prst="rect">
            <a:avLst/>
          </a:prstGeom>
          <a:noFill/>
        </p:spPr>
        <p:txBody>
          <a:bodyPr wrap="square" lIns="0" tIns="0" rIns="0" bIns="0">
            <a:spAutoFit/>
          </a:bodyPr>
          <a:lstStyle/>
          <a:p>
            <a:pPr>
              <a:lnSpc>
                <a:spcPct val="100000"/>
              </a:lnSpc>
              <a:spcAft>
                <a:spcPts val="400"/>
              </a:spcAft>
            </a:pPr>
            <a:r>
              <a:rPr lang="en-US" sz="1400" b="0">
                <a:solidFill>
                  <a:srgbClr val="2F5597"/>
                </a:solidFill>
                <a:latin typeface="Arial"/>
              </a:rPr>
              <a:t>NDE sockets for cracks before EVERY riser run or pull. Requirement added to BWM PM.</a:t>
            </a:r>
          </a:p>
          <a:p>
            <a:pPr>
              <a:lnSpc>
                <a:spcPct val="100000"/>
              </a:lnSpc>
              <a:spcAft>
                <a:spcPts val="400"/>
              </a:spcAft>
            </a:pPr>
            <a:r>
              <a:rPr lang="en-US" sz="1400" b="0">
                <a:solidFill>
                  <a:srgbClr val="2F5597"/>
                </a:solidFill>
                <a:latin typeface="Arial"/>
              </a:rPr>
              <a:t>Verify ICCP operation. Investigate and document ground faults with TSC Electric.</a:t>
            </a:r>
          </a:p>
          <a:p>
            <a:pPr>
              <a:lnSpc>
                <a:spcPct val="100000"/>
              </a:lnSpc>
              <a:spcAft>
                <a:spcPts val="400"/>
              </a:spcAft>
            </a:pPr>
            <a:r>
              <a:rPr lang="en-US" sz="1400" b="0">
                <a:solidFill>
                  <a:srgbClr val="2F5597"/>
                </a:solidFill>
                <a:latin typeface="Arial"/>
              </a:rPr>
              <a:t>Perform BOP cathodic protection survey per AX061682. Verify anodes against the latest mapping with TSC BOP Controls.</a:t>
            </a:r>
          </a:p>
        </p:txBody>
      </p:sp>
      <p:sp>
        <p:nvSpPr>
          <p:cNvPr id="13" name="TextBox 12"/>
          <p:cNvSpPr txBox="1"/>
          <p:nvPr/>
        </p:nvSpPr>
        <p:spPr>
          <a:xfrm>
            <a:off x="484632" y="4416552"/>
            <a:ext cx="5376672" cy="600164"/>
          </a:xfrm>
          <a:prstGeom prst="rect">
            <a:avLst/>
          </a:prstGeom>
          <a:noFill/>
        </p:spPr>
        <p:txBody>
          <a:bodyPr wrap="square" lIns="0" tIns="0" rIns="0" bIns="0">
            <a:spAutoFit/>
          </a:bodyPr>
          <a:lstStyle/>
          <a:p>
            <a:pPr>
              <a:lnSpc>
                <a:spcPct val="100000"/>
              </a:lnSpc>
              <a:spcAft>
                <a:spcPts val="200"/>
              </a:spcAft>
            </a:pPr>
            <a:r>
              <a:rPr lang="en-US" sz="1300" b="0">
                <a:solidFill>
                  <a:srgbClr val="646D76"/>
                </a:solidFill>
                <a:latin typeface="Arial"/>
              </a:rPr>
              <a:t>Technical basis: all reviewed failures involved thick sockets on the inner circle. The ≈6.0 in spot-bore leaves little clearance. Deflection under load can cause interference, bending and cracking.</a:t>
            </a:r>
          </a:p>
        </p:txBody>
      </p:sp>
      <p:sp>
        <p:nvSpPr>
          <p:cNvPr id="14" name="TextBox 13"/>
          <p:cNvSpPr txBox="1"/>
          <p:nvPr/>
        </p:nvSpPr>
        <p:spPr>
          <a:xfrm>
            <a:off x="484632" y="5285232"/>
            <a:ext cx="5376672" cy="246221"/>
          </a:xfrm>
          <a:prstGeom prst="rect">
            <a:avLst/>
          </a:prstGeom>
          <a:noFill/>
        </p:spPr>
        <p:txBody>
          <a:bodyPr wrap="square" lIns="0" tIns="0" rIns="0" bIns="0">
            <a:spAutoFit/>
          </a:bodyPr>
          <a:lstStyle/>
          <a:p>
            <a:pPr>
              <a:lnSpc>
                <a:spcPct val="100000"/>
              </a:lnSpc>
              <a:spcAft>
                <a:spcPts val="0"/>
              </a:spcAft>
            </a:pPr>
            <a:r>
              <a:rPr lang="en-US" sz="1600" b="1">
                <a:solidFill>
                  <a:srgbClr val="00677C"/>
                </a:solidFill>
                <a:latin typeface="Arial"/>
              </a:rPr>
              <a:t>REGIONAL MACHINING AND OEM FOLLOW-UP</a:t>
            </a:r>
          </a:p>
        </p:txBody>
      </p:sp>
      <p:sp>
        <p:nvSpPr>
          <p:cNvPr id="15" name="TextBox 14"/>
          <p:cNvSpPr txBox="1"/>
          <p:nvPr/>
        </p:nvSpPr>
        <p:spPr>
          <a:xfrm>
            <a:off x="484632" y="5614416"/>
            <a:ext cx="5376672" cy="600164"/>
          </a:xfrm>
          <a:prstGeom prst="rect">
            <a:avLst/>
          </a:prstGeom>
          <a:noFill/>
        </p:spPr>
        <p:txBody>
          <a:bodyPr wrap="square" lIns="0" tIns="0" rIns="0" bIns="0">
            <a:spAutoFit/>
          </a:bodyPr>
          <a:lstStyle/>
          <a:p>
            <a:pPr>
              <a:lnSpc>
                <a:spcPct val="100000"/>
              </a:lnSpc>
              <a:spcAft>
                <a:spcPts val="300"/>
              </a:spcAft>
            </a:pPr>
            <a:r>
              <a:rPr lang="en-US" sz="1300" b="0">
                <a:solidFill>
                  <a:srgbClr val="2F5597"/>
                </a:solidFill>
                <a:latin typeface="Arial"/>
              </a:rPr>
              <a:t>GOA / Africa: free Power Tork machining. Brazil: VRV, Macaé, R$ 2.628,00/socket. New Brazil sockets: 25% Clover discount. TSC/OEM machining and redesign continue. Full terms in notes.</a:t>
            </a:r>
            <a:endParaRPr lang="en-US" sz="1400" b="0">
              <a:solidFill>
                <a:srgbClr val="2F5597"/>
              </a:solidFill>
              <a:latin typeface="Arial"/>
            </a:endParaRPr>
          </a:p>
        </p:txBody>
      </p:sp>
      <p:pic>
        <p:nvPicPr>
          <p:cNvPr id="16" name="Picture 15" descr="image.png"/>
          <p:cNvPicPr>
            <a:picLocks noChangeAspect="1"/>
          </p:cNvPicPr>
          <p:nvPr/>
        </p:nvPicPr>
        <p:blipFill>
          <a:blip r:embed="rId4"/>
          <a:stretch>
            <a:fillRect/>
          </a:stretch>
        </p:blipFill>
        <p:spPr>
          <a:xfrm>
            <a:off x="6982436" y="1508760"/>
            <a:ext cx="3966511" cy="2240280"/>
          </a:xfrm>
          <a:prstGeom prst="rect">
            <a:avLst/>
          </a:prstGeom>
        </p:spPr>
      </p:pic>
      <p:pic>
        <p:nvPicPr>
          <p:cNvPr id="2" name="Picture 1" descr="image.png"/>
          <p:cNvPicPr>
            <a:picLocks noChangeAspect="1"/>
          </p:cNvPicPr>
          <p:nvPr/>
        </p:nvPicPr>
        <p:blipFill>
          <a:blip r:embed="rId4"/>
          <a:stretch>
            <a:fillRect/>
          </a:stretch>
        </p:blipFill>
        <p:spPr>
          <a:xfrm>
            <a:off x="6982436" y="1508760"/>
            <a:ext cx="3966511" cy="2240280"/>
          </a:xfrm>
          <a:prstGeom prst="rect">
            <a:avLst/>
          </a:prstGeom>
        </p:spPr>
      </p:pic>
      <p:sp>
        <p:nvSpPr>
          <p:cNvPr id="17" name="TextBox 16"/>
          <p:cNvSpPr txBox="1"/>
          <p:nvPr/>
        </p:nvSpPr>
        <p:spPr>
          <a:xfrm>
            <a:off x="6236208" y="3831336"/>
            <a:ext cx="5458968" cy="640080"/>
          </a:xfrm>
          <a:prstGeom prst="rect">
            <a:avLst/>
          </a:prstGeom>
          <a:noFill/>
        </p:spPr>
        <p:txBody>
          <a:bodyPr wrap="square" lIns="0" tIns="0" rIns="0" bIns="0">
            <a:spAutoFit/>
          </a:bodyPr>
          <a:lstStyle/>
          <a:p>
            <a:r>
              <a:rPr sz="1500" dirty="0">
                <a:solidFill>
                  <a:srgbClr val="2F5597"/>
                </a:solidFill>
                <a:latin typeface="Arial"/>
              </a:rPr>
              <a:t>Replace affected components when permanent deformation exceeds 0.010 in. Record drive/body plate measurements per </a:t>
            </a:r>
            <a:r>
              <a:rPr sz="1500" dirty="0" err="1">
                <a:solidFill>
                  <a:srgbClr val="2F5597"/>
                </a:solidFill>
                <a:latin typeface="Arial"/>
              </a:rPr>
              <a:t>eDOCS</a:t>
            </a:r>
            <a:r>
              <a:rPr sz="1500" dirty="0">
                <a:solidFill>
                  <a:srgbClr val="2F5597"/>
                </a:solidFill>
                <a:latin typeface="Arial"/>
              </a:rPr>
              <a:t> 11242619 and report to TSC.</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1"/>
          <p:cNvSpPr txBox="1"/>
          <p:nvPr/>
        </p:nvSpPr>
        <p:spPr>
          <a:xfrm>
            <a:off x="374904" y="347472"/>
            <a:ext cx="11247120" cy="443711"/>
          </a:xfrm>
          <a:prstGeom prst="rect">
            <a:avLst/>
          </a:prstGeom>
          <a:noFill/>
          <a:ln>
            <a:noFill/>
          </a:ln>
        </p:spPr>
        <p:txBody>
          <a:bodyPr wrap="square" lIns="0" tIns="0" rIns="0" bIns="0" anchor="t">
            <a:spAutoFit/>
          </a:bodyPr>
          <a:lstStyle/>
          <a:p>
            <a:pPr algn="l">
              <a:lnSpc>
                <a:spcPct val="112000"/>
              </a:lnSpc>
              <a:spcBef>
                <a:spcPts val="0"/>
              </a:spcBef>
              <a:spcAft>
                <a:spcPts val="1000"/>
              </a:spcAft>
            </a:pPr>
            <a:r>
              <a:rPr sz="2800" b="0">
                <a:solidFill>
                  <a:srgbClr val="2F5597"/>
                </a:solidFill>
                <a:latin typeface="Arial"/>
              </a:rPr>
              <a:t>AAB measurement examples: drive and body plates</a:t>
            </a:r>
          </a:p>
        </p:txBody>
      </p:sp>
      <p:sp>
        <p:nvSpPr>
          <p:cNvPr id="4" name="TextBox 2"/>
          <p:cNvSpPr txBox="1"/>
          <p:nvPr/>
        </p:nvSpPr>
        <p:spPr>
          <a:xfrm>
            <a:off x="438912" y="978408"/>
            <a:ext cx="10972800" cy="502920"/>
          </a:xfrm>
          <a:prstGeom prst="rect">
            <a:avLst/>
          </a:prstGeom>
          <a:noFill/>
          <a:ln>
            <a:noFill/>
          </a:ln>
        </p:spPr>
        <p:txBody>
          <a:bodyPr wrap="square" lIns="0" tIns="0" rIns="0" bIns="0" anchor="t">
            <a:spAutoFit/>
          </a:bodyPr>
          <a:lstStyle/>
          <a:p>
            <a:pPr algn="l">
              <a:lnSpc>
                <a:spcPct val="112000"/>
              </a:lnSpc>
              <a:spcBef>
                <a:spcPts val="0"/>
              </a:spcBef>
              <a:spcAft>
                <a:spcPts val="1000"/>
              </a:spcAft>
            </a:pPr>
            <a:r>
              <a:rPr sz="1500" b="0">
                <a:solidFill>
                  <a:srgbClr val="00677C"/>
                </a:solidFill>
                <a:latin typeface="Arial"/>
              </a:rPr>
              <a:t>AAB C10247907     Measurement guide eDOCS 11242619</a:t>
            </a:r>
          </a:p>
        </p:txBody>
      </p:sp>
      <p:cxnSp>
        <p:nvCxnSpPr>
          <p:cNvPr id="5" name="Straight Connector 1">
            <a:extLst>
              <a:ext uri="{FF2B5EF4-FFF2-40B4-BE49-F238E27FC236}">
                <a16:creationId xmlns:a16="http://schemas.microsoft.com/office/drawing/2014/main" id="{FC5A151D-BBF2-DF50-2A3A-314381357F62}"/>
              </a:ext>
            </a:extLst>
          </p:cNvPr>
          <p:cNvCxnSpPr>
            <a:cxnSpLocks/>
          </p:cNvCxnSpPr>
          <p:nvPr/>
        </p:nvCxnSpPr>
        <p:spPr>
          <a:xfrm>
            <a:off x="371371" y="850600"/>
            <a:ext cx="2092130" cy="0"/>
          </a:xfrm>
          <a:prstGeom prst="line">
            <a:avLst/>
          </a:prstGeom>
          <a:ln w="28575"/>
        </p:spPr>
        <p:style>
          <a:lnRef idx="1">
            <a:schemeClr val="accent1"/>
          </a:lnRef>
          <a:fillRef idx="0">
            <a:schemeClr val="accent1"/>
          </a:fillRef>
          <a:effectRef idx="0">
            <a:schemeClr val="accent1"/>
          </a:effectRef>
          <a:fontRef idx="minor">
            <a:schemeClr val="tx1"/>
          </a:fontRef>
        </p:style>
      </p:cxnSp>
      <p:pic>
        <p:nvPicPr>
          <p:cNvPr id="6" name="Picture 5" descr="image.png"/>
          <p:cNvPicPr>
            <a:picLocks noChangeAspect="1"/>
          </p:cNvPicPr>
          <p:nvPr/>
        </p:nvPicPr>
        <p:blipFill>
          <a:blip r:embed="rId3"/>
          <a:stretch>
            <a:fillRect/>
          </a:stretch>
        </p:blipFill>
        <p:spPr>
          <a:xfrm>
            <a:off x="383133" y="6316675"/>
            <a:ext cx="826617" cy="303093"/>
          </a:xfrm>
          <a:prstGeom prst="rect">
            <a:avLst/>
          </a:prstGeom>
        </p:spPr>
      </p:pic>
      <p:sp>
        <p:nvSpPr>
          <p:cNvPr id="7" name="TextBox 108"/>
          <p:cNvSpPr txBox="1"/>
          <p:nvPr/>
        </p:nvSpPr>
        <p:spPr>
          <a:xfrm>
            <a:off x="11064240" y="6400800"/>
            <a:ext cx="731520" cy="126766"/>
          </a:xfrm>
          <a:prstGeom prst="rect">
            <a:avLst/>
          </a:prstGeom>
          <a:noFill/>
          <a:ln>
            <a:noFill/>
          </a:ln>
        </p:spPr>
        <p:txBody>
          <a:bodyPr wrap="square" lIns="0" tIns="0" rIns="0" bIns="0" anchor="t">
            <a:spAutoFit/>
          </a:bodyPr>
          <a:lstStyle/>
          <a:p>
            <a:pPr algn="l">
              <a:lnSpc>
                <a:spcPct val="112000"/>
              </a:lnSpc>
              <a:spcBef>
                <a:spcPts val="0"/>
              </a:spcBef>
              <a:spcAft>
                <a:spcPts val="1000"/>
              </a:spcAft>
            </a:pPr>
            <a:r>
              <a:rPr lang="en-US" sz="800" b="0">
                <a:solidFill>
                  <a:srgbClr val="2F5597"/>
                </a:solidFill>
                <a:latin typeface="Arial"/>
              </a:rPr>
              <a:t>4</a:t>
            </a:r>
            <a:endParaRPr sz="800" b="0">
              <a:solidFill>
                <a:srgbClr val="2F5597"/>
              </a:solidFill>
              <a:latin typeface="Arial"/>
            </a:endParaRPr>
          </a:p>
        </p:txBody>
      </p:sp>
      <p:pic>
        <p:nvPicPr>
          <p:cNvPr id="9" name="Picture 8" descr="image.png"/>
          <p:cNvPicPr>
            <a:picLocks noChangeAspect="1"/>
          </p:cNvPicPr>
          <p:nvPr/>
        </p:nvPicPr>
        <p:blipFill>
          <a:blip r:embed="rId4"/>
          <a:stretch>
            <a:fillRect/>
          </a:stretch>
        </p:blipFill>
        <p:spPr>
          <a:xfrm>
            <a:off x="484632" y="1481328"/>
            <a:ext cx="7178040" cy="4838530"/>
          </a:xfrm>
          <a:prstGeom prst="rect">
            <a:avLst/>
          </a:prstGeom>
        </p:spPr>
      </p:pic>
      <p:sp>
        <p:nvSpPr>
          <p:cNvPr id="10" name="TextBox 9"/>
          <p:cNvSpPr txBox="1"/>
          <p:nvPr/>
        </p:nvSpPr>
        <p:spPr>
          <a:xfrm>
            <a:off x="8028431" y="1664208"/>
            <a:ext cx="3657600" cy="270715"/>
          </a:xfrm>
          <a:prstGeom prst="rect">
            <a:avLst/>
          </a:prstGeom>
          <a:noFill/>
        </p:spPr>
        <p:txBody>
          <a:bodyPr wrap="square" lIns="0" tIns="0" rIns="0" bIns="0">
            <a:spAutoFit/>
          </a:bodyPr>
          <a:lstStyle/>
          <a:p>
            <a:pPr>
              <a:lnSpc>
                <a:spcPct val="105000"/>
              </a:lnSpc>
              <a:spcAft>
                <a:spcPts val="1000"/>
              </a:spcAft>
            </a:pPr>
            <a:r>
              <a:rPr lang="en-US" sz="1800" b="1">
                <a:solidFill>
                  <a:srgbClr val="00677C"/>
                </a:solidFill>
                <a:latin typeface="Arial"/>
              </a:rPr>
              <a:t>RECORD ØA AND ØB</a:t>
            </a:r>
          </a:p>
        </p:txBody>
      </p:sp>
      <p:sp>
        <p:nvSpPr>
          <p:cNvPr id="11" name="TextBox 10"/>
          <p:cNvSpPr txBox="1"/>
          <p:nvPr/>
        </p:nvSpPr>
        <p:spPr>
          <a:xfrm>
            <a:off x="8028431" y="2194560"/>
            <a:ext cx="3657600" cy="2834640"/>
          </a:xfrm>
          <a:prstGeom prst="rect">
            <a:avLst/>
          </a:prstGeom>
          <a:noFill/>
        </p:spPr>
        <p:txBody>
          <a:bodyPr wrap="square" lIns="0" tIns="0" rIns="0" bIns="0">
            <a:spAutoFit/>
          </a:bodyPr>
          <a:lstStyle/>
          <a:p>
            <a:pPr>
              <a:lnSpc>
                <a:spcPct val="105000"/>
              </a:lnSpc>
              <a:spcAft>
                <a:spcPts val="1000"/>
              </a:spcAft>
            </a:pPr>
            <a:r>
              <a:rPr sz="1900" b="0">
                <a:solidFill>
                  <a:srgbClr val="2F5597"/>
                </a:solidFill>
                <a:latin typeface="Arial"/>
              </a:rPr>
              <a:t>Measure 90° apart for both make-up and break-out components.</a:t>
            </a:r>
          </a:p>
          <a:p>
            <a:pPr>
              <a:lnSpc>
                <a:spcPct val="105000"/>
              </a:lnSpc>
              <a:spcAft>
                <a:spcPts val="1000"/>
              </a:spcAft>
            </a:pPr>
            <a:r>
              <a:rPr sz="1900" b="0">
                <a:solidFill>
                  <a:srgbClr val="2F5597"/>
                </a:solidFill>
                <a:latin typeface="Arial"/>
              </a:rPr>
              <a:t>Drive plate nominal: 3.693 in</a:t>
            </a:r>
          </a:p>
          <a:p>
            <a:pPr>
              <a:lnSpc>
                <a:spcPct val="105000"/>
              </a:lnSpc>
              <a:spcAft>
                <a:spcPts val="1000"/>
              </a:spcAft>
            </a:pPr>
            <a:r>
              <a:rPr sz="1900" b="0">
                <a:solidFill>
                  <a:srgbClr val="2F5597"/>
                </a:solidFill>
                <a:latin typeface="Arial"/>
              </a:rPr>
              <a:t>Body nominal: 4.440 in</a:t>
            </a:r>
          </a:p>
          <a:p>
            <a:pPr>
              <a:lnSpc>
                <a:spcPct val="105000"/>
              </a:lnSpc>
              <a:spcAft>
                <a:spcPts val="1000"/>
              </a:spcAft>
            </a:pPr>
            <a:r>
              <a:rPr sz="1900" b="0">
                <a:solidFill>
                  <a:srgbClr val="2F5597"/>
                </a:solidFill>
                <a:latin typeface="Arial"/>
              </a:rPr>
              <a:t>Template tolerance: ±0.010 in</a:t>
            </a:r>
          </a:p>
          <a:p>
            <a:pPr>
              <a:lnSpc>
                <a:spcPct val="105000"/>
              </a:lnSpc>
              <a:spcAft>
                <a:spcPts val="1000"/>
              </a:spcAft>
            </a:pPr>
            <a:r>
              <a:rPr sz="1900" b="0">
                <a:solidFill>
                  <a:srgbClr val="2F5597"/>
                </a:solidFill>
                <a:latin typeface="Arial"/>
              </a:rPr>
              <a:t>Enter the rig, date and person taking measurements.</a:t>
            </a:r>
          </a:p>
        </p:txBody>
      </p:sp>
      <p:sp>
        <p:nvSpPr>
          <p:cNvPr id="12" name="TextBox 11"/>
          <p:cNvSpPr txBox="1"/>
          <p:nvPr/>
        </p:nvSpPr>
        <p:spPr>
          <a:xfrm>
            <a:off x="8028431" y="5166360"/>
            <a:ext cx="3657600" cy="822960"/>
          </a:xfrm>
          <a:prstGeom prst="rect">
            <a:avLst/>
          </a:prstGeom>
          <a:noFill/>
        </p:spPr>
        <p:txBody>
          <a:bodyPr wrap="square" lIns="0" tIns="0" rIns="0" bIns="0">
            <a:spAutoFit/>
          </a:bodyPr>
          <a:lstStyle/>
          <a:p>
            <a:pPr>
              <a:lnSpc>
                <a:spcPct val="105000"/>
              </a:lnSpc>
              <a:spcAft>
                <a:spcPts val="1000"/>
              </a:spcAft>
            </a:pPr>
            <a:r>
              <a:rPr sz="1600" b="0">
                <a:solidFill>
                  <a:srgbClr val="646D76"/>
                </a:solidFill>
                <a:latin typeface="Arial"/>
              </a:rPr>
              <a:t>Green/red cells indicate the template result. Escalate conflicting readings or dispositions to TSC.</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1"/>
          <p:cNvSpPr txBox="1"/>
          <p:nvPr/>
        </p:nvSpPr>
        <p:spPr>
          <a:xfrm>
            <a:off x="374904" y="347472"/>
            <a:ext cx="11247120" cy="443711"/>
          </a:xfrm>
          <a:prstGeom prst="rect">
            <a:avLst/>
          </a:prstGeom>
          <a:noFill/>
          <a:ln>
            <a:noFill/>
          </a:ln>
        </p:spPr>
        <p:txBody>
          <a:bodyPr wrap="square" lIns="0" tIns="0" rIns="0" bIns="0" anchor="t">
            <a:spAutoFit/>
          </a:bodyPr>
          <a:lstStyle/>
          <a:p>
            <a:pPr algn="l">
              <a:lnSpc>
                <a:spcPct val="112000"/>
              </a:lnSpc>
              <a:spcBef>
                <a:spcPts val="0"/>
              </a:spcBef>
              <a:spcAft>
                <a:spcPts val="1000"/>
              </a:spcAft>
            </a:pPr>
            <a:r>
              <a:rPr sz="2800" b="0">
                <a:solidFill>
                  <a:srgbClr val="2F5597"/>
                </a:solidFill>
                <a:latin typeface="Arial"/>
              </a:rPr>
              <a:t>Selected vessel results: findings</a:t>
            </a:r>
            <a:r>
              <a:rPr lang="en-US" sz="2800" b="0">
                <a:solidFill>
                  <a:srgbClr val="2F5597"/>
                </a:solidFill>
                <a:latin typeface="Arial"/>
              </a:rPr>
              <a:t> and follow-up</a:t>
            </a:r>
            <a:endParaRPr sz="2800" b="0">
              <a:solidFill>
                <a:srgbClr val="2F5597"/>
              </a:solidFill>
              <a:latin typeface="Arial"/>
            </a:endParaRPr>
          </a:p>
        </p:txBody>
      </p:sp>
      <p:sp>
        <p:nvSpPr>
          <p:cNvPr id="4" name="TextBox 2"/>
          <p:cNvSpPr txBox="1"/>
          <p:nvPr/>
        </p:nvSpPr>
        <p:spPr>
          <a:xfrm>
            <a:off x="438912" y="978408"/>
            <a:ext cx="10972800" cy="237694"/>
          </a:xfrm>
          <a:prstGeom prst="rect">
            <a:avLst/>
          </a:prstGeom>
          <a:noFill/>
          <a:ln>
            <a:noFill/>
          </a:ln>
        </p:spPr>
        <p:txBody>
          <a:bodyPr wrap="square" lIns="0" tIns="0" rIns="0" bIns="0" anchor="t">
            <a:spAutoFit/>
          </a:bodyPr>
          <a:lstStyle/>
          <a:p>
            <a:pPr algn="l">
              <a:lnSpc>
                <a:spcPct val="112000"/>
              </a:lnSpc>
              <a:spcBef>
                <a:spcPts val="0"/>
              </a:spcBef>
              <a:spcAft>
                <a:spcPts val="1000"/>
              </a:spcAft>
            </a:pPr>
            <a:r>
              <a:rPr sz="1500" b="0">
                <a:solidFill>
                  <a:srgbClr val="00677C"/>
                </a:solidFill>
                <a:latin typeface="Arial"/>
              </a:rPr>
              <a:t>“Seadrill Measurements 03-09-2026”     </a:t>
            </a:r>
            <a:r>
              <a:rPr lang="en-US" sz="1500" b="0">
                <a:solidFill>
                  <a:srgbClr val="00677C"/>
                </a:solidFill>
                <a:latin typeface="Arial"/>
              </a:rPr>
              <a:t>BO = break-out     MU = make-up</a:t>
            </a:r>
            <a:endParaRPr sz="1500" b="0">
              <a:solidFill>
                <a:srgbClr val="00677C"/>
              </a:solidFill>
              <a:latin typeface="Arial"/>
            </a:endParaRPr>
          </a:p>
        </p:txBody>
      </p:sp>
      <p:cxnSp>
        <p:nvCxnSpPr>
          <p:cNvPr id="5" name="Straight Connector 1">
            <a:extLst>
              <a:ext uri="{FF2B5EF4-FFF2-40B4-BE49-F238E27FC236}">
                <a16:creationId xmlns:a16="http://schemas.microsoft.com/office/drawing/2014/main" id="{FC5A151D-BBF2-DF50-2A3A-314381357F62}"/>
              </a:ext>
            </a:extLst>
          </p:cNvPr>
          <p:cNvCxnSpPr>
            <a:cxnSpLocks/>
          </p:cNvCxnSpPr>
          <p:nvPr/>
        </p:nvCxnSpPr>
        <p:spPr>
          <a:xfrm>
            <a:off x="371371" y="850600"/>
            <a:ext cx="2092130" cy="0"/>
          </a:xfrm>
          <a:prstGeom prst="line">
            <a:avLst/>
          </a:prstGeom>
          <a:ln w="28575"/>
        </p:spPr>
        <p:style>
          <a:lnRef idx="1">
            <a:schemeClr val="accent1"/>
          </a:lnRef>
          <a:fillRef idx="0">
            <a:schemeClr val="accent1"/>
          </a:fillRef>
          <a:effectRef idx="0">
            <a:schemeClr val="accent1"/>
          </a:effectRef>
          <a:fontRef idx="minor">
            <a:schemeClr val="tx1"/>
          </a:fontRef>
        </p:style>
      </p:cxnSp>
      <p:pic>
        <p:nvPicPr>
          <p:cNvPr id="6" name="Picture 5" descr="image.png"/>
          <p:cNvPicPr>
            <a:picLocks noChangeAspect="1"/>
          </p:cNvPicPr>
          <p:nvPr/>
        </p:nvPicPr>
        <p:blipFill>
          <a:blip r:embed="rId3"/>
          <a:stretch>
            <a:fillRect/>
          </a:stretch>
        </p:blipFill>
        <p:spPr>
          <a:xfrm>
            <a:off x="383133" y="6316675"/>
            <a:ext cx="826617" cy="303093"/>
          </a:xfrm>
          <a:prstGeom prst="rect">
            <a:avLst/>
          </a:prstGeom>
        </p:spPr>
      </p:pic>
      <p:sp>
        <p:nvSpPr>
          <p:cNvPr id="7" name="TextBox 108"/>
          <p:cNvSpPr txBox="1"/>
          <p:nvPr/>
        </p:nvSpPr>
        <p:spPr>
          <a:xfrm>
            <a:off x="11064240" y="6400800"/>
            <a:ext cx="731520" cy="126766"/>
          </a:xfrm>
          <a:prstGeom prst="rect">
            <a:avLst/>
          </a:prstGeom>
          <a:noFill/>
          <a:ln>
            <a:noFill/>
          </a:ln>
        </p:spPr>
        <p:txBody>
          <a:bodyPr wrap="square" lIns="0" tIns="0" rIns="0" bIns="0" anchor="t">
            <a:spAutoFit/>
          </a:bodyPr>
          <a:lstStyle/>
          <a:p>
            <a:pPr algn="l">
              <a:lnSpc>
                <a:spcPct val="112000"/>
              </a:lnSpc>
              <a:spcBef>
                <a:spcPts val="0"/>
              </a:spcBef>
              <a:spcAft>
                <a:spcPts val="1000"/>
              </a:spcAft>
            </a:pPr>
            <a:r>
              <a:rPr lang="en-US" sz="800" b="0">
                <a:solidFill>
                  <a:srgbClr val="2F5597"/>
                </a:solidFill>
                <a:latin typeface="Arial"/>
              </a:rPr>
              <a:t>5</a:t>
            </a:r>
            <a:endParaRPr sz="800" b="0">
              <a:solidFill>
                <a:srgbClr val="2F5597"/>
              </a:solidFill>
              <a:latin typeface="Arial"/>
            </a:endParaRPr>
          </a:p>
        </p:txBody>
      </p:sp>
      <p:graphicFrame>
        <p:nvGraphicFramePr>
          <p:cNvPr id="9" name="Table 8"/>
          <p:cNvGraphicFramePr>
            <a:graphicFrameLocks noGrp="1"/>
          </p:cNvGraphicFramePr>
          <p:nvPr>
            <p:extLst>
              <p:ext uri="{D42A27DB-BD31-4B8C-83A1-F6EECF244321}">
                <p14:modId xmlns:p14="http://schemas.microsoft.com/office/powerpoint/2010/main" val="2173817430"/>
              </p:ext>
            </p:extLst>
          </p:nvPr>
        </p:nvGraphicFramePr>
        <p:xfrm>
          <a:off x="484632" y="1517904"/>
          <a:ext cx="11210543" cy="4425696"/>
        </p:xfrm>
        <a:graphic>
          <a:graphicData uri="http://schemas.openxmlformats.org/drawingml/2006/table">
            <a:tbl>
              <a:tblPr firstRow="1" bandRow="1">
                <a:tableStyleId>{5C22544A-7EE6-4342-B048-85BDC9FD1C3A}</a:tableStyleId>
              </a:tblPr>
              <a:tblGrid>
                <a:gridCol w="2066543">
                  <a:extLst>
                    <a:ext uri="{9D8B030D-6E8A-4147-A177-3AD203B41FA5}">
                      <a16:colId xmlns:a16="http://schemas.microsoft.com/office/drawing/2014/main" val="20000"/>
                    </a:ext>
                  </a:extLst>
                </a:gridCol>
                <a:gridCol w="4279392">
                  <a:extLst>
                    <a:ext uri="{9D8B030D-6E8A-4147-A177-3AD203B41FA5}">
                      <a16:colId xmlns:a16="http://schemas.microsoft.com/office/drawing/2014/main" val="20001"/>
                    </a:ext>
                  </a:extLst>
                </a:gridCol>
                <a:gridCol w="4864608">
                  <a:extLst>
                    <a:ext uri="{9D8B030D-6E8A-4147-A177-3AD203B41FA5}">
                      <a16:colId xmlns:a16="http://schemas.microsoft.com/office/drawing/2014/main" val="20002"/>
                    </a:ext>
                  </a:extLst>
                </a:gridCol>
              </a:tblGrid>
              <a:tr h="365760">
                <a:tc>
                  <a:txBody>
                    <a:bodyPr/>
                    <a:lstStyle/>
                    <a:p>
                      <a:pPr>
                        <a:lnSpc>
                          <a:spcPct val="100000"/>
                        </a:lnSpc>
                        <a:spcBef>
                          <a:spcPts val="0"/>
                        </a:spcBef>
                        <a:spcAft>
                          <a:spcPts val="0"/>
                        </a:spcAft>
                      </a:pPr>
                      <a:r>
                        <a:rPr sz="1450" b="1">
                          <a:solidFill>
                            <a:srgbClr val="FFFFFF"/>
                          </a:solidFill>
                          <a:latin typeface="Arial"/>
                        </a:rPr>
                        <a:t>Vessel / selected tool</a:t>
                      </a:r>
                    </a:p>
                  </a:txBody>
                  <a:tcPr marR="82296" marT="18288" marB="18288" anchor="ctr">
                    <a:solidFill>
                      <a:srgbClr val="00677C"/>
                    </a:solidFill>
                  </a:tcPr>
                </a:tc>
                <a:tc>
                  <a:txBody>
                    <a:bodyPr/>
                    <a:lstStyle/>
                    <a:p>
                      <a:pPr>
                        <a:lnSpc>
                          <a:spcPct val="100000"/>
                        </a:lnSpc>
                        <a:spcBef>
                          <a:spcPts val="0"/>
                        </a:spcBef>
                        <a:spcAft>
                          <a:spcPts val="0"/>
                        </a:spcAft>
                      </a:pPr>
                      <a:r>
                        <a:rPr sz="1450" b="1">
                          <a:solidFill>
                            <a:srgbClr val="FFFFFF"/>
                          </a:solidFill>
                          <a:latin typeface="Arial"/>
                        </a:rPr>
                        <a:t>Submitted dimensions (in)</a:t>
                      </a:r>
                    </a:p>
                  </a:txBody>
                  <a:tcPr marR="82296" marT="18288" marB="18288" anchor="ctr">
                    <a:solidFill>
                      <a:srgbClr val="00677C"/>
                    </a:solidFill>
                  </a:tcPr>
                </a:tc>
                <a:tc>
                  <a:txBody>
                    <a:bodyPr/>
                    <a:lstStyle/>
                    <a:p>
                      <a:pPr>
                        <a:lnSpc>
                          <a:spcPct val="100000"/>
                        </a:lnSpc>
                        <a:spcBef>
                          <a:spcPts val="0"/>
                        </a:spcBef>
                        <a:spcAft>
                          <a:spcPts val="0"/>
                        </a:spcAft>
                      </a:pPr>
                      <a:r>
                        <a:rPr sz="1450" b="1">
                          <a:solidFill>
                            <a:srgbClr val="FFFFFF"/>
                          </a:solidFill>
                          <a:latin typeface="Arial"/>
                        </a:rPr>
                        <a:t>Workbook disposition / follow-up</a:t>
                      </a:r>
                    </a:p>
                  </a:txBody>
                  <a:tcPr marR="82296" marT="18288" marB="18288" anchor="ctr">
                    <a:solidFill>
                      <a:srgbClr val="00677C"/>
                    </a:solidFill>
                  </a:tcPr>
                </a:tc>
                <a:extLst>
                  <a:ext uri="{0D108BD9-81ED-4DB2-BD59-A6C34878D82A}">
                    <a16:rowId xmlns:a16="http://schemas.microsoft.com/office/drawing/2014/main" val="10000"/>
                  </a:ext>
                </a:extLst>
              </a:tr>
              <a:tr h="507492">
                <a:tc>
                  <a:txBody>
                    <a:bodyPr/>
                    <a:lstStyle/>
                    <a:p>
                      <a:pPr>
                        <a:lnSpc>
                          <a:spcPct val="100000"/>
                        </a:lnSpc>
                        <a:spcBef>
                          <a:spcPts val="0"/>
                        </a:spcBef>
                        <a:spcAft>
                          <a:spcPts val="0"/>
                        </a:spcAft>
                      </a:pPr>
                      <a:r>
                        <a:rPr sz="1450" b="1">
                          <a:solidFill>
                            <a:srgbClr val="2F5597"/>
                          </a:solidFill>
                          <a:latin typeface="Arial"/>
                        </a:rPr>
                        <a:t>West Polaris</a:t>
                      </a:r>
                    </a:p>
                    <a:p>
                      <a:pPr>
                        <a:lnSpc>
                          <a:spcPct val="100000"/>
                        </a:lnSpc>
                        <a:spcBef>
                          <a:spcPts val="0"/>
                        </a:spcBef>
                        <a:spcAft>
                          <a:spcPts val="0"/>
                        </a:spcAft>
                      </a:pPr>
                      <a:r>
                        <a:rPr sz="1450" b="1">
                          <a:solidFill>
                            <a:srgbClr val="2F5597"/>
                          </a:solidFill>
                          <a:latin typeface="Arial"/>
                        </a:rPr>
                        <a:t>Tool 1</a:t>
                      </a:r>
                    </a:p>
                  </a:txBody>
                  <a:tcPr marR="82296" marT="18288" marB="18288" anchor="ctr">
                    <a:solidFill>
                      <a:srgbClr val="F2F5F8"/>
                    </a:solidFill>
                  </a:tcPr>
                </a:tc>
                <a:tc>
                  <a:txBody>
                    <a:bodyPr/>
                    <a:lstStyle/>
                    <a:p>
                      <a:pPr>
                        <a:lnSpc>
                          <a:spcPct val="100000"/>
                        </a:lnSpc>
                        <a:spcBef>
                          <a:spcPts val="0"/>
                        </a:spcBef>
                        <a:spcAft>
                          <a:spcPts val="0"/>
                        </a:spcAft>
                      </a:pPr>
                      <a:r>
                        <a:rPr lang="pl-PL" sz="1450" b="0">
                          <a:solidFill>
                            <a:srgbClr val="2F5597"/>
                          </a:solidFill>
                          <a:latin typeface="Arial"/>
                        </a:rPr>
                        <a:t>Plate BO: </a:t>
                      </a:r>
                      <a:r>
                        <a:rPr lang="pl-PL" sz="1450" b="0">
                          <a:solidFill>
                            <a:srgbClr val="B42318"/>
                          </a:solidFill>
                          <a:latin typeface="Arial"/>
                        </a:rPr>
                        <a:t>3.745</a:t>
                      </a:r>
                      <a:r>
                        <a:rPr lang="pl-PL" sz="1450" b="0">
                          <a:solidFill>
                            <a:srgbClr val="2F5597"/>
                          </a:solidFill>
                          <a:latin typeface="Arial"/>
                        </a:rPr>
                        <a:t> / </a:t>
                      </a:r>
                      <a:r>
                        <a:rPr lang="pl-PL" sz="1450" b="0">
                          <a:solidFill>
                            <a:srgbClr val="B42318"/>
                          </a:solidFill>
                          <a:latin typeface="Arial"/>
                        </a:rPr>
                        <a:t>3.662</a:t>
                      </a:r>
                      <a:r>
                        <a:rPr lang="pl-PL" sz="1450" b="0">
                          <a:solidFill>
                            <a:srgbClr val="2F5597"/>
                          </a:solidFill>
                          <a:latin typeface="Arial"/>
                        </a:rPr>
                        <a:t> / </a:t>
                      </a:r>
                      <a:r>
                        <a:rPr lang="pl-PL" sz="1450" b="0">
                          <a:solidFill>
                            <a:srgbClr val="16733B"/>
                          </a:solidFill>
                          <a:latin typeface="Arial"/>
                        </a:rPr>
                        <a:t>3.700</a:t>
                      </a:r>
                    </a:p>
                  </a:txBody>
                  <a:tcPr marR="82296" marT="18288" marB="18288" anchor="ctr">
                    <a:solidFill>
                      <a:srgbClr val="F2F5F8"/>
                    </a:solidFill>
                  </a:tcPr>
                </a:tc>
                <a:tc>
                  <a:txBody>
                    <a:bodyPr/>
                    <a:lstStyle/>
                    <a:p>
                      <a:pPr>
                        <a:lnSpc>
                          <a:spcPct val="100000"/>
                        </a:lnSpc>
                        <a:spcBef>
                          <a:spcPts val="0"/>
                        </a:spcBef>
                        <a:spcAft>
                          <a:spcPts val="0"/>
                        </a:spcAft>
                      </a:pPr>
                      <a:r>
                        <a:rPr lang="en-US" sz="1450" b="0">
                          <a:solidFill>
                            <a:srgbClr val="B42318"/>
                          </a:solidFill>
                          <a:latin typeface="Arial"/>
                        </a:rPr>
                        <a:t>Replace plates. Tool 2 body also marked Replace.</a:t>
                      </a:r>
                    </a:p>
                  </a:txBody>
                  <a:tcPr marR="82296" marT="18288" marB="18288" anchor="ctr">
                    <a:solidFill>
                      <a:srgbClr val="F2F5F8"/>
                    </a:solidFill>
                  </a:tcPr>
                </a:tc>
                <a:extLst>
                  <a:ext uri="{0D108BD9-81ED-4DB2-BD59-A6C34878D82A}">
                    <a16:rowId xmlns:a16="http://schemas.microsoft.com/office/drawing/2014/main" val="10001"/>
                  </a:ext>
                </a:extLst>
              </a:tr>
              <a:tr h="507492">
                <a:tc>
                  <a:txBody>
                    <a:bodyPr/>
                    <a:lstStyle/>
                    <a:p>
                      <a:pPr>
                        <a:lnSpc>
                          <a:spcPct val="100000"/>
                        </a:lnSpc>
                        <a:spcBef>
                          <a:spcPts val="0"/>
                        </a:spcBef>
                        <a:spcAft>
                          <a:spcPts val="0"/>
                        </a:spcAft>
                      </a:pPr>
                      <a:r>
                        <a:rPr sz="1450" b="1">
                          <a:solidFill>
                            <a:srgbClr val="2F5597"/>
                          </a:solidFill>
                          <a:latin typeface="Arial"/>
                        </a:rPr>
                        <a:t>Quenguela</a:t>
                      </a:r>
                    </a:p>
                    <a:p>
                      <a:pPr>
                        <a:lnSpc>
                          <a:spcPct val="100000"/>
                        </a:lnSpc>
                        <a:spcBef>
                          <a:spcPts val="0"/>
                        </a:spcBef>
                        <a:spcAft>
                          <a:spcPts val="0"/>
                        </a:spcAft>
                      </a:pPr>
                      <a:r>
                        <a:rPr sz="1450" b="1">
                          <a:solidFill>
                            <a:srgbClr val="2F5597"/>
                          </a:solidFill>
                          <a:latin typeface="Arial"/>
                        </a:rPr>
                        <a:t>C154033C599</a:t>
                      </a:r>
                    </a:p>
                  </a:txBody>
                  <a:tcPr marR="82296" marT="18288" marB="18288" anchor="ctr">
                    <a:solidFill>
                      <a:srgbClr val="FFFFFF"/>
                    </a:solidFill>
                  </a:tcPr>
                </a:tc>
                <a:tc>
                  <a:txBody>
                    <a:bodyPr/>
                    <a:lstStyle/>
                    <a:p>
                      <a:pPr>
                        <a:lnSpc>
                          <a:spcPct val="100000"/>
                        </a:lnSpc>
                        <a:spcBef>
                          <a:spcPts val="0"/>
                        </a:spcBef>
                        <a:spcAft>
                          <a:spcPts val="0"/>
                        </a:spcAft>
                      </a:pPr>
                      <a:r>
                        <a:rPr lang="pl-PL" sz="1450" b="0">
                          <a:solidFill>
                            <a:srgbClr val="2F5597"/>
                          </a:solidFill>
                          <a:latin typeface="Arial"/>
                        </a:rPr>
                        <a:t>Body MU: </a:t>
                      </a:r>
                      <a:r>
                        <a:rPr lang="pl-PL" sz="1450" b="0">
                          <a:solidFill>
                            <a:srgbClr val="16733B"/>
                          </a:solidFill>
                          <a:latin typeface="Arial"/>
                        </a:rPr>
                        <a:t>4.446</a:t>
                      </a:r>
                      <a:r>
                        <a:rPr lang="pl-PL" sz="1450" b="0">
                          <a:solidFill>
                            <a:srgbClr val="2F5597"/>
                          </a:solidFill>
                          <a:latin typeface="Arial"/>
                        </a:rPr>
                        <a:t> / </a:t>
                      </a:r>
                      <a:r>
                        <a:rPr lang="pl-PL" sz="1450" b="0">
                          <a:solidFill>
                            <a:srgbClr val="B42318"/>
                          </a:solidFill>
                          <a:latin typeface="Arial"/>
                        </a:rPr>
                        <a:t>4.453</a:t>
                      </a:r>
                      <a:r>
                        <a:rPr lang="pl-PL" sz="1450" b="0">
                          <a:solidFill>
                            <a:srgbClr val="2F5597"/>
                          </a:solidFill>
                          <a:latin typeface="Arial"/>
                        </a:rPr>
                        <a:t> / </a:t>
                      </a:r>
                      <a:r>
                        <a:rPr lang="pl-PL" sz="1450" b="0">
                          <a:solidFill>
                            <a:srgbClr val="B42318"/>
                          </a:solidFill>
                          <a:latin typeface="Arial"/>
                        </a:rPr>
                        <a:t>4.454</a:t>
                      </a:r>
                    </a:p>
                    <a:p>
                      <a:pPr>
                        <a:lnSpc>
                          <a:spcPct val="100000"/>
                        </a:lnSpc>
                        <a:spcBef>
                          <a:spcPts val="0"/>
                        </a:spcBef>
                        <a:spcAft>
                          <a:spcPts val="0"/>
                        </a:spcAft>
                      </a:pPr>
                      <a:r>
                        <a:rPr lang="pl-PL" sz="1450" b="0">
                          <a:solidFill>
                            <a:srgbClr val="2F5597"/>
                          </a:solidFill>
                          <a:latin typeface="Arial"/>
                        </a:rPr>
                        <a:t>Plate MU: </a:t>
                      </a:r>
                      <a:r>
                        <a:rPr lang="pl-PL" sz="1450" b="0">
                          <a:solidFill>
                            <a:srgbClr val="B42318"/>
                          </a:solidFill>
                          <a:latin typeface="Arial"/>
                        </a:rPr>
                        <a:t>3.707</a:t>
                      </a:r>
                      <a:r>
                        <a:rPr lang="pl-PL" sz="1450" b="0">
                          <a:solidFill>
                            <a:srgbClr val="2F5597"/>
                          </a:solidFill>
                          <a:latin typeface="Arial"/>
                        </a:rPr>
                        <a:t> / </a:t>
                      </a:r>
                      <a:r>
                        <a:rPr lang="pl-PL" sz="1450" b="0">
                          <a:solidFill>
                            <a:srgbClr val="B42318"/>
                          </a:solidFill>
                          <a:latin typeface="Arial"/>
                        </a:rPr>
                        <a:t>3.706</a:t>
                      </a:r>
                      <a:r>
                        <a:rPr lang="pl-PL" sz="1450" b="0">
                          <a:solidFill>
                            <a:srgbClr val="2F5597"/>
                          </a:solidFill>
                          <a:latin typeface="Arial"/>
                        </a:rPr>
                        <a:t> / </a:t>
                      </a:r>
                      <a:r>
                        <a:rPr lang="pl-PL" sz="1450" b="0">
                          <a:solidFill>
                            <a:srgbClr val="16733B"/>
                          </a:solidFill>
                          <a:latin typeface="Arial"/>
                        </a:rPr>
                        <a:t>3.702</a:t>
                      </a:r>
                    </a:p>
                  </a:txBody>
                  <a:tcPr marR="82296" marT="18288" marB="18288" anchor="ctr">
                    <a:solidFill>
                      <a:srgbClr val="FFFFFF"/>
                    </a:solidFill>
                  </a:tcPr>
                </a:tc>
                <a:tc>
                  <a:txBody>
                    <a:bodyPr/>
                    <a:lstStyle/>
                    <a:p>
                      <a:pPr>
                        <a:lnSpc>
                          <a:spcPct val="100000"/>
                        </a:lnSpc>
                        <a:spcBef>
                          <a:spcPts val="0"/>
                        </a:spcBef>
                        <a:spcAft>
                          <a:spcPts val="0"/>
                        </a:spcAft>
                      </a:pPr>
                      <a:r>
                        <a:rPr lang="en-US" sz="1450" b="0">
                          <a:solidFill>
                            <a:srgbClr val="B42318"/>
                          </a:solidFill>
                          <a:latin typeface="Arial"/>
                        </a:rPr>
                        <a:t>Replace body and plates.</a:t>
                      </a:r>
                      <a:r>
                        <a:rPr lang="en-US" sz="1450" b="0">
                          <a:solidFill>
                            <a:srgbClr val="946200"/>
                          </a:solidFill>
                          <a:latin typeface="Arial"/>
                        </a:rPr>
                        <a:t> Other records contain a reading/status conflict.</a:t>
                      </a:r>
                    </a:p>
                  </a:txBody>
                  <a:tcPr marR="82296" marT="18288" marB="18288" anchor="ctr">
                    <a:solidFill>
                      <a:srgbClr val="FFFFFF"/>
                    </a:solidFill>
                  </a:tcPr>
                </a:tc>
                <a:extLst>
                  <a:ext uri="{0D108BD9-81ED-4DB2-BD59-A6C34878D82A}">
                    <a16:rowId xmlns:a16="http://schemas.microsoft.com/office/drawing/2014/main" val="10002"/>
                  </a:ext>
                </a:extLst>
              </a:tr>
              <a:tr h="507492">
                <a:tc>
                  <a:txBody>
                    <a:bodyPr/>
                    <a:lstStyle/>
                    <a:p>
                      <a:pPr>
                        <a:lnSpc>
                          <a:spcPct val="100000"/>
                        </a:lnSpc>
                        <a:spcBef>
                          <a:spcPts val="0"/>
                        </a:spcBef>
                        <a:spcAft>
                          <a:spcPts val="0"/>
                        </a:spcAft>
                      </a:pPr>
                      <a:r>
                        <a:rPr sz="1450" b="1">
                          <a:solidFill>
                            <a:srgbClr val="2F5597"/>
                          </a:solidFill>
                          <a:latin typeface="Arial"/>
                        </a:rPr>
                        <a:t>West Tellus</a:t>
                      </a:r>
                    </a:p>
                    <a:p>
                      <a:pPr>
                        <a:lnSpc>
                          <a:spcPct val="100000"/>
                        </a:lnSpc>
                        <a:spcBef>
                          <a:spcPts val="0"/>
                        </a:spcBef>
                        <a:spcAft>
                          <a:spcPts val="0"/>
                        </a:spcAft>
                      </a:pPr>
                      <a:r>
                        <a:rPr sz="1450" b="1">
                          <a:solidFill>
                            <a:srgbClr val="2F5597"/>
                          </a:solidFill>
                          <a:latin typeface="Arial"/>
                        </a:rPr>
                        <a:t>Red tool</a:t>
                      </a:r>
                    </a:p>
                  </a:txBody>
                  <a:tcPr marR="82296" marT="18288" marB="18288" anchor="ctr">
                    <a:solidFill>
                      <a:srgbClr val="F2F5F8"/>
                    </a:solidFill>
                  </a:tcPr>
                </a:tc>
                <a:tc>
                  <a:txBody>
                    <a:bodyPr/>
                    <a:lstStyle/>
                    <a:p>
                      <a:pPr>
                        <a:lnSpc>
                          <a:spcPct val="100000"/>
                        </a:lnSpc>
                        <a:spcBef>
                          <a:spcPts val="0"/>
                        </a:spcBef>
                        <a:spcAft>
                          <a:spcPts val="0"/>
                        </a:spcAft>
                      </a:pPr>
                      <a:r>
                        <a:rPr lang="pl-PL" sz="1450" b="0">
                          <a:solidFill>
                            <a:srgbClr val="2F5597"/>
                          </a:solidFill>
                          <a:latin typeface="Arial"/>
                        </a:rPr>
                        <a:t>Body BO: </a:t>
                      </a:r>
                      <a:r>
                        <a:rPr lang="pl-PL" sz="1450" b="0">
                          <a:solidFill>
                            <a:srgbClr val="B42318"/>
                          </a:solidFill>
                          <a:latin typeface="Arial"/>
                        </a:rPr>
                        <a:t>4.465</a:t>
                      </a:r>
                      <a:r>
                        <a:rPr lang="pl-PL" sz="1450" b="0">
                          <a:solidFill>
                            <a:srgbClr val="2F5597"/>
                          </a:solidFill>
                          <a:latin typeface="Arial"/>
                        </a:rPr>
                        <a:t> / </a:t>
                      </a:r>
                      <a:r>
                        <a:rPr lang="pl-PL" sz="1450" b="0">
                          <a:solidFill>
                            <a:srgbClr val="16733B"/>
                          </a:solidFill>
                          <a:latin typeface="Arial"/>
                        </a:rPr>
                        <a:t>4.447</a:t>
                      </a:r>
                      <a:r>
                        <a:rPr lang="pl-PL" sz="1450" b="0">
                          <a:solidFill>
                            <a:srgbClr val="2F5597"/>
                          </a:solidFill>
                          <a:latin typeface="Arial"/>
                        </a:rPr>
                        <a:t> / </a:t>
                      </a:r>
                      <a:r>
                        <a:rPr lang="pl-PL" sz="1450" b="0">
                          <a:solidFill>
                            <a:srgbClr val="B42318"/>
                          </a:solidFill>
                          <a:latin typeface="Arial"/>
                        </a:rPr>
                        <a:t>4.472</a:t>
                      </a:r>
                    </a:p>
                  </a:txBody>
                  <a:tcPr marR="82296" marT="18288" marB="18288" anchor="ctr">
                    <a:solidFill>
                      <a:srgbClr val="F2F5F8"/>
                    </a:solidFill>
                  </a:tcPr>
                </a:tc>
                <a:tc>
                  <a:txBody>
                    <a:bodyPr/>
                    <a:lstStyle/>
                    <a:p>
                      <a:pPr>
                        <a:lnSpc>
                          <a:spcPct val="100000"/>
                        </a:lnSpc>
                        <a:spcBef>
                          <a:spcPts val="0"/>
                        </a:spcBef>
                        <a:spcAft>
                          <a:spcPts val="0"/>
                        </a:spcAft>
                      </a:pPr>
                      <a:r>
                        <a:rPr lang="en-US" sz="1450" b="0">
                          <a:solidFill>
                            <a:srgbClr val="B42318"/>
                          </a:solidFill>
                          <a:latin typeface="Arial"/>
                        </a:rPr>
                        <a:t>Replace body and plates. Workbook calls for immediate removal from service.</a:t>
                      </a:r>
                    </a:p>
                  </a:txBody>
                  <a:tcPr marR="82296" marT="18288" marB="18288" anchor="ctr">
                    <a:solidFill>
                      <a:srgbClr val="F2F5F8"/>
                    </a:solidFill>
                  </a:tcPr>
                </a:tc>
                <a:extLst>
                  <a:ext uri="{0D108BD9-81ED-4DB2-BD59-A6C34878D82A}">
                    <a16:rowId xmlns:a16="http://schemas.microsoft.com/office/drawing/2014/main" val="10003"/>
                  </a:ext>
                </a:extLst>
              </a:tr>
              <a:tr h="507492">
                <a:tc>
                  <a:txBody>
                    <a:bodyPr/>
                    <a:lstStyle/>
                    <a:p>
                      <a:pPr>
                        <a:lnSpc>
                          <a:spcPct val="100000"/>
                        </a:lnSpc>
                        <a:spcBef>
                          <a:spcPts val="0"/>
                        </a:spcBef>
                        <a:spcAft>
                          <a:spcPts val="0"/>
                        </a:spcAft>
                      </a:pPr>
                      <a:r>
                        <a:rPr sz="1450" b="1">
                          <a:solidFill>
                            <a:srgbClr val="2F5597"/>
                          </a:solidFill>
                          <a:latin typeface="Arial"/>
                        </a:rPr>
                        <a:t>West Carina</a:t>
                      </a:r>
                    </a:p>
                    <a:p>
                      <a:pPr>
                        <a:lnSpc>
                          <a:spcPct val="100000"/>
                        </a:lnSpc>
                        <a:spcBef>
                          <a:spcPts val="0"/>
                        </a:spcBef>
                        <a:spcAft>
                          <a:spcPts val="0"/>
                        </a:spcAft>
                      </a:pPr>
                      <a:r>
                        <a:rPr sz="1450" b="1">
                          <a:solidFill>
                            <a:srgbClr val="2F5597"/>
                          </a:solidFill>
                          <a:latin typeface="Arial"/>
                        </a:rPr>
                        <a:t>First Green entry</a:t>
                      </a:r>
                    </a:p>
                  </a:txBody>
                  <a:tcPr marR="82296" marT="18288" marB="18288" anchor="ctr">
                    <a:solidFill>
                      <a:srgbClr val="FFFFFF"/>
                    </a:solidFill>
                  </a:tcPr>
                </a:tc>
                <a:tc>
                  <a:txBody>
                    <a:bodyPr/>
                    <a:lstStyle/>
                    <a:p>
                      <a:pPr>
                        <a:lnSpc>
                          <a:spcPct val="100000"/>
                        </a:lnSpc>
                        <a:spcBef>
                          <a:spcPts val="0"/>
                        </a:spcBef>
                        <a:spcAft>
                          <a:spcPts val="0"/>
                        </a:spcAft>
                      </a:pPr>
                      <a:r>
                        <a:rPr lang="pl-PL" sz="1450" b="0">
                          <a:solidFill>
                            <a:srgbClr val="2F5597"/>
                          </a:solidFill>
                          <a:latin typeface="Arial"/>
                        </a:rPr>
                        <a:t>Body BO: </a:t>
                      </a:r>
                      <a:r>
                        <a:rPr lang="pl-PL" sz="1450" b="0">
                          <a:solidFill>
                            <a:srgbClr val="B42318"/>
                          </a:solidFill>
                          <a:latin typeface="Arial"/>
                        </a:rPr>
                        <a:t>4.455</a:t>
                      </a:r>
                      <a:r>
                        <a:rPr lang="pl-PL" sz="1450" b="0">
                          <a:solidFill>
                            <a:srgbClr val="2F5597"/>
                          </a:solidFill>
                          <a:latin typeface="Arial"/>
                        </a:rPr>
                        <a:t> / </a:t>
                      </a:r>
                      <a:r>
                        <a:rPr lang="pl-PL" sz="1450" b="0">
                          <a:solidFill>
                            <a:srgbClr val="B42318"/>
                          </a:solidFill>
                          <a:latin typeface="Arial"/>
                        </a:rPr>
                        <a:t>4.452</a:t>
                      </a:r>
                      <a:r>
                        <a:rPr lang="pl-PL" sz="1450" b="0">
                          <a:solidFill>
                            <a:srgbClr val="2F5597"/>
                          </a:solidFill>
                          <a:latin typeface="Arial"/>
                        </a:rPr>
                        <a:t> / </a:t>
                      </a:r>
                      <a:r>
                        <a:rPr lang="pl-PL" sz="1450" b="0">
                          <a:solidFill>
                            <a:srgbClr val="B42318"/>
                          </a:solidFill>
                          <a:latin typeface="Arial"/>
                        </a:rPr>
                        <a:t>4.456</a:t>
                      </a:r>
                    </a:p>
                    <a:p>
                      <a:pPr>
                        <a:lnSpc>
                          <a:spcPct val="100000"/>
                        </a:lnSpc>
                        <a:spcBef>
                          <a:spcPts val="0"/>
                        </a:spcBef>
                        <a:spcAft>
                          <a:spcPts val="0"/>
                        </a:spcAft>
                      </a:pPr>
                      <a:r>
                        <a:rPr lang="pl-PL" sz="1450" b="0">
                          <a:solidFill>
                            <a:srgbClr val="2F5597"/>
                          </a:solidFill>
                          <a:latin typeface="Arial"/>
                        </a:rPr>
                        <a:t>Plate BO: </a:t>
                      </a:r>
                      <a:r>
                        <a:rPr lang="pl-PL" sz="1450" b="0">
                          <a:solidFill>
                            <a:srgbClr val="B42318"/>
                          </a:solidFill>
                          <a:latin typeface="Arial"/>
                        </a:rPr>
                        <a:t>3.706</a:t>
                      </a:r>
                      <a:r>
                        <a:rPr lang="pl-PL" sz="1450" b="0">
                          <a:solidFill>
                            <a:srgbClr val="2F5597"/>
                          </a:solidFill>
                          <a:latin typeface="Arial"/>
                        </a:rPr>
                        <a:t> / </a:t>
                      </a:r>
                      <a:r>
                        <a:rPr lang="pl-PL" sz="1450" b="0">
                          <a:solidFill>
                            <a:srgbClr val="B42318"/>
                          </a:solidFill>
                          <a:latin typeface="Arial"/>
                        </a:rPr>
                        <a:t>3.708</a:t>
                      </a:r>
                      <a:r>
                        <a:rPr lang="pl-PL" sz="1450" b="0">
                          <a:solidFill>
                            <a:srgbClr val="2F5597"/>
                          </a:solidFill>
                          <a:latin typeface="Arial"/>
                        </a:rPr>
                        <a:t> / </a:t>
                      </a:r>
                      <a:r>
                        <a:rPr lang="pl-PL" sz="1450" b="0">
                          <a:solidFill>
                            <a:srgbClr val="B42318"/>
                          </a:solidFill>
                          <a:latin typeface="Arial"/>
                        </a:rPr>
                        <a:t>3.706</a:t>
                      </a:r>
                    </a:p>
                  </a:txBody>
                  <a:tcPr marR="82296" marT="18288" marB="18288" anchor="ctr">
                    <a:solidFill>
                      <a:srgbClr val="FFFFFF"/>
                    </a:solidFill>
                  </a:tcPr>
                </a:tc>
                <a:tc>
                  <a:txBody>
                    <a:bodyPr/>
                    <a:lstStyle/>
                    <a:p>
                      <a:pPr>
                        <a:lnSpc>
                          <a:spcPct val="100000"/>
                        </a:lnSpc>
                        <a:spcBef>
                          <a:spcPts val="0"/>
                        </a:spcBef>
                        <a:spcAft>
                          <a:spcPts val="0"/>
                        </a:spcAft>
                      </a:pPr>
                      <a:r>
                        <a:rPr lang="en-US" sz="1450" b="0">
                          <a:solidFill>
                            <a:srgbClr val="B42318"/>
                          </a:solidFill>
                          <a:latin typeface="Arial"/>
                        </a:rPr>
                        <a:t>Replace body and plates. Workbook calls for all parts to be replaced as soon as possible.</a:t>
                      </a:r>
                    </a:p>
                  </a:txBody>
                  <a:tcPr marR="82296" marT="18288" marB="18288" anchor="ctr">
                    <a:solidFill>
                      <a:srgbClr val="FFFFFF"/>
                    </a:solidFill>
                  </a:tcPr>
                </a:tc>
                <a:extLst>
                  <a:ext uri="{0D108BD9-81ED-4DB2-BD59-A6C34878D82A}">
                    <a16:rowId xmlns:a16="http://schemas.microsoft.com/office/drawing/2014/main" val="10004"/>
                  </a:ext>
                </a:extLst>
              </a:tr>
              <a:tr h="507492">
                <a:tc>
                  <a:txBody>
                    <a:bodyPr/>
                    <a:lstStyle/>
                    <a:p>
                      <a:pPr>
                        <a:lnSpc>
                          <a:spcPct val="100000"/>
                        </a:lnSpc>
                        <a:spcBef>
                          <a:spcPts val="0"/>
                        </a:spcBef>
                        <a:spcAft>
                          <a:spcPts val="0"/>
                        </a:spcAft>
                      </a:pPr>
                      <a:r>
                        <a:rPr sz="1450" b="1">
                          <a:solidFill>
                            <a:srgbClr val="2F5597"/>
                          </a:solidFill>
                          <a:latin typeface="Arial"/>
                        </a:rPr>
                        <a:t>West Auriga</a:t>
                      </a:r>
                    </a:p>
                    <a:p>
                      <a:pPr>
                        <a:lnSpc>
                          <a:spcPct val="100000"/>
                        </a:lnSpc>
                        <a:spcBef>
                          <a:spcPts val="0"/>
                        </a:spcBef>
                        <a:spcAft>
                          <a:spcPts val="0"/>
                        </a:spcAft>
                      </a:pPr>
                      <a:r>
                        <a:rPr sz="1450" b="1">
                          <a:solidFill>
                            <a:srgbClr val="2F5597"/>
                          </a:solidFill>
                          <a:latin typeface="Arial"/>
                        </a:rPr>
                        <a:t>Tools 2 and 3</a:t>
                      </a:r>
                    </a:p>
                  </a:txBody>
                  <a:tcPr marR="82296" marT="18288" marB="18288" anchor="ctr">
                    <a:solidFill>
                      <a:srgbClr val="F2F5F8"/>
                    </a:solidFill>
                  </a:tcPr>
                </a:tc>
                <a:tc>
                  <a:txBody>
                    <a:bodyPr/>
                    <a:lstStyle/>
                    <a:p>
                      <a:pPr>
                        <a:lnSpc>
                          <a:spcPct val="100000"/>
                        </a:lnSpc>
                        <a:spcBef>
                          <a:spcPts val="0"/>
                        </a:spcBef>
                        <a:spcAft>
                          <a:spcPts val="0"/>
                        </a:spcAft>
                      </a:pPr>
                      <a:r>
                        <a:rPr lang="en-US" sz="1450" b="0">
                          <a:solidFill>
                            <a:srgbClr val="2F5597"/>
                          </a:solidFill>
                          <a:latin typeface="Arial"/>
                        </a:rPr>
                        <a:t>Tool 2 plate BO: </a:t>
                      </a:r>
                      <a:r>
                        <a:rPr lang="en-US" sz="1450" b="0">
                          <a:solidFill>
                            <a:srgbClr val="16733B"/>
                          </a:solidFill>
                          <a:latin typeface="Arial"/>
                        </a:rPr>
                        <a:t>3.703</a:t>
                      </a:r>
                      <a:r>
                        <a:rPr lang="en-US" sz="1450" b="0">
                          <a:solidFill>
                            <a:srgbClr val="2F5597"/>
                          </a:solidFill>
                          <a:latin typeface="Arial"/>
                        </a:rPr>
                        <a:t> / </a:t>
                      </a:r>
                      <a:r>
                        <a:rPr lang="en-US" sz="1450" b="0">
                          <a:solidFill>
                            <a:srgbClr val="B42318"/>
                          </a:solidFill>
                          <a:latin typeface="Arial"/>
                        </a:rPr>
                        <a:t>3.707</a:t>
                      </a:r>
                      <a:r>
                        <a:rPr lang="en-US" sz="1450" b="0">
                          <a:solidFill>
                            <a:srgbClr val="2F5597"/>
                          </a:solidFill>
                          <a:latin typeface="Arial"/>
                        </a:rPr>
                        <a:t> / </a:t>
                      </a:r>
                      <a:r>
                        <a:rPr lang="en-US" sz="1450" b="0">
                          <a:solidFill>
                            <a:srgbClr val="B42318"/>
                          </a:solidFill>
                          <a:latin typeface="Arial"/>
                        </a:rPr>
                        <a:t>3.711</a:t>
                      </a:r>
                    </a:p>
                  </a:txBody>
                  <a:tcPr marR="82296" marT="18288" marB="18288" anchor="ctr">
                    <a:solidFill>
                      <a:srgbClr val="F2F5F8"/>
                    </a:solidFill>
                  </a:tcPr>
                </a:tc>
                <a:tc>
                  <a:txBody>
                    <a:bodyPr/>
                    <a:lstStyle/>
                    <a:p>
                      <a:pPr>
                        <a:lnSpc>
                          <a:spcPct val="100000"/>
                        </a:lnSpc>
                        <a:spcBef>
                          <a:spcPts val="0"/>
                        </a:spcBef>
                        <a:spcAft>
                          <a:spcPts val="0"/>
                        </a:spcAft>
                      </a:pPr>
                      <a:r>
                        <a:rPr lang="en-US" sz="1450" b="0">
                          <a:solidFill>
                            <a:srgbClr val="946200"/>
                          </a:solidFill>
                          <a:latin typeface="Arial"/>
                        </a:rPr>
                        <a:t>Tool 2: Good with concession / backup advice.</a:t>
                      </a:r>
                      <a:r>
                        <a:rPr lang="en-US" sz="1450" b="0">
                          <a:solidFill>
                            <a:srgbClr val="B42318"/>
                          </a:solidFill>
                          <a:latin typeface="Arial"/>
                        </a:rPr>
                        <a:t> Tool 3: Replace plates.</a:t>
                      </a:r>
                    </a:p>
                  </a:txBody>
                  <a:tcPr marR="82296" marT="18288" marB="18288" anchor="ctr">
                    <a:solidFill>
                      <a:srgbClr val="F2F5F8"/>
                    </a:solidFill>
                  </a:tcPr>
                </a:tc>
                <a:extLst>
                  <a:ext uri="{0D108BD9-81ED-4DB2-BD59-A6C34878D82A}">
                    <a16:rowId xmlns:a16="http://schemas.microsoft.com/office/drawing/2014/main" val="1346672503"/>
                  </a:ext>
                </a:extLst>
              </a:tr>
              <a:tr h="507492">
                <a:tc>
                  <a:txBody>
                    <a:bodyPr/>
                    <a:lstStyle/>
                    <a:p>
                      <a:pPr>
                        <a:lnSpc>
                          <a:spcPct val="100000"/>
                        </a:lnSpc>
                        <a:spcBef>
                          <a:spcPts val="0"/>
                        </a:spcBef>
                        <a:spcAft>
                          <a:spcPts val="0"/>
                        </a:spcAft>
                      </a:pPr>
                      <a:r>
                        <a:rPr sz="1450" b="1">
                          <a:solidFill>
                            <a:srgbClr val="2F5597"/>
                          </a:solidFill>
                          <a:latin typeface="Arial"/>
                        </a:rPr>
                        <a:t>Libongos</a:t>
                      </a:r>
                    </a:p>
                    <a:p>
                      <a:pPr>
                        <a:lnSpc>
                          <a:spcPct val="100000"/>
                        </a:lnSpc>
                        <a:spcBef>
                          <a:spcPts val="0"/>
                        </a:spcBef>
                        <a:spcAft>
                          <a:spcPts val="0"/>
                        </a:spcAft>
                      </a:pPr>
                      <a:r>
                        <a:rPr sz="1450" b="1">
                          <a:solidFill>
                            <a:srgbClr val="2F5597"/>
                          </a:solidFill>
                          <a:latin typeface="Arial"/>
                        </a:rPr>
                        <a:t>Tool 3</a:t>
                      </a:r>
                    </a:p>
                  </a:txBody>
                  <a:tcPr marR="82296" marT="18288" marB="18288" anchor="ctr">
                    <a:solidFill>
                      <a:srgbClr val="FFFFFF"/>
                    </a:solidFill>
                  </a:tcPr>
                </a:tc>
                <a:tc>
                  <a:txBody>
                    <a:bodyPr/>
                    <a:lstStyle/>
                    <a:p>
                      <a:pPr>
                        <a:lnSpc>
                          <a:spcPct val="100000"/>
                        </a:lnSpc>
                        <a:spcBef>
                          <a:spcPts val="0"/>
                        </a:spcBef>
                        <a:spcAft>
                          <a:spcPts val="0"/>
                        </a:spcAft>
                      </a:pPr>
                      <a:r>
                        <a:rPr lang="pl-PL" sz="1450" b="0">
                          <a:solidFill>
                            <a:srgbClr val="2F5597"/>
                          </a:solidFill>
                          <a:latin typeface="Arial"/>
                        </a:rPr>
                        <a:t>Body BO: </a:t>
                      </a:r>
                      <a:r>
                        <a:rPr lang="pl-PL" sz="1450" b="0">
                          <a:solidFill>
                            <a:srgbClr val="16733B"/>
                          </a:solidFill>
                          <a:latin typeface="Arial"/>
                        </a:rPr>
                        <a:t>4.446</a:t>
                      </a:r>
                      <a:r>
                        <a:rPr lang="pl-PL" sz="1450" b="0">
                          <a:solidFill>
                            <a:srgbClr val="2F5597"/>
                          </a:solidFill>
                          <a:latin typeface="Arial"/>
                        </a:rPr>
                        <a:t> / </a:t>
                      </a:r>
                      <a:r>
                        <a:rPr lang="pl-PL" sz="1450" b="0">
                          <a:solidFill>
                            <a:srgbClr val="B42318"/>
                          </a:solidFill>
                          <a:latin typeface="Arial"/>
                        </a:rPr>
                        <a:t>4.451</a:t>
                      </a:r>
                      <a:r>
                        <a:rPr lang="pl-PL" sz="1450" b="0">
                          <a:solidFill>
                            <a:srgbClr val="2F5597"/>
                          </a:solidFill>
                          <a:latin typeface="Arial"/>
                        </a:rPr>
                        <a:t> / </a:t>
                      </a:r>
                      <a:r>
                        <a:rPr lang="pl-PL" sz="1450" b="0">
                          <a:solidFill>
                            <a:srgbClr val="16733B"/>
                          </a:solidFill>
                          <a:latin typeface="Arial"/>
                        </a:rPr>
                        <a:t>4.437</a:t>
                      </a:r>
                    </a:p>
                  </a:txBody>
                  <a:tcPr marR="82296" marT="18288" marB="18288" anchor="ctr">
                    <a:solidFill>
                      <a:srgbClr val="FFFFFF"/>
                    </a:solidFill>
                  </a:tcPr>
                </a:tc>
                <a:tc>
                  <a:txBody>
                    <a:bodyPr/>
                    <a:lstStyle/>
                    <a:p>
                      <a:pPr>
                        <a:lnSpc>
                          <a:spcPct val="100000"/>
                        </a:lnSpc>
                        <a:spcBef>
                          <a:spcPts val="0"/>
                        </a:spcBef>
                        <a:spcAft>
                          <a:spcPts val="0"/>
                        </a:spcAft>
                      </a:pPr>
                      <a:r>
                        <a:rPr lang="en-US" sz="1450" b="0">
                          <a:solidFill>
                            <a:srgbClr val="946200"/>
                          </a:solidFill>
                          <a:latin typeface="Arial"/>
                        </a:rPr>
                        <a:t>Body: Good with 0.001 in concession. Recheck each run.</a:t>
                      </a:r>
                      <a:r>
                        <a:rPr lang="en-US" sz="1450" b="0">
                          <a:solidFill>
                            <a:srgbClr val="B42318"/>
                          </a:solidFill>
                          <a:latin typeface="Arial"/>
                        </a:rPr>
                        <a:t> Replace plates.</a:t>
                      </a:r>
                    </a:p>
                  </a:txBody>
                  <a:tcPr marR="82296" marT="18288" marB="18288" anchor="ctr">
                    <a:solidFill>
                      <a:srgbClr val="FFFFFF"/>
                    </a:solidFill>
                  </a:tcPr>
                </a:tc>
                <a:extLst>
                  <a:ext uri="{0D108BD9-81ED-4DB2-BD59-A6C34878D82A}">
                    <a16:rowId xmlns:a16="http://schemas.microsoft.com/office/drawing/2014/main" val="1888708530"/>
                  </a:ext>
                </a:extLst>
              </a:tr>
              <a:tr h="507492">
                <a:tc>
                  <a:txBody>
                    <a:bodyPr/>
                    <a:lstStyle/>
                    <a:p>
                      <a:pPr>
                        <a:lnSpc>
                          <a:spcPct val="100000"/>
                        </a:lnSpc>
                        <a:spcBef>
                          <a:spcPts val="0"/>
                        </a:spcBef>
                        <a:spcAft>
                          <a:spcPts val="0"/>
                        </a:spcAft>
                      </a:pPr>
                      <a:r>
                        <a:rPr sz="1450" b="1">
                          <a:solidFill>
                            <a:srgbClr val="2F5597"/>
                          </a:solidFill>
                          <a:latin typeface="Arial"/>
                        </a:rPr>
                        <a:t>West Jupiter</a:t>
                      </a:r>
                    </a:p>
                    <a:p>
                      <a:pPr>
                        <a:lnSpc>
                          <a:spcPct val="100000"/>
                        </a:lnSpc>
                        <a:spcBef>
                          <a:spcPts val="0"/>
                        </a:spcBef>
                        <a:spcAft>
                          <a:spcPts val="0"/>
                        </a:spcAft>
                      </a:pPr>
                      <a:r>
                        <a:rPr sz="1450" b="1">
                          <a:solidFill>
                            <a:srgbClr val="2F5597"/>
                          </a:solidFill>
                          <a:latin typeface="Arial"/>
                        </a:rPr>
                        <a:t>Black tool</a:t>
                      </a:r>
                    </a:p>
                  </a:txBody>
                  <a:tcPr marR="82296" marT="18288" marB="18288" anchor="ctr">
                    <a:solidFill>
                      <a:srgbClr val="F2F5F8"/>
                    </a:solidFill>
                  </a:tcPr>
                </a:tc>
                <a:tc>
                  <a:txBody>
                    <a:bodyPr/>
                    <a:lstStyle/>
                    <a:p>
                      <a:pPr>
                        <a:lnSpc>
                          <a:spcPct val="100000"/>
                        </a:lnSpc>
                        <a:spcBef>
                          <a:spcPts val="0"/>
                        </a:spcBef>
                        <a:spcAft>
                          <a:spcPts val="0"/>
                        </a:spcAft>
                      </a:pPr>
                      <a:r>
                        <a:rPr lang="pl-PL" sz="1450" b="0">
                          <a:solidFill>
                            <a:srgbClr val="2F5597"/>
                          </a:solidFill>
                          <a:latin typeface="Arial"/>
                        </a:rPr>
                        <a:t>Plate BO: </a:t>
                      </a:r>
                      <a:r>
                        <a:rPr lang="pl-PL" sz="1450" b="0">
                          <a:solidFill>
                            <a:srgbClr val="16733B"/>
                          </a:solidFill>
                          <a:latin typeface="Arial"/>
                        </a:rPr>
                        <a:t>3.684</a:t>
                      </a:r>
                      <a:r>
                        <a:rPr lang="pl-PL" sz="1450" b="0">
                          <a:solidFill>
                            <a:srgbClr val="2F5597"/>
                          </a:solidFill>
                          <a:latin typeface="Arial"/>
                        </a:rPr>
                        <a:t> / </a:t>
                      </a:r>
                      <a:r>
                        <a:rPr lang="pl-PL" sz="1450" b="0">
                          <a:solidFill>
                            <a:srgbClr val="B42318"/>
                          </a:solidFill>
                          <a:latin typeface="Arial"/>
                        </a:rPr>
                        <a:t>3.676</a:t>
                      </a:r>
                      <a:r>
                        <a:rPr lang="pl-PL" sz="1450" b="0">
                          <a:solidFill>
                            <a:srgbClr val="2F5597"/>
                          </a:solidFill>
                          <a:latin typeface="Arial"/>
                        </a:rPr>
                        <a:t> / </a:t>
                      </a:r>
                      <a:r>
                        <a:rPr lang="pl-PL" sz="1450" b="0">
                          <a:solidFill>
                            <a:srgbClr val="16733B"/>
                          </a:solidFill>
                          <a:latin typeface="Arial"/>
                        </a:rPr>
                        <a:t>3.686</a:t>
                      </a:r>
                    </a:p>
                  </a:txBody>
                  <a:tcPr marR="82296" marT="18288" marB="18288" anchor="ctr">
                    <a:solidFill>
                      <a:srgbClr val="F2F5F8"/>
                    </a:solidFill>
                  </a:tcPr>
                </a:tc>
                <a:tc>
                  <a:txBody>
                    <a:bodyPr/>
                    <a:lstStyle/>
                    <a:p>
                      <a:pPr>
                        <a:lnSpc>
                          <a:spcPct val="100000"/>
                        </a:lnSpc>
                        <a:spcBef>
                          <a:spcPts val="0"/>
                        </a:spcBef>
                        <a:spcAft>
                          <a:spcPts val="0"/>
                        </a:spcAft>
                      </a:pPr>
                      <a:r>
                        <a:rPr lang="en-US" sz="1450" b="0">
                          <a:solidFill>
                            <a:srgbClr val="946200"/>
                          </a:solidFill>
                          <a:latin typeface="Arial"/>
                        </a:rPr>
                        <a:t>Plates: Good, but remeasure low readings.</a:t>
                      </a:r>
                    </a:p>
                  </a:txBody>
                  <a:tcPr marR="82296" marT="18288" marB="18288" anchor="ctr">
                    <a:solidFill>
                      <a:srgbClr val="F2F5F8"/>
                    </a:solidFill>
                  </a:tcPr>
                </a:tc>
                <a:extLst>
                  <a:ext uri="{0D108BD9-81ED-4DB2-BD59-A6C34878D82A}">
                    <a16:rowId xmlns:a16="http://schemas.microsoft.com/office/drawing/2014/main" val="3757030095"/>
                  </a:ext>
                </a:extLst>
              </a:tr>
              <a:tr h="507492">
                <a:tc>
                  <a:txBody>
                    <a:bodyPr/>
                    <a:lstStyle/>
                    <a:p>
                      <a:pPr>
                        <a:lnSpc>
                          <a:spcPct val="100000"/>
                        </a:lnSpc>
                        <a:spcBef>
                          <a:spcPts val="0"/>
                        </a:spcBef>
                        <a:spcAft>
                          <a:spcPts val="0"/>
                        </a:spcAft>
                      </a:pPr>
                      <a:r>
                        <a:rPr sz="1450" b="1">
                          <a:solidFill>
                            <a:srgbClr val="2F5597"/>
                          </a:solidFill>
                          <a:latin typeface="Arial"/>
                        </a:rPr>
                        <a:t>West Saturn</a:t>
                      </a:r>
                    </a:p>
                    <a:p>
                      <a:pPr>
                        <a:lnSpc>
                          <a:spcPct val="100000"/>
                        </a:lnSpc>
                        <a:spcBef>
                          <a:spcPts val="0"/>
                        </a:spcBef>
                        <a:spcAft>
                          <a:spcPts val="0"/>
                        </a:spcAft>
                      </a:pPr>
                      <a:r>
                        <a:rPr sz="1450" b="1">
                          <a:solidFill>
                            <a:srgbClr val="2F5597"/>
                          </a:solidFill>
                          <a:latin typeface="Arial"/>
                        </a:rPr>
                        <a:t>Tool 1</a:t>
                      </a:r>
                    </a:p>
                  </a:txBody>
                  <a:tcPr marR="82296" marT="18288" marB="18288" anchor="ctr">
                    <a:solidFill>
                      <a:srgbClr val="FFFFFF"/>
                    </a:solidFill>
                  </a:tcPr>
                </a:tc>
                <a:tc>
                  <a:txBody>
                    <a:bodyPr/>
                    <a:lstStyle/>
                    <a:p>
                      <a:pPr>
                        <a:lnSpc>
                          <a:spcPct val="100000"/>
                        </a:lnSpc>
                        <a:spcBef>
                          <a:spcPts val="0"/>
                        </a:spcBef>
                        <a:spcAft>
                          <a:spcPts val="0"/>
                        </a:spcAft>
                      </a:pPr>
                      <a:r>
                        <a:rPr lang="pl-PL" sz="1450" b="0">
                          <a:solidFill>
                            <a:srgbClr val="2F5597"/>
                          </a:solidFill>
                          <a:latin typeface="Arial"/>
                        </a:rPr>
                        <a:t>Body BO: </a:t>
                      </a:r>
                      <a:r>
                        <a:rPr lang="pl-PL" sz="1450" b="0">
                          <a:solidFill>
                            <a:srgbClr val="B42318"/>
                          </a:solidFill>
                          <a:latin typeface="Arial"/>
                        </a:rPr>
                        <a:t>4.408</a:t>
                      </a:r>
                      <a:r>
                        <a:rPr lang="pl-PL" sz="1450" b="0">
                          <a:solidFill>
                            <a:srgbClr val="2F5597"/>
                          </a:solidFill>
                          <a:latin typeface="Arial"/>
                        </a:rPr>
                        <a:t> / </a:t>
                      </a:r>
                      <a:r>
                        <a:rPr lang="pl-PL" sz="1450" b="0">
                          <a:solidFill>
                            <a:srgbClr val="16733B"/>
                          </a:solidFill>
                          <a:latin typeface="Arial"/>
                        </a:rPr>
                        <a:t>4.438</a:t>
                      </a:r>
                      <a:r>
                        <a:rPr lang="pl-PL" sz="1450" b="0">
                          <a:solidFill>
                            <a:srgbClr val="2F5597"/>
                          </a:solidFill>
                          <a:latin typeface="Arial"/>
                        </a:rPr>
                        <a:t> / </a:t>
                      </a:r>
                      <a:r>
                        <a:rPr lang="pl-PL" sz="1450" b="0">
                          <a:solidFill>
                            <a:srgbClr val="16733B"/>
                          </a:solidFill>
                          <a:latin typeface="Arial"/>
                        </a:rPr>
                        <a:t>4.438</a:t>
                      </a:r>
                    </a:p>
                  </a:txBody>
                  <a:tcPr marR="82296" marT="18288" marB="18288" anchor="ctr">
                    <a:solidFill>
                      <a:srgbClr val="FFFFFF"/>
                    </a:solidFill>
                  </a:tcPr>
                </a:tc>
                <a:tc>
                  <a:txBody>
                    <a:bodyPr/>
                    <a:lstStyle/>
                    <a:p>
                      <a:pPr>
                        <a:lnSpc>
                          <a:spcPct val="100000"/>
                        </a:lnSpc>
                        <a:spcBef>
                          <a:spcPts val="0"/>
                        </a:spcBef>
                        <a:spcAft>
                          <a:spcPts val="0"/>
                        </a:spcAft>
                      </a:pPr>
                      <a:r>
                        <a:rPr lang="en-US" sz="1450" b="0">
                          <a:solidFill>
                            <a:srgbClr val="946200"/>
                          </a:solidFill>
                          <a:latin typeface="Arial"/>
                        </a:rPr>
                        <a:t>Body and plates: Good, but repeat measurements. Other tools also need rechecks.</a:t>
                      </a:r>
                    </a:p>
                  </a:txBody>
                  <a:tcPr marR="82296" marT="18288" marB="18288" anchor="ctr">
                    <a:solidFill>
                      <a:srgbClr val="FFFFFF"/>
                    </a:solidFill>
                  </a:tcPr>
                </a:tc>
                <a:extLst>
                  <a:ext uri="{0D108BD9-81ED-4DB2-BD59-A6C34878D82A}">
                    <a16:rowId xmlns:a16="http://schemas.microsoft.com/office/drawing/2014/main" val="754892448"/>
                  </a:ext>
                </a:extLst>
              </a:tr>
            </a:tbl>
          </a:graphicData>
        </a:graphic>
      </p:graphicFrame>
      <p:sp>
        <p:nvSpPr>
          <p:cNvPr id="10" name="TextBox 9"/>
          <p:cNvSpPr txBox="1"/>
          <p:nvPr/>
        </p:nvSpPr>
        <p:spPr>
          <a:xfrm>
            <a:off x="484632" y="5971032"/>
            <a:ext cx="11210544" cy="184666"/>
          </a:xfrm>
          <a:prstGeom prst="rect">
            <a:avLst/>
          </a:prstGeom>
          <a:noFill/>
        </p:spPr>
        <p:txBody>
          <a:bodyPr wrap="square" lIns="0" tIns="0" rIns="0" bIns="0">
            <a:spAutoFit/>
          </a:bodyPr>
          <a:lstStyle/>
          <a:p>
            <a:pPr>
              <a:lnSpc>
                <a:spcPct val="100000"/>
              </a:lnSpc>
              <a:spcAft>
                <a:spcPts val="0"/>
              </a:spcAft>
            </a:pPr>
            <a:r>
              <a:rPr lang="en-US" sz="1200" b="0">
                <a:solidFill>
                  <a:srgbClr val="646D76"/>
                </a:solidFill>
                <a:latin typeface="Arial"/>
              </a:rPr>
              <a:t>Green applies to individual readings, not tool approval. Amber requires review. Resolve concessions and conflicting readings with TSC. Details in notes.</a:t>
            </a:r>
          </a:p>
        </p:txBody>
      </p:sp>
      <p:sp>
        <p:nvSpPr>
          <p:cNvPr id="11" name="TextBox 10"/>
          <p:cNvSpPr txBox="1"/>
          <p:nvPr/>
        </p:nvSpPr>
        <p:spPr>
          <a:xfrm>
            <a:off x="484632" y="1280160"/>
            <a:ext cx="11210544" cy="182880"/>
          </a:xfrm>
          <a:prstGeom prst="rect">
            <a:avLst/>
          </a:prstGeom>
          <a:noFill/>
        </p:spPr>
        <p:txBody>
          <a:bodyPr wrap="square" lIns="0" tIns="0" rIns="0" bIns="0">
            <a:spAutoFit/>
          </a:bodyPr>
          <a:lstStyle/>
          <a:p>
            <a:r>
              <a:rPr sz="1100" b="1">
                <a:solidFill>
                  <a:srgbClr val="B42318"/>
                </a:solidFill>
                <a:latin typeface="Arial"/>
              </a:rPr>
              <a:t>RED: rejected / outside tolerance     </a:t>
            </a:r>
            <a:r>
              <a:rPr sz="1100" b="1">
                <a:solidFill>
                  <a:srgbClr val="16733B"/>
                </a:solidFill>
                <a:latin typeface="Arial"/>
              </a:rPr>
              <a:t>GREEN: reading within ±0.010 in     </a:t>
            </a:r>
            <a:r>
              <a:rPr sz="1100" b="1">
                <a:solidFill>
                  <a:srgbClr val="946200"/>
                </a:solidFill>
                <a:latin typeface="Arial"/>
              </a:rPr>
              <a:t>AMBER: conditional / recheck</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 cy="1"/>
          <a:chOff x="0" y="0"/>
          <a:chExt cx="1" cy="1"/>
        </a:xfrm>
      </p:grpSpPr>
      <p:sp>
        <p:nvSpPr>
          <p:cNvPr id="102" name="TextBox 1"/>
          <p:cNvSpPr txBox="1"/>
          <p:nvPr/>
        </p:nvSpPr>
        <p:spPr>
          <a:xfrm>
            <a:off x="374904" y="347472"/>
            <a:ext cx="11247120" cy="443711"/>
          </a:xfrm>
          <a:prstGeom prst="rect">
            <a:avLst/>
          </a:prstGeom>
          <a:noFill/>
          <a:ln>
            <a:noFill/>
          </a:ln>
        </p:spPr>
        <p:txBody>
          <a:bodyPr wrap="square" lIns="0" tIns="0" rIns="0" bIns="0" anchor="t">
            <a:spAutoFit/>
          </a:bodyPr>
          <a:lstStyle/>
          <a:p>
            <a:pPr algn="l">
              <a:lnSpc>
                <a:spcPct val="112000"/>
              </a:lnSpc>
              <a:spcBef>
                <a:spcPts val="0"/>
              </a:spcBef>
              <a:spcAft>
                <a:spcPts val="1000"/>
              </a:spcAft>
            </a:pPr>
            <a:r>
              <a:rPr lang="en-US" sz="2800" b="0" err="1">
                <a:solidFill>
                  <a:srgbClr val="2F5597"/>
                </a:solidFill>
                <a:latin typeface="Arial"/>
              </a:rPr>
              <a:t>Fleet spend: Power Tork vs TorqLite</a:t>
            </a:r>
            <a:endParaRPr sz="2800" b="0" dirty="0">
              <a:solidFill>
                <a:srgbClr val="2F5597"/>
              </a:solidFill>
              <a:latin typeface="Arial"/>
            </a:endParaRPr>
          </a:p>
        </p:txBody>
      </p:sp>
      <p:sp>
        <p:nvSpPr>
          <p:cNvPr id="103" name="TextBox 2"/>
          <p:cNvSpPr txBox="1"/>
          <p:nvPr/>
        </p:nvSpPr>
        <p:spPr>
          <a:xfrm>
            <a:off x="438912" y="978408"/>
            <a:ext cx="10972800" cy="502920"/>
          </a:xfrm>
          <a:prstGeom prst="rect">
            <a:avLst/>
          </a:prstGeom>
          <a:noFill/>
          <a:ln>
            <a:noFill/>
          </a:ln>
        </p:spPr>
        <p:txBody>
          <a:bodyPr wrap="square" lIns="0" tIns="0" rIns="0" bIns="0" anchor="t">
            <a:spAutoFit/>
          </a:bodyPr>
          <a:lstStyle/>
          <a:p>
            <a:pPr algn="l">
              <a:lnSpc>
                <a:spcPct val="112000"/>
              </a:lnSpc>
              <a:spcBef>
                <a:spcPts val="0"/>
              </a:spcBef>
              <a:spcAft>
                <a:spcPts val="1000"/>
              </a:spcAft>
            </a:pPr>
            <a:r>
              <a:rPr sz="1500" b="0" dirty="0">
                <a:solidFill>
                  <a:srgbClr val="00677C"/>
                </a:solidFill>
                <a:latin typeface="Arial"/>
              </a:rPr>
              <a:t>Source-workbook comparison of two rigs per group, labelled as a two-year period</a:t>
            </a:r>
          </a:p>
        </p:txBody>
      </p:sp>
      <p:graphicFrame>
        <p:nvGraphicFramePr>
          <p:cNvPr id="104" name="Table 6"/>
          <p:cNvGraphicFramePr>
            <a:graphicFrameLocks noGrp="1"/>
          </p:cNvGraphicFramePr>
          <p:nvPr>
            <p:extLst>
              <p:ext uri="{D42A27DB-BD31-4B8C-83A1-F6EECF244321}">
                <p14:modId xmlns:p14="http://schemas.microsoft.com/office/powerpoint/2010/main" val="1956383555"/>
              </p:ext>
            </p:extLst>
          </p:nvPr>
        </p:nvGraphicFramePr>
        <p:xfrm>
          <a:off x="484632" y="1664208"/>
          <a:ext cx="11219688" cy="2781300"/>
        </p:xfrm>
        <a:graphic>
          <a:graphicData uri="http://schemas.openxmlformats.org/drawingml/2006/table">
            <a:tbl>
              <a:tblPr firstRow="1" bandRow="1">
                <a:tableStyleId>{5C22544A-7EE6-4342-B048-85BDC9FD1C3A}</a:tableStyleId>
              </a:tblPr>
              <a:tblGrid>
                <a:gridCol w="3840480">
                  <a:extLst>
                    <a:ext uri="{9D8B030D-6E8A-4147-A177-3AD203B41FA5}">
                      <a16:colId xmlns:a16="http://schemas.microsoft.com/office/drawing/2014/main" val="20000"/>
                    </a:ext>
                  </a:extLst>
                </a:gridCol>
                <a:gridCol w="3689604">
                  <a:extLst>
                    <a:ext uri="{9D8B030D-6E8A-4147-A177-3AD203B41FA5}">
                      <a16:colId xmlns:a16="http://schemas.microsoft.com/office/drawing/2014/main" val="20001"/>
                    </a:ext>
                  </a:extLst>
                </a:gridCol>
                <a:gridCol w="3689604">
                  <a:extLst>
                    <a:ext uri="{9D8B030D-6E8A-4147-A177-3AD203B41FA5}">
                      <a16:colId xmlns:a16="http://schemas.microsoft.com/office/drawing/2014/main" val="20002"/>
                    </a:ext>
                  </a:extLst>
                </a:gridCol>
              </a:tblGrid>
              <a:tr h="556260">
                <a:tc>
                  <a:txBody>
                    <a:bodyPr/>
                    <a:lstStyle/>
                    <a:p>
                      <a:pPr algn="l">
                        <a:lnSpc>
                          <a:spcPct val="105000"/>
                        </a:lnSpc>
                        <a:spcBef>
                          <a:spcPts val="0"/>
                        </a:spcBef>
                        <a:spcAft>
                          <a:spcPts val="0"/>
                        </a:spcAft>
                      </a:pPr>
                      <a:r>
                        <a:rPr sz="1700" b="1">
                          <a:solidFill>
                            <a:srgbClr val="FFFFFF"/>
                          </a:solidFill>
                          <a:latin typeface="Arial"/>
                        </a:rPr>
                        <a:t>Purchasing population</a:t>
                      </a:r>
                    </a:p>
                  </a:txBody>
                  <a:tcPr marL="128016" marR="109728" marT="91440" marB="54864" anchor="ctr">
                    <a:solidFill>
                      <a:srgbClr val="00677C"/>
                    </a:solidFill>
                  </a:tcPr>
                </a:tc>
                <a:tc>
                  <a:txBody>
                    <a:bodyPr/>
                    <a:lstStyle/>
                    <a:p>
                      <a:pPr algn="l">
                        <a:lnSpc>
                          <a:spcPct val="105000"/>
                        </a:lnSpc>
                        <a:spcBef>
                          <a:spcPts val="0"/>
                        </a:spcBef>
                        <a:spcAft>
                          <a:spcPts val="0"/>
                        </a:spcAft>
                      </a:pPr>
                      <a:r>
                        <a:rPr sz="1700" b="1">
                          <a:solidFill>
                            <a:srgbClr val="FFFFFF"/>
                          </a:solidFill>
                          <a:latin typeface="Arial"/>
                        </a:rPr>
                        <a:t>Power Tork / Clover</a:t>
                      </a:r>
                    </a:p>
                  </a:txBody>
                  <a:tcPr marL="128016" marR="109728" marT="91440" marB="54864" anchor="ctr">
                    <a:solidFill>
                      <a:srgbClr val="00677C"/>
                    </a:solidFill>
                  </a:tcPr>
                </a:tc>
                <a:tc>
                  <a:txBody>
                    <a:bodyPr/>
                    <a:lstStyle/>
                    <a:p>
                      <a:pPr algn="l">
                        <a:lnSpc>
                          <a:spcPct val="105000"/>
                        </a:lnSpc>
                        <a:spcBef>
                          <a:spcPts val="0"/>
                        </a:spcBef>
                        <a:spcAft>
                          <a:spcPts val="0"/>
                        </a:spcAft>
                      </a:pPr>
                      <a:r>
                        <a:rPr sz="1700" b="1" dirty="0" err="1">
                          <a:solidFill>
                            <a:srgbClr val="FFFFFF"/>
                          </a:solidFill>
                          <a:latin typeface="Arial"/>
                        </a:rPr>
                        <a:t>TorqLite</a:t>
                      </a:r>
                      <a:r>
                        <a:rPr lang="en-US" sz="1700" b="1" dirty="0">
                          <a:solidFill>
                            <a:srgbClr val="FFFFFF"/>
                          </a:solidFill>
                          <a:latin typeface="Arial"/>
                        </a:rPr>
                        <a:t> - Proposed</a:t>
                      </a:r>
                      <a:endParaRPr sz="1700" b="1" dirty="0">
                        <a:solidFill>
                          <a:srgbClr val="FFFFFF"/>
                        </a:solidFill>
                        <a:latin typeface="Arial"/>
                      </a:endParaRPr>
                    </a:p>
                  </a:txBody>
                  <a:tcPr marL="128016" marR="109728" marT="91440" marB="54864" anchor="ctr">
                    <a:solidFill>
                      <a:srgbClr val="00677C"/>
                    </a:solidFill>
                  </a:tcPr>
                </a:tc>
                <a:extLst>
                  <a:ext uri="{0D108BD9-81ED-4DB2-BD59-A6C34878D82A}">
                    <a16:rowId xmlns:a16="http://schemas.microsoft.com/office/drawing/2014/main" val="10000"/>
                  </a:ext>
                </a:extLst>
              </a:tr>
              <a:tr h="556260">
                <a:tc>
                  <a:txBody>
                    <a:bodyPr/>
                    <a:lstStyle/>
                    <a:p>
                      <a:pPr algn="l">
                        <a:lnSpc>
                          <a:spcPct val="105000"/>
                        </a:lnSpc>
                        <a:spcBef>
                          <a:spcPts val="0"/>
                        </a:spcBef>
                        <a:spcAft>
                          <a:spcPts val="0"/>
                        </a:spcAft>
                      </a:pPr>
                      <a:r>
                        <a:rPr sz="1700" b="0" dirty="0">
                          <a:solidFill>
                            <a:srgbClr val="2F5597"/>
                          </a:solidFill>
                          <a:latin typeface="Arial"/>
                        </a:rPr>
                        <a:t>Rig 1</a:t>
                      </a:r>
                    </a:p>
                  </a:txBody>
                  <a:tcPr marL="128016" marR="109728" marT="91440" marB="54864" anchor="ctr">
                    <a:solidFill>
                      <a:srgbClr val="F2F5F8"/>
                    </a:solidFill>
                  </a:tcPr>
                </a:tc>
                <a:tc>
                  <a:txBody>
                    <a:bodyPr/>
                    <a:lstStyle/>
                    <a:p>
                      <a:pPr algn="l">
                        <a:lnSpc>
                          <a:spcPct val="105000"/>
                        </a:lnSpc>
                        <a:spcBef>
                          <a:spcPts val="0"/>
                        </a:spcBef>
                        <a:spcAft>
                          <a:spcPts val="0"/>
                        </a:spcAft>
                      </a:pPr>
                      <a:r>
                        <a:rPr sz="1700" b="0">
                          <a:solidFill>
                            <a:srgbClr val="2F5597"/>
                          </a:solidFill>
                          <a:latin typeface="Arial"/>
                        </a:rPr>
                        <a:t>West Neptune: $357,609.38</a:t>
                      </a:r>
                      <a:endParaRPr sz="900" b="1">
                        <a:latin typeface="Arial"/>
                      </a:endParaRPr>
                    </a:p>
                  </a:txBody>
                  <a:tcPr marL="128016" marR="109728" marT="91440" marB="54864" anchor="ctr">
                    <a:solidFill>
                      <a:srgbClr val="F2F5F8"/>
                    </a:solidFill>
                  </a:tcPr>
                </a:tc>
                <a:tc>
                  <a:txBody>
                    <a:bodyPr/>
                    <a:lstStyle/>
                    <a:p>
                      <a:pPr algn="l">
                        <a:lnSpc>
                          <a:spcPct val="105000"/>
                        </a:lnSpc>
                        <a:spcBef>
                          <a:spcPts val="0"/>
                        </a:spcBef>
                        <a:spcAft>
                          <a:spcPts val="0"/>
                        </a:spcAft>
                      </a:pPr>
                      <a:r>
                        <a:rPr sz="1700" b="0">
                          <a:solidFill>
                            <a:srgbClr val="2F5597"/>
                          </a:solidFill>
                          <a:latin typeface="Arial"/>
                        </a:rPr>
                        <a:t>West Auriga: $62,925.00</a:t>
                      </a:r>
                    </a:p>
                  </a:txBody>
                  <a:tcPr marL="128016" marR="109728" marT="91440" marB="54864" anchor="ctr">
                    <a:solidFill>
                      <a:srgbClr val="F2F5F8"/>
                    </a:solidFill>
                  </a:tcPr>
                </a:tc>
                <a:extLst>
                  <a:ext uri="{0D108BD9-81ED-4DB2-BD59-A6C34878D82A}">
                    <a16:rowId xmlns:a16="http://schemas.microsoft.com/office/drawing/2014/main" val="10001"/>
                  </a:ext>
                </a:extLst>
              </a:tr>
              <a:tr h="556260">
                <a:tc>
                  <a:txBody>
                    <a:bodyPr/>
                    <a:lstStyle/>
                    <a:p>
                      <a:pPr algn="l">
                        <a:lnSpc>
                          <a:spcPct val="105000"/>
                        </a:lnSpc>
                        <a:spcBef>
                          <a:spcPts val="0"/>
                        </a:spcBef>
                        <a:spcAft>
                          <a:spcPts val="0"/>
                        </a:spcAft>
                      </a:pPr>
                      <a:r>
                        <a:rPr sz="1700" b="0">
                          <a:solidFill>
                            <a:srgbClr val="2F5597"/>
                          </a:solidFill>
                          <a:latin typeface="Arial"/>
                        </a:rPr>
                        <a:t>Rig 2</a:t>
                      </a:r>
                    </a:p>
                  </a:txBody>
                  <a:tcPr marL="128016" marR="109728" marT="91440" marB="54864" anchor="ctr">
                    <a:solidFill>
                      <a:srgbClr val="FFFFFF"/>
                    </a:solidFill>
                  </a:tcPr>
                </a:tc>
                <a:tc>
                  <a:txBody>
                    <a:bodyPr/>
                    <a:lstStyle/>
                    <a:p>
                      <a:pPr marL="0" marR="0" lvl="0" indent="0" algn="l" defTabSz="914400" rtl="0" eaLnBrk="1" fontAlgn="auto" latinLnBrk="0" hangingPunct="1">
                        <a:lnSpc>
                          <a:spcPct val="105000"/>
                        </a:lnSpc>
                        <a:spcBef>
                          <a:spcPts val="0"/>
                        </a:spcBef>
                        <a:spcAft>
                          <a:spcPts val="0"/>
                        </a:spcAft>
                        <a:buClrTx/>
                        <a:buSzTx/>
                        <a:buFontTx/>
                        <a:buNone/>
                        <a:tabLst/>
                        <a:defRPr/>
                      </a:pPr>
                      <a:r>
                        <a:rPr sz="1700" b="0">
                          <a:solidFill>
                            <a:srgbClr val="2F5597"/>
                          </a:solidFill>
                          <a:latin typeface="Arial"/>
                        </a:rPr>
                        <a:t>West Tellus: $173,516.04</a:t>
                      </a:r>
                    </a:p>
                  </a:txBody>
                  <a:tcPr marL="128016" marR="109728" marT="91440" marB="54864" anchor="ctr">
                    <a:solidFill>
                      <a:srgbClr val="FFFFFF"/>
                    </a:solidFill>
                  </a:tcPr>
                </a:tc>
                <a:tc>
                  <a:txBody>
                    <a:bodyPr/>
                    <a:lstStyle/>
                    <a:p>
                      <a:pPr algn="l">
                        <a:lnSpc>
                          <a:spcPct val="105000"/>
                        </a:lnSpc>
                        <a:spcBef>
                          <a:spcPts val="0"/>
                        </a:spcBef>
                        <a:spcAft>
                          <a:spcPts val="0"/>
                        </a:spcAft>
                      </a:pPr>
                      <a:r>
                        <a:rPr sz="1700" b="0">
                          <a:solidFill>
                            <a:srgbClr val="2F5597"/>
                          </a:solidFill>
                          <a:latin typeface="Arial"/>
                        </a:rPr>
                        <a:t>Sevan Louisiana: $23,574.00</a:t>
                      </a:r>
                    </a:p>
                  </a:txBody>
                  <a:tcPr marL="128016" marR="109728" marT="91440" marB="54864" anchor="ctr">
                    <a:solidFill>
                      <a:srgbClr val="FFFFFF"/>
                    </a:solidFill>
                  </a:tcPr>
                </a:tc>
                <a:extLst>
                  <a:ext uri="{0D108BD9-81ED-4DB2-BD59-A6C34878D82A}">
                    <a16:rowId xmlns:a16="http://schemas.microsoft.com/office/drawing/2014/main" val="10002"/>
                  </a:ext>
                </a:extLst>
              </a:tr>
              <a:tr h="556260">
                <a:tc>
                  <a:txBody>
                    <a:bodyPr/>
                    <a:lstStyle/>
                    <a:p>
                      <a:pPr algn="l">
                        <a:lnSpc>
                          <a:spcPct val="105000"/>
                        </a:lnSpc>
                        <a:spcBef>
                          <a:spcPts val="0"/>
                        </a:spcBef>
                        <a:spcAft>
                          <a:spcPts val="0"/>
                        </a:spcAft>
                      </a:pPr>
                      <a:r>
                        <a:rPr sz="1700" b="0">
                          <a:solidFill>
                            <a:srgbClr val="2F5597"/>
                          </a:solidFill>
                          <a:latin typeface="Arial"/>
                        </a:rPr>
                        <a:t>Two-year workbook total</a:t>
                      </a:r>
                    </a:p>
                  </a:txBody>
                  <a:tcPr marL="128016" marR="109728" marT="91440" marB="54864" anchor="ctr">
                    <a:solidFill>
                      <a:srgbClr val="F2F5F8"/>
                    </a:solidFill>
                  </a:tcPr>
                </a:tc>
                <a:tc>
                  <a:txBody>
                    <a:bodyPr/>
                    <a:lstStyle/>
                    <a:p>
                      <a:pPr marL="0" marR="0" lvl="0" indent="0" algn="r" defTabSz="914400" rtl="0" eaLnBrk="1" fontAlgn="auto" latinLnBrk="0" hangingPunct="1">
                        <a:lnSpc>
                          <a:spcPct val="105000"/>
                        </a:lnSpc>
                        <a:spcBef>
                          <a:spcPts val="0"/>
                        </a:spcBef>
                        <a:spcAft>
                          <a:spcPts val="0"/>
                        </a:spcAft>
                        <a:buClrTx/>
                        <a:buSzTx/>
                        <a:buFontTx/>
                        <a:buNone/>
                        <a:tabLst/>
                        <a:defRPr/>
                      </a:pPr>
                      <a:r>
                        <a:rPr lang="en-US" sz="1700" b="0">
                          <a:solidFill>
                            <a:srgbClr val="2F5597"/>
                          </a:solidFill>
                          <a:latin typeface="Arial"/>
                        </a:rPr>
                        <a:t>$531,125.42</a:t>
                      </a:r>
                    </a:p>
                  </a:txBody>
                  <a:tcPr marL="128016" marR="109728" marT="91440" marB="54864" anchor="ctr">
                    <a:solidFill>
                      <a:srgbClr val="F2F5F8"/>
                    </a:solidFill>
                  </a:tcPr>
                </a:tc>
                <a:tc>
                  <a:txBody>
                    <a:bodyPr/>
                    <a:lstStyle/>
                    <a:p>
                      <a:pPr algn="r">
                        <a:lnSpc>
                          <a:spcPct val="105000"/>
                        </a:lnSpc>
                        <a:spcBef>
                          <a:spcPts val="0"/>
                        </a:spcBef>
                        <a:spcAft>
                          <a:spcPts val="0"/>
                        </a:spcAft>
                      </a:pPr>
                      <a:r>
                        <a:rPr lang="en-US" sz="1700" b="0">
                          <a:solidFill>
                            <a:srgbClr val="2F5597"/>
                          </a:solidFill>
                          <a:latin typeface="Arial"/>
                        </a:rPr>
                        <a:t>$86,499.00</a:t>
                      </a:r>
                    </a:p>
                  </a:txBody>
                  <a:tcPr marL="128016" marR="109728" marT="91440" marB="54864" anchor="ctr">
                    <a:solidFill>
                      <a:srgbClr val="F2F5F8"/>
                    </a:solidFill>
                  </a:tcPr>
                </a:tc>
                <a:extLst>
                  <a:ext uri="{0D108BD9-81ED-4DB2-BD59-A6C34878D82A}">
                    <a16:rowId xmlns:a16="http://schemas.microsoft.com/office/drawing/2014/main" val="10003"/>
                  </a:ext>
                </a:extLst>
              </a:tr>
              <a:tr h="556260">
                <a:tc>
                  <a:txBody>
                    <a:bodyPr/>
                    <a:lstStyle/>
                    <a:p>
                      <a:pPr algn="l">
                        <a:lnSpc>
                          <a:spcPct val="105000"/>
                        </a:lnSpc>
                        <a:spcBef>
                          <a:spcPts val="0"/>
                        </a:spcBef>
                        <a:spcAft>
                          <a:spcPts val="0"/>
                        </a:spcAft>
                      </a:pPr>
                      <a:r>
                        <a:rPr sz="1700" b="1">
                          <a:solidFill>
                            <a:srgbClr val="2F5597"/>
                          </a:solidFill>
                          <a:latin typeface="Arial"/>
                        </a:rPr>
                        <a:t>Observed two-year difference</a:t>
                      </a:r>
                    </a:p>
                  </a:txBody>
                  <a:tcPr marL="128016" marR="109728" marT="91440" marB="54864" anchor="ctr">
                    <a:solidFill>
                      <a:srgbClr val="E7EEF5"/>
                    </a:solidFill>
                  </a:tcPr>
                </a:tc>
                <a:tc>
                  <a:txBody>
                    <a:bodyPr/>
                    <a:lstStyle/>
                    <a:p>
                      <a:pPr algn="r">
                        <a:lnSpc>
                          <a:spcPct val="105000"/>
                        </a:lnSpc>
                        <a:spcBef>
                          <a:spcPts val="0"/>
                        </a:spcBef>
                        <a:spcAft>
                          <a:spcPts val="0"/>
                        </a:spcAft>
                      </a:pPr>
                      <a:r>
                        <a:rPr lang="en-US" sz="1700" b="1">
                          <a:solidFill>
                            <a:srgbClr val="FF0000"/>
                          </a:solidFill>
                          <a:latin typeface="Arial"/>
                        </a:rPr>
                        <a:t>$444,626.42</a:t>
                      </a:r>
                    </a:p>
                  </a:txBody>
                  <a:tcPr marL="128016" marR="109728" marT="91440" marB="54864" anchor="ctr">
                    <a:solidFill>
                      <a:srgbClr val="E7EEF5"/>
                    </a:solidFill>
                  </a:tcPr>
                </a:tc>
                <a:tc>
                  <a:txBody>
                    <a:bodyPr/>
                    <a:lstStyle/>
                    <a:p>
                      <a:pPr algn="r">
                        <a:lnSpc>
                          <a:spcPct val="105000"/>
                        </a:lnSpc>
                        <a:spcBef>
                          <a:spcPts val="0"/>
                        </a:spcBef>
                        <a:spcAft>
                          <a:spcPts val="0"/>
                        </a:spcAft>
                      </a:pPr>
                      <a:r>
                        <a:rPr lang="en-US" sz="1700" b="1" dirty="0">
                          <a:solidFill>
                            <a:srgbClr val="00B050"/>
                          </a:solidFill>
                          <a:latin typeface="Arial"/>
                        </a:rPr>
                        <a:t>83.7% lower PO spend</a:t>
                      </a:r>
                    </a:p>
                  </a:txBody>
                  <a:tcPr marL="128016" marR="109728" marT="91440" marB="54864" anchor="ctr">
                    <a:solidFill>
                      <a:srgbClr val="E7EEF5"/>
                    </a:solidFill>
                  </a:tcPr>
                </a:tc>
                <a:extLst>
                  <a:ext uri="{0D108BD9-81ED-4DB2-BD59-A6C34878D82A}">
                    <a16:rowId xmlns:a16="http://schemas.microsoft.com/office/drawing/2014/main" val="10005"/>
                  </a:ext>
                </a:extLst>
              </a:tr>
            </a:tbl>
          </a:graphicData>
        </a:graphic>
      </p:graphicFrame>
      <p:cxnSp>
        <p:nvCxnSpPr>
          <p:cNvPr id="107" name="Straight Connector 1">
            <a:extLst>
              <a:ext uri="{FF2B5EF4-FFF2-40B4-BE49-F238E27FC236}">
                <a16:creationId xmlns:a16="http://schemas.microsoft.com/office/drawing/2014/main" id="{FC5A151D-BBF2-DF50-2A3A-314381357F62}"/>
              </a:ext>
            </a:extLst>
          </p:cNvPr>
          <p:cNvCxnSpPr>
            <a:cxnSpLocks/>
          </p:cNvCxnSpPr>
          <p:nvPr/>
        </p:nvCxnSpPr>
        <p:spPr>
          <a:xfrm>
            <a:off x="371371" y="850600"/>
            <a:ext cx="2092130" cy="0"/>
          </a:xfrm>
          <a:prstGeom prst="line">
            <a:avLst/>
          </a:prstGeom>
          <a:ln w="28575"/>
        </p:spPr>
        <p:style>
          <a:lnRef idx="1">
            <a:schemeClr val="accent1"/>
          </a:lnRef>
          <a:fillRef idx="0">
            <a:schemeClr val="accent1"/>
          </a:fillRef>
          <a:effectRef idx="0">
            <a:schemeClr val="accent1"/>
          </a:effectRef>
          <a:fontRef idx="minor">
            <a:schemeClr val="tx1"/>
          </a:fontRef>
        </p:style>
      </p:cxnSp>
      <p:pic>
        <p:nvPicPr>
          <p:cNvPr id="108" name="Picture 107" descr="logo.png"/>
          <p:cNvPicPr>
            <a:picLocks noChangeAspect="1"/>
          </p:cNvPicPr>
          <p:nvPr/>
        </p:nvPicPr>
        <p:blipFill>
          <a:blip r:embed="rId3"/>
          <a:stretch>
            <a:fillRect/>
          </a:stretch>
        </p:blipFill>
        <p:spPr>
          <a:xfrm>
            <a:off x="383133" y="6316675"/>
            <a:ext cx="826617" cy="303093"/>
          </a:xfrm>
          <a:prstGeom prst="rect">
            <a:avLst/>
          </a:prstGeom>
        </p:spPr>
      </p:pic>
      <p:sp>
        <p:nvSpPr>
          <p:cNvPr id="109" name="TextBox 108"/>
          <p:cNvSpPr txBox="1"/>
          <p:nvPr/>
        </p:nvSpPr>
        <p:spPr>
          <a:xfrm>
            <a:off x="11064240" y="6400800"/>
            <a:ext cx="731520" cy="126766"/>
          </a:xfrm>
          <a:prstGeom prst="rect">
            <a:avLst/>
          </a:prstGeom>
          <a:noFill/>
          <a:ln>
            <a:noFill/>
          </a:ln>
        </p:spPr>
        <p:txBody>
          <a:bodyPr wrap="square" lIns="0" tIns="0" rIns="0" bIns="0" anchor="t">
            <a:spAutoFit/>
          </a:bodyPr>
          <a:lstStyle/>
          <a:p>
            <a:pPr algn="l">
              <a:lnSpc>
                <a:spcPct val="112000"/>
              </a:lnSpc>
              <a:spcBef>
                <a:spcPts val="0"/>
              </a:spcBef>
              <a:spcAft>
                <a:spcPts val="1000"/>
              </a:spcAft>
            </a:pPr>
            <a:r>
              <a:rPr lang="en-US" sz="800" b="0">
                <a:solidFill>
                  <a:srgbClr val="2F5597"/>
                </a:solidFill>
                <a:latin typeface="Arial"/>
              </a:rPr>
              <a:t>6</a:t>
            </a:r>
            <a:endParaRPr sz="800" b="0">
              <a:solidFill>
                <a:srgbClr val="2F5597"/>
              </a:solidFill>
              <a:latin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1" cy="1"/>
          <a:chOff x="0" y="0"/>
          <a:chExt cx="1" cy="1"/>
        </a:xfrm>
      </p:grpSpPr>
      <p:sp>
        <p:nvSpPr>
          <p:cNvPr id="102" name="Text 0"/>
          <p:cNvSpPr/>
          <p:nvPr/>
        </p:nvSpPr>
        <p:spPr>
          <a:xfrm>
            <a:off x="374904" y="347472"/>
            <a:ext cx="11247120" cy="438912"/>
          </a:xfrm>
          <a:prstGeom prst="rect">
            <a:avLst/>
          </a:prstGeom>
          <a:noFill/>
          <a:ln>
            <a:noFill/>
          </a:ln>
        </p:spPr>
        <p:txBody>
          <a:bodyPr wrap="square" lIns="0" tIns="0" rIns="0" bIns="0" rtlCol="0" anchor="t"/>
          <a:lstStyle/>
          <a:p>
            <a:pPr marL="0" indent="0" algn="l">
              <a:lnSpc>
                <a:spcPct val="112000"/>
              </a:lnSpc>
              <a:spcBef>
                <a:spcPts val="0"/>
              </a:spcBef>
              <a:spcAft>
                <a:spcPts val="1000"/>
              </a:spcAft>
              <a:buNone/>
              <a:defRPr>
                <a:latin typeface="Arial"/>
              </a:defRPr>
            </a:pPr>
            <a:r>
              <a:rPr sz="2800" b="0">
                <a:solidFill>
                  <a:srgbClr val="2F5597"/>
                </a:solidFill>
                <a:latin typeface="Arial"/>
              </a:rPr>
              <a:t>The proposed package standardizes tooling on 11 rigs</a:t>
            </a:r>
            <a:endParaRPr lang="en-US" sz="2400"/>
          </a:p>
        </p:txBody>
      </p:sp>
      <p:sp>
        <p:nvSpPr>
          <p:cNvPr id="103" name="Text 1"/>
          <p:cNvSpPr/>
          <p:nvPr/>
        </p:nvSpPr>
        <p:spPr>
          <a:xfrm>
            <a:off x="438912" y="978408"/>
            <a:ext cx="10972800" cy="502920"/>
          </a:xfrm>
          <a:prstGeom prst="rect">
            <a:avLst/>
          </a:prstGeom>
          <a:noFill/>
          <a:ln>
            <a:noFill/>
          </a:ln>
        </p:spPr>
        <p:txBody>
          <a:bodyPr wrap="square" lIns="0" tIns="0" rIns="0" bIns="0" rtlCol="0" anchor="t"/>
          <a:lstStyle/>
          <a:p>
            <a:pPr marL="0" indent="0" algn="l">
              <a:lnSpc>
                <a:spcPct val="112000"/>
              </a:lnSpc>
              <a:spcBef>
                <a:spcPts val="0"/>
              </a:spcBef>
              <a:spcAft>
                <a:spcPts val="1000"/>
              </a:spcAft>
              <a:buNone/>
              <a:defRPr>
                <a:latin typeface="Arial"/>
              </a:defRPr>
            </a:pPr>
            <a:r>
              <a:rPr lang="en-US" sz="1500">
                <a:solidFill>
                  <a:srgbClr val="00677C"/>
                </a:solidFill>
                <a:latin typeface="Arial"/>
              </a:rPr>
              <a:t>3 RT-24-S tools per vessel with all quoted spares     S39960-GOA-R2, 25 Aug 2026     USD</a:t>
            </a:r>
            <a:endParaRPr lang="en-US" sz="1050"/>
          </a:p>
        </p:txBody>
      </p:sp>
      <p:cxnSp>
        <p:nvCxnSpPr>
          <p:cNvPr id="118" name="Straight Connector 1">
            <a:extLst>
              <a:ext uri="{FF2B5EF4-FFF2-40B4-BE49-F238E27FC236}">
                <a16:creationId xmlns:a16="http://schemas.microsoft.com/office/drawing/2014/main" id="{FC5A151D-BBF2-DF50-2A3A-314381357F62}"/>
              </a:ext>
            </a:extLst>
          </p:cNvPr>
          <p:cNvCxnSpPr>
            <a:cxnSpLocks/>
          </p:cNvCxnSpPr>
          <p:nvPr/>
        </p:nvCxnSpPr>
        <p:spPr>
          <a:xfrm>
            <a:off x="371371" y="850600"/>
            <a:ext cx="2092130" cy="0"/>
          </a:xfrm>
          <a:prstGeom prst="line">
            <a:avLst/>
          </a:prstGeom>
          <a:ln w="28575"/>
        </p:spPr>
        <p:style>
          <a:lnRef idx="1">
            <a:schemeClr val="accent1"/>
          </a:lnRef>
          <a:fillRef idx="0">
            <a:schemeClr val="accent1"/>
          </a:fillRef>
          <a:effectRef idx="0">
            <a:schemeClr val="accent1"/>
          </a:effectRef>
          <a:fontRef idx="minor">
            <a:schemeClr val="tx1"/>
          </a:fontRef>
        </p:style>
      </p:cxnSp>
      <p:pic>
        <p:nvPicPr>
          <p:cNvPr id="119" name="Picture 118" descr="logo.png"/>
          <p:cNvPicPr>
            <a:picLocks noChangeAspect="1"/>
          </p:cNvPicPr>
          <p:nvPr/>
        </p:nvPicPr>
        <p:blipFill>
          <a:blip r:embed="rId3"/>
          <a:stretch>
            <a:fillRect/>
          </a:stretch>
        </p:blipFill>
        <p:spPr>
          <a:xfrm>
            <a:off x="383133" y="6316675"/>
            <a:ext cx="826617" cy="303093"/>
          </a:xfrm>
          <a:prstGeom prst="rect">
            <a:avLst/>
          </a:prstGeom>
        </p:spPr>
      </p:pic>
      <p:sp>
        <p:nvSpPr>
          <p:cNvPr id="120" name="TextBox 119"/>
          <p:cNvSpPr txBox="1"/>
          <p:nvPr/>
        </p:nvSpPr>
        <p:spPr>
          <a:xfrm>
            <a:off x="11064240" y="6400800"/>
            <a:ext cx="731520" cy="126766"/>
          </a:xfrm>
          <a:prstGeom prst="rect">
            <a:avLst/>
          </a:prstGeom>
          <a:noFill/>
          <a:ln>
            <a:noFill/>
          </a:ln>
        </p:spPr>
        <p:txBody>
          <a:bodyPr wrap="square" lIns="0" tIns="0" rIns="0" bIns="0" anchor="t">
            <a:spAutoFit/>
          </a:bodyPr>
          <a:lstStyle/>
          <a:p>
            <a:pPr algn="l">
              <a:lnSpc>
                <a:spcPct val="112000"/>
              </a:lnSpc>
              <a:spcBef>
                <a:spcPts val="0"/>
              </a:spcBef>
              <a:spcAft>
                <a:spcPts val="1000"/>
              </a:spcAft>
            </a:pPr>
            <a:r>
              <a:rPr lang="en-US" sz="800" b="0">
                <a:solidFill>
                  <a:srgbClr val="2F5597"/>
                </a:solidFill>
                <a:latin typeface="Arial"/>
              </a:rPr>
              <a:t>7</a:t>
            </a:r>
            <a:endParaRPr sz="800" b="0">
              <a:solidFill>
                <a:srgbClr val="2F5597"/>
              </a:solidFill>
              <a:latin typeface="Arial"/>
            </a:endParaRPr>
          </a:p>
        </p:txBody>
      </p:sp>
      <p:sp>
        <p:nvSpPr>
          <p:cNvPr id="123" name="TextBox 122"/>
          <p:cNvSpPr txBox="1"/>
          <p:nvPr/>
        </p:nvSpPr>
        <p:spPr>
          <a:xfrm>
            <a:off x="502920" y="5961888"/>
            <a:ext cx="11155680" cy="184666"/>
          </a:xfrm>
          <a:prstGeom prst="rect">
            <a:avLst/>
          </a:prstGeom>
          <a:noFill/>
        </p:spPr>
        <p:txBody>
          <a:bodyPr wrap="square" lIns="0" tIns="0" rIns="0" bIns="0">
            <a:spAutoFit/>
          </a:bodyPr>
          <a:lstStyle/>
          <a:p>
            <a:r>
              <a:rPr lang="en-US" sz="1200">
                <a:solidFill>
                  <a:srgbClr val="646D76"/>
                </a:solidFill>
                <a:latin typeface="Arial"/>
              </a:rPr>
              <a:t>Calculated 3-tool configuration using quoted rates, subject to supplier confirmation.</a:t>
            </a:r>
          </a:p>
        </p:txBody>
      </p:sp>
      <p:sp>
        <p:nvSpPr>
          <p:cNvPr id="124" name="TextBox 123"/>
          <p:cNvSpPr txBox="1"/>
          <p:nvPr/>
        </p:nvSpPr>
        <p:spPr>
          <a:xfrm>
            <a:off x="502920" y="1645920"/>
            <a:ext cx="5212080" cy="274320"/>
          </a:xfrm>
          <a:prstGeom prst="rect">
            <a:avLst/>
          </a:prstGeom>
          <a:noFill/>
        </p:spPr>
        <p:txBody>
          <a:bodyPr wrap="square" lIns="0" tIns="0" rIns="0" bIns="0">
            <a:spAutoFit/>
          </a:bodyPr>
          <a:lstStyle/>
          <a:p>
            <a:pPr>
              <a:spcAft>
                <a:spcPts val="0"/>
              </a:spcAft>
            </a:pPr>
            <a:r>
              <a:rPr sz="1600" b="1">
                <a:solidFill>
                  <a:srgbClr val="00677C"/>
                </a:solidFill>
                <a:latin typeface="Arial"/>
              </a:rPr>
              <a:t>PER VESSEL</a:t>
            </a:r>
          </a:p>
        </p:txBody>
      </p:sp>
      <p:sp>
        <p:nvSpPr>
          <p:cNvPr id="125" name="TextBox 124"/>
          <p:cNvSpPr txBox="1"/>
          <p:nvPr/>
        </p:nvSpPr>
        <p:spPr>
          <a:xfrm>
            <a:off x="502920" y="2029968"/>
            <a:ext cx="5212080" cy="566928"/>
          </a:xfrm>
          <a:prstGeom prst="rect">
            <a:avLst/>
          </a:prstGeom>
          <a:noFill/>
        </p:spPr>
        <p:txBody>
          <a:bodyPr wrap="square" lIns="0" tIns="0" rIns="0" bIns="0">
            <a:spAutoFit/>
          </a:bodyPr>
          <a:lstStyle/>
          <a:p>
            <a:pPr>
              <a:spcAft>
                <a:spcPts val="0"/>
              </a:spcAft>
            </a:pPr>
            <a:r>
              <a:rPr sz="3600" b="1">
                <a:solidFill>
                  <a:srgbClr val="2F5597"/>
                </a:solidFill>
                <a:latin typeface="Arial"/>
              </a:rPr>
              <a:t>$247,034</a:t>
            </a:r>
          </a:p>
        </p:txBody>
      </p:sp>
      <p:sp>
        <p:nvSpPr>
          <p:cNvPr id="126" name="TextBox 125"/>
          <p:cNvSpPr txBox="1"/>
          <p:nvPr/>
        </p:nvSpPr>
        <p:spPr>
          <a:xfrm>
            <a:off x="502920" y="2688336"/>
            <a:ext cx="5212080" cy="292608"/>
          </a:xfrm>
          <a:prstGeom prst="rect">
            <a:avLst/>
          </a:prstGeom>
          <a:noFill/>
        </p:spPr>
        <p:txBody>
          <a:bodyPr wrap="square" lIns="0" tIns="0" rIns="0" bIns="0">
            <a:spAutoFit/>
          </a:bodyPr>
          <a:lstStyle/>
          <a:p>
            <a:pPr>
              <a:spcAft>
                <a:spcPts val="0"/>
              </a:spcAft>
            </a:pPr>
            <a:r>
              <a:rPr sz="1600" b="0">
                <a:solidFill>
                  <a:srgbClr val="2F5597"/>
                </a:solidFill>
                <a:latin typeface="Arial"/>
              </a:rPr>
              <a:t>3 tools + ancillary equipment + full spares</a:t>
            </a:r>
          </a:p>
        </p:txBody>
      </p:sp>
      <p:sp>
        <p:nvSpPr>
          <p:cNvPr id="127" name="TextBox 126"/>
          <p:cNvSpPr txBox="1"/>
          <p:nvPr/>
        </p:nvSpPr>
        <p:spPr>
          <a:xfrm>
            <a:off x="6263640" y="1645920"/>
            <a:ext cx="5440680" cy="274320"/>
          </a:xfrm>
          <a:prstGeom prst="rect">
            <a:avLst/>
          </a:prstGeom>
          <a:noFill/>
        </p:spPr>
        <p:txBody>
          <a:bodyPr wrap="square" lIns="0" tIns="0" rIns="0" bIns="0">
            <a:spAutoFit/>
          </a:bodyPr>
          <a:lstStyle/>
          <a:p>
            <a:pPr>
              <a:spcAft>
                <a:spcPts val="0"/>
              </a:spcAft>
            </a:pPr>
            <a:r>
              <a:rPr sz="1600" b="1">
                <a:solidFill>
                  <a:srgbClr val="00677C"/>
                </a:solidFill>
                <a:latin typeface="Arial"/>
              </a:rPr>
              <a:t>TOTAL FOR ALL 11 VESSELS</a:t>
            </a:r>
          </a:p>
        </p:txBody>
      </p:sp>
      <p:sp>
        <p:nvSpPr>
          <p:cNvPr id="128" name="TextBox 127"/>
          <p:cNvSpPr txBox="1"/>
          <p:nvPr/>
        </p:nvSpPr>
        <p:spPr>
          <a:xfrm>
            <a:off x="6263640" y="2029968"/>
            <a:ext cx="5440680" cy="566928"/>
          </a:xfrm>
          <a:prstGeom prst="rect">
            <a:avLst/>
          </a:prstGeom>
          <a:noFill/>
        </p:spPr>
        <p:txBody>
          <a:bodyPr wrap="square" lIns="0" tIns="0" rIns="0" bIns="0">
            <a:spAutoFit/>
          </a:bodyPr>
          <a:lstStyle/>
          <a:p>
            <a:pPr>
              <a:spcAft>
                <a:spcPts val="0"/>
              </a:spcAft>
            </a:pPr>
            <a:r>
              <a:rPr sz="3600" b="1">
                <a:solidFill>
                  <a:srgbClr val="2F5597"/>
                </a:solidFill>
                <a:latin typeface="Arial"/>
              </a:rPr>
              <a:t>$2,717,374</a:t>
            </a:r>
          </a:p>
        </p:txBody>
      </p:sp>
      <p:sp>
        <p:nvSpPr>
          <p:cNvPr id="129" name="TextBox 128"/>
          <p:cNvSpPr txBox="1"/>
          <p:nvPr/>
        </p:nvSpPr>
        <p:spPr>
          <a:xfrm>
            <a:off x="6263640" y="2688336"/>
            <a:ext cx="5440680" cy="292608"/>
          </a:xfrm>
          <a:prstGeom prst="rect">
            <a:avLst/>
          </a:prstGeom>
          <a:noFill/>
        </p:spPr>
        <p:txBody>
          <a:bodyPr wrap="square" lIns="0" tIns="0" rIns="0" bIns="0">
            <a:spAutoFit/>
          </a:bodyPr>
          <a:lstStyle/>
          <a:p>
            <a:pPr>
              <a:spcAft>
                <a:spcPts val="0"/>
              </a:spcAft>
            </a:pPr>
            <a:r>
              <a:rPr sz="1600" b="0">
                <a:solidFill>
                  <a:srgbClr val="2F5597"/>
                </a:solidFill>
                <a:latin typeface="Arial"/>
              </a:rPr>
              <a:t>33 tools + 11 ancillary sets + 11 spares packages</a:t>
            </a:r>
          </a:p>
        </p:txBody>
      </p:sp>
      <p:graphicFrame>
        <p:nvGraphicFramePr>
          <p:cNvPr id="130" name="Table 129"/>
          <p:cNvGraphicFramePr>
            <a:graphicFrameLocks noGrp="1"/>
          </p:cNvGraphicFramePr>
          <p:nvPr/>
        </p:nvGraphicFramePr>
        <p:xfrm>
          <a:off x="502920" y="3246120"/>
          <a:ext cx="11183112" cy="2057400"/>
        </p:xfrm>
        <a:graphic>
          <a:graphicData uri="http://schemas.openxmlformats.org/drawingml/2006/table">
            <a:tbl>
              <a:tblPr firstRow="1" bandRow="1">
                <a:tableStyleId>{5C22544A-7EE6-4342-B048-85BDC9FD1C3A}</a:tableStyleId>
              </a:tblPr>
              <a:tblGrid>
                <a:gridCol w="5788152">
                  <a:extLst>
                    <a:ext uri="{9D8B030D-6E8A-4147-A177-3AD203B41FA5}">
                      <a16:colId xmlns:a16="http://schemas.microsoft.com/office/drawing/2014/main" val="20000"/>
                    </a:ext>
                  </a:extLst>
                </a:gridCol>
                <a:gridCol w="265176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tblGrid>
              <a:tr h="411480">
                <a:tc>
                  <a:txBody>
                    <a:bodyPr/>
                    <a:lstStyle/>
                    <a:p>
                      <a:pPr algn="l">
                        <a:spcAft>
                          <a:spcPts val="0"/>
                        </a:spcAft>
                      </a:pPr>
                      <a:r>
                        <a:rPr sz="1600" b="1">
                          <a:solidFill>
                            <a:srgbClr val="FFFFFF"/>
                          </a:solidFill>
                          <a:latin typeface="Arial"/>
                        </a:rPr>
                        <a:t>Cost breakdown</a:t>
                      </a:r>
                    </a:p>
                  </a:txBody>
                  <a:tcPr marL="137160" marR="137160" marT="36576" marB="27432" anchor="ctr">
                    <a:solidFill>
                      <a:srgbClr val="00677C"/>
                    </a:solidFill>
                  </a:tcPr>
                </a:tc>
                <a:tc>
                  <a:txBody>
                    <a:bodyPr/>
                    <a:lstStyle/>
                    <a:p>
                      <a:pPr algn="r">
                        <a:spcAft>
                          <a:spcPts val="0"/>
                        </a:spcAft>
                      </a:pPr>
                      <a:r>
                        <a:rPr sz="1600" b="1">
                          <a:solidFill>
                            <a:srgbClr val="FFFFFF"/>
                          </a:solidFill>
                          <a:latin typeface="Arial"/>
                        </a:rPr>
                        <a:t>Per vessel</a:t>
                      </a:r>
                    </a:p>
                  </a:txBody>
                  <a:tcPr marL="137160" marR="137160" marT="36576" marB="27432" anchor="ctr">
                    <a:solidFill>
                      <a:srgbClr val="00677C"/>
                    </a:solidFill>
                  </a:tcPr>
                </a:tc>
                <a:tc>
                  <a:txBody>
                    <a:bodyPr/>
                    <a:lstStyle/>
                    <a:p>
                      <a:pPr algn="r">
                        <a:spcAft>
                          <a:spcPts val="0"/>
                        </a:spcAft>
                      </a:pPr>
                      <a:r>
                        <a:rPr sz="1600" b="1">
                          <a:solidFill>
                            <a:srgbClr val="FFFFFF"/>
                          </a:solidFill>
                          <a:latin typeface="Arial"/>
                        </a:rPr>
                        <a:t>All 11 vessels</a:t>
                      </a:r>
                    </a:p>
                  </a:txBody>
                  <a:tcPr marL="137160" marR="137160" marT="36576" marB="27432" anchor="ctr">
                    <a:solidFill>
                      <a:srgbClr val="00677C"/>
                    </a:solidFill>
                  </a:tcPr>
                </a:tc>
                <a:extLst>
                  <a:ext uri="{0D108BD9-81ED-4DB2-BD59-A6C34878D82A}">
                    <a16:rowId xmlns:a16="http://schemas.microsoft.com/office/drawing/2014/main" val="10000"/>
                  </a:ext>
                </a:extLst>
              </a:tr>
              <a:tr h="411480">
                <a:tc>
                  <a:txBody>
                    <a:bodyPr/>
                    <a:lstStyle/>
                    <a:p>
                      <a:pPr algn="l">
                        <a:spcAft>
                          <a:spcPts val="0"/>
                        </a:spcAft>
                      </a:pPr>
                      <a:r>
                        <a:rPr sz="1600" b="0">
                          <a:solidFill>
                            <a:srgbClr val="2F5597"/>
                          </a:solidFill>
                          <a:latin typeface="Arial"/>
                        </a:rPr>
                        <a:t>RT-24-S tools (3 per vessel)</a:t>
                      </a:r>
                    </a:p>
                  </a:txBody>
                  <a:tcPr marL="137160" marR="137160" marT="36576" marB="27432" anchor="ctr">
                    <a:solidFill>
                      <a:srgbClr val="F2F5F8"/>
                    </a:solidFill>
                  </a:tcPr>
                </a:tc>
                <a:tc>
                  <a:txBody>
                    <a:bodyPr/>
                    <a:lstStyle/>
                    <a:p>
                      <a:pPr algn="r">
                        <a:spcAft>
                          <a:spcPts val="0"/>
                        </a:spcAft>
                      </a:pPr>
                      <a:r>
                        <a:rPr sz="1600" b="0">
                          <a:solidFill>
                            <a:srgbClr val="2F5597"/>
                          </a:solidFill>
                          <a:latin typeface="Arial"/>
                        </a:rPr>
                        <a:t>$133,962</a:t>
                      </a:r>
                    </a:p>
                  </a:txBody>
                  <a:tcPr marL="137160" marR="137160" marT="36576" marB="27432" anchor="ctr">
                    <a:solidFill>
                      <a:srgbClr val="F2F5F8"/>
                    </a:solidFill>
                  </a:tcPr>
                </a:tc>
                <a:tc>
                  <a:txBody>
                    <a:bodyPr/>
                    <a:lstStyle/>
                    <a:p>
                      <a:pPr algn="r">
                        <a:spcAft>
                          <a:spcPts val="0"/>
                        </a:spcAft>
                      </a:pPr>
                      <a:r>
                        <a:rPr sz="1600" b="0">
                          <a:solidFill>
                            <a:srgbClr val="2F5597"/>
                          </a:solidFill>
                          <a:latin typeface="Arial"/>
                        </a:rPr>
                        <a:t>$1,473,582</a:t>
                      </a:r>
                    </a:p>
                  </a:txBody>
                  <a:tcPr marL="137160" marR="137160" marT="36576" marB="27432" anchor="ctr">
                    <a:solidFill>
                      <a:srgbClr val="F2F5F8"/>
                    </a:solidFill>
                  </a:tcPr>
                </a:tc>
                <a:extLst>
                  <a:ext uri="{0D108BD9-81ED-4DB2-BD59-A6C34878D82A}">
                    <a16:rowId xmlns:a16="http://schemas.microsoft.com/office/drawing/2014/main" val="10001"/>
                  </a:ext>
                </a:extLst>
              </a:tr>
              <a:tr h="411480">
                <a:tc>
                  <a:txBody>
                    <a:bodyPr/>
                    <a:lstStyle/>
                    <a:p>
                      <a:pPr algn="l">
                        <a:spcAft>
                          <a:spcPts val="0"/>
                        </a:spcAft>
                      </a:pPr>
                      <a:r>
                        <a:rPr sz="1600" b="0">
                          <a:solidFill>
                            <a:srgbClr val="2F5597"/>
                          </a:solidFill>
                          <a:latin typeface="Arial"/>
                        </a:rPr>
                        <a:t>Ancillary equipment</a:t>
                      </a:r>
                    </a:p>
                  </a:txBody>
                  <a:tcPr marL="137160" marR="137160" marT="36576" marB="27432" anchor="ctr">
                    <a:solidFill>
                      <a:srgbClr val="FFFFFF"/>
                    </a:solidFill>
                  </a:tcPr>
                </a:tc>
                <a:tc>
                  <a:txBody>
                    <a:bodyPr/>
                    <a:lstStyle/>
                    <a:p>
                      <a:pPr algn="r">
                        <a:spcAft>
                          <a:spcPts val="0"/>
                        </a:spcAft>
                      </a:pPr>
                      <a:r>
                        <a:rPr sz="1600" b="0">
                          <a:solidFill>
                            <a:srgbClr val="2F5597"/>
                          </a:solidFill>
                          <a:latin typeface="Arial"/>
                        </a:rPr>
                        <a:t>$75,648</a:t>
                      </a:r>
                    </a:p>
                  </a:txBody>
                  <a:tcPr marL="137160" marR="137160" marT="36576" marB="27432" anchor="ctr">
                    <a:solidFill>
                      <a:srgbClr val="FFFFFF"/>
                    </a:solidFill>
                  </a:tcPr>
                </a:tc>
                <a:tc>
                  <a:txBody>
                    <a:bodyPr/>
                    <a:lstStyle/>
                    <a:p>
                      <a:pPr algn="r">
                        <a:spcAft>
                          <a:spcPts val="0"/>
                        </a:spcAft>
                      </a:pPr>
                      <a:r>
                        <a:rPr sz="1600" b="0">
                          <a:solidFill>
                            <a:srgbClr val="2F5597"/>
                          </a:solidFill>
                          <a:latin typeface="Arial"/>
                        </a:rPr>
                        <a:t>$832,128</a:t>
                      </a:r>
                    </a:p>
                  </a:txBody>
                  <a:tcPr marL="137160" marR="137160" marT="36576" marB="27432" anchor="ctr">
                    <a:solidFill>
                      <a:srgbClr val="FFFFFF"/>
                    </a:solidFill>
                  </a:tcPr>
                </a:tc>
                <a:extLst>
                  <a:ext uri="{0D108BD9-81ED-4DB2-BD59-A6C34878D82A}">
                    <a16:rowId xmlns:a16="http://schemas.microsoft.com/office/drawing/2014/main" val="10002"/>
                  </a:ext>
                </a:extLst>
              </a:tr>
              <a:tr h="411480">
                <a:tc>
                  <a:txBody>
                    <a:bodyPr/>
                    <a:lstStyle/>
                    <a:p>
                      <a:pPr algn="l">
                        <a:spcAft>
                          <a:spcPts val="0"/>
                        </a:spcAft>
                      </a:pPr>
                      <a:r>
                        <a:rPr sz="1600" b="0">
                          <a:solidFill>
                            <a:srgbClr val="2F5597"/>
                          </a:solidFill>
                          <a:latin typeface="Arial"/>
                        </a:rPr>
                        <a:t>Full quoted spares package</a:t>
                      </a:r>
                    </a:p>
                  </a:txBody>
                  <a:tcPr marL="137160" marR="137160" marT="36576" marB="27432" anchor="ctr">
                    <a:solidFill>
                      <a:srgbClr val="F2F5F8"/>
                    </a:solidFill>
                  </a:tcPr>
                </a:tc>
                <a:tc>
                  <a:txBody>
                    <a:bodyPr/>
                    <a:lstStyle/>
                    <a:p>
                      <a:pPr algn="r">
                        <a:spcAft>
                          <a:spcPts val="0"/>
                        </a:spcAft>
                      </a:pPr>
                      <a:r>
                        <a:rPr sz="1600" b="0">
                          <a:solidFill>
                            <a:srgbClr val="2F5597"/>
                          </a:solidFill>
                          <a:latin typeface="Arial"/>
                        </a:rPr>
                        <a:t>$37,424</a:t>
                      </a:r>
                    </a:p>
                  </a:txBody>
                  <a:tcPr marL="137160" marR="137160" marT="36576" marB="27432" anchor="ctr">
                    <a:solidFill>
                      <a:srgbClr val="F2F5F8"/>
                    </a:solidFill>
                  </a:tcPr>
                </a:tc>
                <a:tc>
                  <a:txBody>
                    <a:bodyPr/>
                    <a:lstStyle/>
                    <a:p>
                      <a:pPr algn="r">
                        <a:spcAft>
                          <a:spcPts val="0"/>
                        </a:spcAft>
                      </a:pPr>
                      <a:r>
                        <a:rPr sz="1600" b="0">
                          <a:solidFill>
                            <a:srgbClr val="2F5597"/>
                          </a:solidFill>
                          <a:latin typeface="Arial"/>
                        </a:rPr>
                        <a:t>$411,664</a:t>
                      </a:r>
                    </a:p>
                  </a:txBody>
                  <a:tcPr marL="137160" marR="137160" marT="36576" marB="27432" anchor="ctr">
                    <a:solidFill>
                      <a:srgbClr val="F2F5F8"/>
                    </a:solidFill>
                  </a:tcPr>
                </a:tc>
                <a:extLst>
                  <a:ext uri="{0D108BD9-81ED-4DB2-BD59-A6C34878D82A}">
                    <a16:rowId xmlns:a16="http://schemas.microsoft.com/office/drawing/2014/main" val="10003"/>
                  </a:ext>
                </a:extLst>
              </a:tr>
              <a:tr h="411480">
                <a:tc>
                  <a:txBody>
                    <a:bodyPr/>
                    <a:lstStyle/>
                    <a:p>
                      <a:pPr algn="l">
                        <a:spcAft>
                          <a:spcPts val="0"/>
                        </a:spcAft>
                      </a:pPr>
                      <a:r>
                        <a:rPr sz="1600" b="1">
                          <a:solidFill>
                            <a:srgbClr val="2F5597"/>
                          </a:solidFill>
                          <a:latin typeface="Arial"/>
                        </a:rPr>
                        <a:t>TOTAL</a:t>
                      </a:r>
                    </a:p>
                  </a:txBody>
                  <a:tcPr marL="137160" marR="137160" marT="36576" marB="27432" anchor="ctr">
                    <a:solidFill>
                      <a:srgbClr val="E7EEF5"/>
                    </a:solidFill>
                  </a:tcPr>
                </a:tc>
                <a:tc>
                  <a:txBody>
                    <a:bodyPr/>
                    <a:lstStyle/>
                    <a:p>
                      <a:pPr algn="r">
                        <a:spcAft>
                          <a:spcPts val="0"/>
                        </a:spcAft>
                      </a:pPr>
                      <a:r>
                        <a:rPr sz="1600" b="1">
                          <a:solidFill>
                            <a:srgbClr val="2F5597"/>
                          </a:solidFill>
                          <a:latin typeface="Arial"/>
                        </a:rPr>
                        <a:t>$247,034</a:t>
                      </a:r>
                    </a:p>
                  </a:txBody>
                  <a:tcPr marL="137160" marR="137160" marT="36576" marB="27432" anchor="ctr">
                    <a:solidFill>
                      <a:srgbClr val="E7EEF5"/>
                    </a:solidFill>
                  </a:tcPr>
                </a:tc>
                <a:tc>
                  <a:txBody>
                    <a:bodyPr/>
                    <a:lstStyle/>
                    <a:p>
                      <a:pPr algn="r">
                        <a:spcAft>
                          <a:spcPts val="0"/>
                        </a:spcAft>
                      </a:pPr>
                      <a:r>
                        <a:rPr sz="1600" b="1">
                          <a:solidFill>
                            <a:srgbClr val="2F5597"/>
                          </a:solidFill>
                          <a:latin typeface="Arial"/>
                        </a:rPr>
                        <a:t>$2,717,374</a:t>
                      </a:r>
                    </a:p>
                  </a:txBody>
                  <a:tcPr marL="137160" marR="137160" marT="36576" marB="27432" anchor="ctr">
                    <a:solidFill>
                      <a:srgbClr val="E7EEF5"/>
                    </a:solidFill>
                  </a:tcPr>
                </a:tc>
                <a:extLst>
                  <a:ext uri="{0D108BD9-81ED-4DB2-BD59-A6C34878D82A}">
                    <a16:rowId xmlns:a16="http://schemas.microsoft.com/office/drawing/2014/main" val="10004"/>
                  </a:ext>
                </a:extLst>
              </a:tr>
            </a:tbl>
          </a:graphicData>
        </a:graphic>
      </p:graphicFrame>
      <p:sp>
        <p:nvSpPr>
          <p:cNvPr id="131" name="TextBox 130"/>
          <p:cNvSpPr txBox="1"/>
          <p:nvPr/>
        </p:nvSpPr>
        <p:spPr>
          <a:xfrm>
            <a:off x="502920" y="5550408"/>
            <a:ext cx="11155680" cy="274320"/>
          </a:xfrm>
          <a:prstGeom prst="rect">
            <a:avLst/>
          </a:prstGeom>
          <a:noFill/>
        </p:spPr>
        <p:txBody>
          <a:bodyPr wrap="square" lIns="0" tIns="0" rIns="0" bIns="0">
            <a:spAutoFit/>
          </a:bodyPr>
          <a:lstStyle/>
          <a:p>
            <a:pPr>
              <a:spcAft>
                <a:spcPts val="0"/>
              </a:spcAft>
            </a:pPr>
            <a:r>
              <a:rPr sz="1600" b="0">
                <a:solidFill>
                  <a:srgbClr val="00677C"/>
                </a:solidFill>
                <a:latin typeface="Arial"/>
              </a:rPr>
              <a:t>RT-24-S: $44,654 each     Maximo ICN: 4085835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m6851ecb5cfb433ea9a30e6b28488796 xmlns="7887adca-63be-4a4c-a89d-ee06eeaacc9b">
      <Terms xmlns="http://schemas.microsoft.com/office/infopath/2007/PartnerControls"/>
    </m6851ecb5cfb433ea9a30e6b28488796>
    <TaxCatchAll xmlns="7887adca-63be-4a4c-a89d-ee06eeaacc9b">
      <Value>41</Value>
      <Value>2</Value>
    </TaxCatchAll>
    <Function xmlns="7887adca-63be-4a4c-a89d-ee06eeaacc9b">Technical Services</Function>
    <e0ct xmlns="da1c897e-1ea1-43ee-a16d-406882d83623" xsi:nil="true"/>
    <d17c93518baf4ac4b203f202e5a30548 xmlns="7887adca-63be-4a4c-a89d-ee06eeaacc9b">
      <Terms xmlns="http://schemas.microsoft.com/office/infopath/2007/PartnerControls"/>
    </d17c93518baf4ac4b203f202e5a30548>
    <c2146536b7eb4e2eac348781be854746 xmlns="7887adca-63be-4a4c-a89d-ee06eeaacc9b">
      <Terms xmlns="http://schemas.microsoft.com/office/infopath/2007/PartnerControls">
        <TermInfo xmlns="http://schemas.microsoft.com/office/infopath/2007/PartnerControls">
          <TermName xmlns="http://schemas.microsoft.com/office/infopath/2007/PartnerControls">Internal</TermName>
          <TermId xmlns="http://schemas.microsoft.com/office/infopath/2007/PartnerControls">cdbc997d-978a-405b-ab2f-45e9b98096c7</TermId>
        </TermInfo>
      </Terms>
    </c2146536b7eb4e2eac348781be854746>
    <l597cdb6ce1649539963366a061036da xmlns="7887adca-63be-4a4c-a89d-ee06eeaacc9b">
      <Terms xmlns="http://schemas.microsoft.com/office/infopath/2007/PartnerControls"/>
    </l597cdb6ce1649539963366a061036da>
    <Document_x0020_Type xmlns="da1c897e-1ea1-43ee-a16d-406882d83623" xsi:nil="true"/>
    <ProjectType xmlns="da1c897e-1ea1-43ee-a16d-406882d83623" xsi:nil="true"/>
    <_Flow_SignoffStatus xmlns="da1c897e-1ea1-43ee-a16d-406882d83623" xsi:nil="true"/>
    <a2aade9043004f3a8d5c80452b3e1050 xmlns="7887adca-63be-4a4c-a89d-ee06eeaacc9b">
      <Terms xmlns="http://schemas.microsoft.com/office/infopath/2007/PartnerControls">
        <TermInfo xmlns="http://schemas.microsoft.com/office/infopath/2007/PartnerControls">
          <TermName xmlns="http://schemas.microsoft.com/office/infopath/2007/PartnerControls">Administrative Documents</TermName>
          <TermId xmlns="http://schemas.microsoft.com/office/infopath/2007/PartnerControls">cff44017-f2b8-4e1e-8153-143b61bb10bb</TermId>
        </TermInfo>
      </Terms>
    </a2aade9043004f3a8d5c80452b3e1050>
    <bacc14482f0f4afc837c2c95d2e7fb40 xmlns="7887adca-63be-4a4c-a89d-ee06eeaacc9b">
      <Terms xmlns="http://schemas.microsoft.com/office/infopath/2007/PartnerControls"/>
    </bacc14482f0f4afc837c2c95d2e7fb40>
    <ProjectStatus xmlns="da1c897e-1ea1-43ee-a16d-406882d83623" xsi:nil="true"/>
    <lcf76f155ced4ddcb4097134ff3c332f xmlns="da1c897e-1ea1-43ee-a16d-406882d83623">
      <Terms xmlns="http://schemas.microsoft.com/office/infopath/2007/PartnerControls"/>
    </lcf76f155ced4ddcb4097134ff3c332f>
    <gd0a0c7b77174e84b1d0346ca168fcf2 xmlns="7887adca-63be-4a4c-a89d-ee06eeaacc9b">
      <Terms xmlns="http://schemas.microsoft.com/office/infopath/2007/PartnerControls"/>
    </gd0a0c7b77174e84b1d0346ca168fcf2>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Seadrill_Master_CT" ma:contentTypeID="0x0101000DED54047FFF85479E9B6DD5C4F153B9009200B40468BA434D855EF54B1F6D999C" ma:contentTypeVersion="25" ma:contentTypeDescription="Opprett et nytt dokument." ma:contentTypeScope="" ma:versionID="9c99b811d2f096ece0e4c1111fce6807">
  <xsd:schema xmlns:xsd="http://www.w3.org/2001/XMLSchema" xmlns:xs="http://www.w3.org/2001/XMLSchema" xmlns:p="http://schemas.microsoft.com/office/2006/metadata/properties" xmlns:ns2="7887adca-63be-4a4c-a89d-ee06eeaacc9b" xmlns:ns3="0e7809f4-513b-4c84-b66e-0c13c2f076cf" xmlns:ns4="da1c897e-1ea1-43ee-a16d-406882d83623" targetNamespace="http://schemas.microsoft.com/office/2006/metadata/properties" ma:root="true" ma:fieldsID="1be7a94c5704c436dc9a2f3ceadfd6ba" ns2:_="" ns3:_="" ns4:_="">
    <xsd:import namespace="7887adca-63be-4a4c-a89d-ee06eeaacc9b"/>
    <xsd:import namespace="0e7809f4-513b-4c84-b66e-0c13c2f076cf"/>
    <xsd:import namespace="da1c897e-1ea1-43ee-a16d-406882d83623"/>
    <xsd:element name="properties">
      <xsd:complexType>
        <xsd:sequence>
          <xsd:element name="documentManagement">
            <xsd:complexType>
              <xsd:all>
                <xsd:element ref="ns2:c2146536b7eb4e2eac348781be854746" minOccurs="0"/>
                <xsd:element ref="ns2:TaxCatchAll" minOccurs="0"/>
                <xsd:element ref="ns2:TaxCatchAllLabel" minOccurs="0"/>
                <xsd:element ref="ns2:a2aade9043004f3a8d5c80452b3e1050" minOccurs="0"/>
                <xsd:element ref="ns2:d17c93518baf4ac4b203f202e5a30548" minOccurs="0"/>
                <xsd:element ref="ns2:gd0a0c7b77174e84b1d0346ca168fcf2" minOccurs="0"/>
                <xsd:element ref="ns2:l597cdb6ce1649539963366a061036da" minOccurs="0"/>
                <xsd:element ref="ns2:m6851ecb5cfb433ea9a30e6b28488796" minOccurs="0"/>
                <xsd:element ref="ns2:bacc14482f0f4afc837c2c95d2e7fb40" minOccurs="0"/>
                <xsd:element ref="ns2:Function" minOccurs="0"/>
                <xsd:element ref="ns3:SharedWithUsers" minOccurs="0"/>
                <xsd:element ref="ns3:SharedWithDetails" minOccurs="0"/>
                <xsd:element ref="ns4:Document_x0020_Type" minOccurs="0"/>
                <xsd:element ref="ns4:MediaServiceGenerationTime" minOccurs="0"/>
                <xsd:element ref="ns4:MediaServiceEventHashCode" minOccurs="0"/>
                <xsd:element ref="ns4:ProjectType" minOccurs="0"/>
                <xsd:element ref="ns4:e0ct" minOccurs="0"/>
                <xsd:element ref="ns4:ProjectStatus" minOccurs="0"/>
                <xsd:element ref="ns4:MediaServiceAutoKeyPoints" minOccurs="0"/>
                <xsd:element ref="ns4:MediaServiceKeyPoints" minOccurs="0"/>
                <xsd:element ref="ns4:_Flow_SignoffStatus" minOccurs="0"/>
                <xsd:element ref="ns4:MediaLengthInSeconds" minOccurs="0"/>
                <xsd:element ref="ns4:lcf76f155ced4ddcb4097134ff3c332f" minOccurs="0"/>
                <xsd:element ref="ns4:MediaServiceObjectDetectorVersions" minOccurs="0"/>
                <xsd:element ref="ns4:MediaServiceSearchProperties" minOccurs="0"/>
                <xsd:element ref="ns4: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887adca-63be-4a4c-a89d-ee06eeaacc9b" elementFormDefault="qualified">
    <xsd:import namespace="http://schemas.microsoft.com/office/2006/documentManagement/types"/>
    <xsd:import namespace="http://schemas.microsoft.com/office/infopath/2007/PartnerControls"/>
    <xsd:element name="c2146536b7eb4e2eac348781be854746" ma:index="8" nillable="true" ma:taxonomy="true" ma:internalName="c2146536b7eb4e2eac348781be854746" ma:taxonomyFieldName="Classification" ma:displayName="Classification" ma:indexed="true" ma:default="41;#Internal|cdbc997d-978a-405b-ab2f-45e9b98096c7" ma:fieldId="{c2146536-b7eb-4e2e-ac34-8781be854746}" ma:sspId="88f990dc-f00a-4654-88ad-d338d08b70b0" ma:termSetId="822ff480-1284-4798-9580-5b64eea6354b" ma:anchorId="00000000-0000-0000-0000-000000000000" ma:open="false" ma:isKeyword="false">
      <xsd:complexType>
        <xsd:sequence>
          <xsd:element ref="pc:Terms" minOccurs="0" maxOccurs="1"/>
        </xsd:sequence>
      </xsd:complexType>
    </xsd:element>
    <xsd:element name="TaxCatchAll" ma:index="9" nillable="true" ma:displayName="Taxonomy Catch All Column" ma:hidden="true" ma:list="{727c9aad-e4bf-4e03-b8eb-04cc1fd533dc}" ma:internalName="TaxCatchAll" ma:showField="CatchAllData" ma:web="0e7809f4-513b-4c84-b66e-0c13c2f076cf">
      <xsd:complexType>
        <xsd:complexContent>
          <xsd:extension base="dms:MultiChoiceLookup">
            <xsd:sequence>
              <xsd:element name="Value" type="dms:Lookup" maxOccurs="unbounded" minOccurs="0" nillable="true"/>
            </xsd:sequence>
          </xsd:extension>
        </xsd:complexContent>
      </xsd:complexType>
    </xsd:element>
    <xsd:element name="TaxCatchAllLabel" ma:index="10" nillable="true" ma:displayName="Taxonomy Catch All Column1" ma:hidden="true" ma:list="{727c9aad-e4bf-4e03-b8eb-04cc1fd533dc}" ma:internalName="TaxCatchAllLabel" ma:readOnly="true" ma:showField="CatchAllDataLabel" ma:web="0e7809f4-513b-4c84-b66e-0c13c2f076cf">
      <xsd:complexType>
        <xsd:complexContent>
          <xsd:extension base="dms:MultiChoiceLookup">
            <xsd:sequence>
              <xsd:element name="Value" type="dms:Lookup" maxOccurs="unbounded" minOccurs="0" nillable="true"/>
            </xsd:sequence>
          </xsd:extension>
        </xsd:complexContent>
      </xsd:complexType>
    </xsd:element>
    <xsd:element name="a2aade9043004f3a8d5c80452b3e1050" ma:index="12" nillable="true" ma:taxonomy="true" ma:internalName="a2aade9043004f3a8d5c80452b3e1050" ma:taxonomyFieldName="Document_x0020_Family" ma:displayName="Document Family" ma:indexed="true" ma:default="2;#Administrative Documents|cff44017-f2b8-4e1e-8153-143b61bb10bb" ma:fieldId="{a2aade90-4300-4f3a-8d5c-80452b3e1050}" ma:sspId="88f990dc-f00a-4654-88ad-d338d08b70b0" ma:termSetId="1efb01c4-ada8-4da0-8193-324898848004" ma:anchorId="00000000-0000-0000-0000-000000000000" ma:open="false" ma:isKeyword="false">
      <xsd:complexType>
        <xsd:sequence>
          <xsd:element ref="pc:Terms" minOccurs="0" maxOccurs="1"/>
        </xsd:sequence>
      </xsd:complexType>
    </xsd:element>
    <xsd:element name="d17c93518baf4ac4b203f202e5a30548" ma:index="14" nillable="true" ma:taxonomy="true" ma:internalName="d17c93518baf4ac4b203f202e5a30548" ma:taxonomyFieldName="Rig_x0020_Type" ma:displayName="Rig Type" ma:default="" ma:fieldId="{d17c9351-8baf-4ac4-b203-f202e5a30548}" ma:sspId="88f990dc-f00a-4654-88ad-d338d08b70b0" ma:termSetId="ed4e9b21-23e0-433e-95bc-5ba5e47c5dea" ma:anchorId="00000000-0000-0000-0000-000000000000" ma:open="false" ma:isKeyword="false">
      <xsd:complexType>
        <xsd:sequence>
          <xsd:element ref="pc:Terms" minOccurs="0" maxOccurs="1"/>
        </xsd:sequence>
      </xsd:complexType>
    </xsd:element>
    <xsd:element name="gd0a0c7b77174e84b1d0346ca168fcf2" ma:index="16" nillable="true" ma:taxonomy="true" ma:internalName="gd0a0c7b77174e84b1d0346ca168fcf2" ma:taxonomyFieldName="Rig_x0020_Units" ma:displayName="Rig Units" ma:indexed="true" ma:default="" ma:fieldId="{0d0a0c7b-7717-4e84-b1d0-346ca168fcf2}" ma:sspId="88f990dc-f00a-4654-88ad-d338d08b70b0" ma:termSetId="12920315-9bdb-432f-af97-9c1c444da06a" ma:anchorId="00000000-0000-0000-0000-000000000000" ma:open="false" ma:isKeyword="false">
      <xsd:complexType>
        <xsd:sequence>
          <xsd:element ref="pc:Terms" minOccurs="0" maxOccurs="1"/>
        </xsd:sequence>
      </xsd:complexType>
    </xsd:element>
    <xsd:element name="l597cdb6ce1649539963366a061036da" ma:index="18" nillable="true" ma:taxonomy="true" ma:internalName="l597cdb6ce1649539963366a061036da" ma:taxonomyFieldName="OU" ma:displayName="OU" ma:default="" ma:fieldId="{5597cdb6-ce16-4953-9963-366a061036da}" ma:sspId="88f990dc-f00a-4654-88ad-d338d08b70b0" ma:termSetId="c6338887-0e16-4239-a894-21a02f74b328" ma:anchorId="00000000-0000-0000-0000-000000000000" ma:open="false" ma:isKeyword="false">
      <xsd:complexType>
        <xsd:sequence>
          <xsd:element ref="pc:Terms" minOccurs="0" maxOccurs="1"/>
        </xsd:sequence>
      </xsd:complexType>
    </xsd:element>
    <xsd:element name="m6851ecb5cfb433ea9a30e6b28488796" ma:index="20" nillable="true" ma:taxonomy="true" ma:internalName="m6851ecb5cfb433ea9a30e6b28488796" ma:taxonomyFieldName="OU_x0020_Description" ma:displayName="OU Description" ma:default="" ma:fieldId="{66851ecb-5cfb-433e-a9a3-0e6b28488796}" ma:sspId="88f990dc-f00a-4654-88ad-d338d08b70b0" ma:termSetId="6e5366d7-05ea-48e2-b780-d71b134f08b0" ma:anchorId="00000000-0000-0000-0000-000000000000" ma:open="false" ma:isKeyword="false">
      <xsd:complexType>
        <xsd:sequence>
          <xsd:element ref="pc:Terms" minOccurs="0" maxOccurs="1"/>
        </xsd:sequence>
      </xsd:complexType>
    </xsd:element>
    <xsd:element name="bacc14482f0f4afc837c2c95d2e7fb40" ma:index="22" nillable="true" ma:taxonomy="true" ma:internalName="bacc14482f0f4afc837c2c95d2e7fb40" ma:taxonomyFieldName="Operating_x0020_Units" ma:displayName="Operating Units" ma:default="" ma:fieldId="{bacc1448-2f0f-4afc-837c-2c95d2e7fb40}" ma:sspId="88f990dc-f00a-4654-88ad-d338d08b70b0" ma:termSetId="c0081f79-0165-4eb4-8f39-8763694e269a" ma:anchorId="00000000-0000-0000-0000-000000000000" ma:open="false" ma:isKeyword="false">
      <xsd:complexType>
        <xsd:sequence>
          <xsd:element ref="pc:Terms" minOccurs="0" maxOccurs="1"/>
        </xsd:sequence>
      </xsd:complexType>
    </xsd:element>
    <xsd:element name="Function" ma:index="24" nillable="true" ma:displayName="Function" ma:default="Technical Services" ma:format="Dropdown" ma:internalName="Function">
      <xsd:simpleType>
        <xsd:restriction base="dms:Choice">
          <xsd:enumeration value="Not Applicable"/>
          <xsd:enumeration value="Accounting"/>
          <xsd:enumeration value="Commercial"/>
          <xsd:enumeration value="Communications"/>
          <xsd:enumeration value="Efficiency Programme"/>
          <xsd:enumeration value="Finance"/>
          <xsd:enumeration value="ISIT"/>
          <xsd:enumeration value="Operational Performance"/>
          <xsd:enumeration value="Supply Chain"/>
          <xsd:enumeration value="Technical Services"/>
        </xsd:restriction>
      </xsd:simpleType>
    </xsd:element>
  </xsd:schema>
  <xsd:schema xmlns:xsd="http://www.w3.org/2001/XMLSchema" xmlns:xs="http://www.w3.org/2001/XMLSchema" xmlns:dms="http://schemas.microsoft.com/office/2006/documentManagement/types" xmlns:pc="http://schemas.microsoft.com/office/infopath/2007/PartnerControls" targetNamespace="0e7809f4-513b-4c84-b66e-0c13c2f076cf" elementFormDefault="qualified">
    <xsd:import namespace="http://schemas.microsoft.com/office/2006/documentManagement/types"/>
    <xsd:import namespace="http://schemas.microsoft.com/office/infopath/2007/PartnerControls"/>
    <xsd:element name="SharedWithUsers" ma:index="25" nillable="true" ma:displayName="Delt med"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6" nillable="true" ma:displayName="Delingsdetaljer"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da1c897e-1ea1-43ee-a16d-406882d83623" elementFormDefault="qualified">
    <xsd:import namespace="http://schemas.microsoft.com/office/2006/documentManagement/types"/>
    <xsd:import namespace="http://schemas.microsoft.com/office/infopath/2007/PartnerControls"/>
    <xsd:element name="Document_x0020_Type" ma:index="27" nillable="true" ma:displayName="Document Type" ma:format="Dropdown" ma:internalName="Document_x0020_Type">
      <xsd:simpleType>
        <xsd:restriction base="dms:Choice">
          <xsd:enumeration value="Drawing"/>
          <xsd:enumeration value="SPS"/>
          <xsd:enumeration value="Manual"/>
          <xsd:enumeration value="Bulletin"/>
          <xsd:enumeration value="Project Plan"/>
        </xsd:restriction>
      </xsd:simpleType>
    </xsd:element>
    <xsd:element name="MediaServiceGenerationTime" ma:index="28" nillable="true" ma:displayName="MediaServiceGenerationTime" ma:hidden="true" ma:internalName="MediaServiceGenerationTime" ma:readOnly="true">
      <xsd:simpleType>
        <xsd:restriction base="dms:Text"/>
      </xsd:simpleType>
    </xsd:element>
    <xsd:element name="MediaServiceEventHashCode" ma:index="29" nillable="true" ma:displayName="MediaServiceEventHashCode" ma:hidden="true" ma:internalName="MediaServiceEventHashCode" ma:readOnly="true">
      <xsd:simpleType>
        <xsd:restriction base="dms:Text"/>
      </xsd:simpleType>
    </xsd:element>
    <xsd:element name="ProjectType" ma:index="30" nillable="true" ma:displayName="Project Type" ma:format="Dropdown" ma:internalName="ProjectType">
      <xsd:simpleType>
        <xsd:restriction base="dms:Choice">
          <xsd:enumeration value="BWM"/>
          <xsd:enumeration value="SPS"/>
          <xsd:enumeration value="Reactivation"/>
          <xsd:enumeration value="New Builds"/>
          <xsd:enumeration value="Projects &amp; Mods"/>
        </xsd:restriction>
      </xsd:simpleType>
    </xsd:element>
    <xsd:element name="e0ct" ma:index="31" nillable="true" ma:displayName="Project Status" ma:format="Dropdown" ma:internalName="e0ct">
      <xsd:simpleType>
        <xsd:restriction base="dms:Choice">
          <xsd:enumeration value="Active"/>
        </xsd:restriction>
      </xsd:simpleType>
    </xsd:element>
    <xsd:element name="ProjectStatus" ma:index="32" nillable="true" ma:displayName="Project Status" ma:format="Dropdown" ma:indexed="true" ma:internalName="ProjectStatus">
      <xsd:simpleType>
        <xsd:restriction base="dms:Choice">
          <xsd:enumeration value="Active"/>
          <xsd:enumeration value="Completed"/>
        </xsd:restriction>
      </xsd:simpleType>
    </xsd:element>
    <xsd:element name="MediaServiceAutoKeyPoints" ma:index="33" nillable="true" ma:displayName="MediaServiceAutoKeyPoints" ma:hidden="true" ma:internalName="MediaServiceAutoKeyPoints" ma:readOnly="true">
      <xsd:simpleType>
        <xsd:restriction base="dms:Note"/>
      </xsd:simpleType>
    </xsd:element>
    <xsd:element name="MediaServiceKeyPoints" ma:index="34" nillable="true" ma:displayName="KeyPoints" ma:internalName="MediaServiceKeyPoints" ma:readOnly="true">
      <xsd:simpleType>
        <xsd:restriction base="dms:Note">
          <xsd:maxLength value="255"/>
        </xsd:restriction>
      </xsd:simpleType>
    </xsd:element>
    <xsd:element name="_Flow_SignoffStatus" ma:index="35" nillable="true" ma:displayName="Godkjenningsstatus" ma:internalName="Godkjenningsstatus">
      <xsd:simpleType>
        <xsd:restriction base="dms:Text"/>
      </xsd:simpleType>
    </xsd:element>
    <xsd:element name="MediaLengthInSeconds" ma:index="36" nillable="true" ma:displayName="Length (seconds)" ma:internalName="MediaLengthInSeconds" ma:readOnly="true">
      <xsd:simpleType>
        <xsd:restriction base="dms:Unknown"/>
      </xsd:simpleType>
    </xsd:element>
    <xsd:element name="lcf76f155ced4ddcb4097134ff3c332f" ma:index="38" nillable="true" ma:taxonomy="true" ma:internalName="lcf76f155ced4ddcb4097134ff3c332f" ma:taxonomyFieldName="MediaServiceImageTags" ma:displayName="Bildemerkelapper" ma:readOnly="false" ma:fieldId="{5cf76f15-5ced-4ddc-b409-7134ff3c332f}" ma:taxonomyMulti="true" ma:sspId="88f990dc-f00a-4654-88ad-d338d08b70b0"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39"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40" nillable="true" ma:displayName="MediaServiceSearchProperties" ma:hidden="true" ma:internalName="MediaServiceSearchProperties" ma:readOnly="true">
      <xsd:simpleType>
        <xsd:restriction base="dms:Note"/>
      </xsd:simpleType>
    </xsd:element>
    <xsd:element name="MediaServiceBillingMetadata" ma:index="41" nillable="true" ma:displayName="MediaServiceBillingMetadata" ma:hidden="true" ma:internalName="MediaServiceBilling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nholds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4287BF1-7686-438E-BED4-0CC114DF5E62}">
  <ds:schemaRefs>
    <ds:schemaRef ds:uri="http://schemas.microsoft.com/office/2006/metadata/properties"/>
    <ds:schemaRef ds:uri="http://schemas.microsoft.com/office/infopath/2007/PartnerControls"/>
    <ds:schemaRef ds:uri="7887adca-63be-4a4c-a89d-ee06eeaacc9b"/>
    <ds:schemaRef ds:uri="da1c897e-1ea1-43ee-a16d-406882d83623"/>
  </ds:schemaRefs>
</ds:datastoreItem>
</file>

<file path=customXml/itemProps2.xml><?xml version="1.0" encoding="utf-8"?>
<ds:datastoreItem xmlns:ds="http://schemas.openxmlformats.org/officeDocument/2006/customXml" ds:itemID="{5AD468DE-234C-4AE0-BB01-0932B371414F}">
  <ds:schemaRefs>
    <ds:schemaRef ds:uri="http://schemas.microsoft.com/sharepoint/v3/contenttype/forms"/>
  </ds:schemaRefs>
</ds:datastoreItem>
</file>

<file path=customXml/itemProps3.xml><?xml version="1.0" encoding="utf-8"?>
<ds:datastoreItem xmlns:ds="http://schemas.openxmlformats.org/officeDocument/2006/customXml" ds:itemID="{FE2CBF7E-D4AF-4B76-85F7-8084DBB9C74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887adca-63be-4a4c-a89d-ee06eeaacc9b"/>
    <ds:schemaRef ds:uri="0e7809f4-513b-4c84-b66e-0c13c2f076cf"/>
    <ds:schemaRef ds:uri="da1c897e-1ea1-43ee-a16d-406882d8362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c1044456-b2a8-4d39-9fd0-6bbb6ed91d71}" enabled="0" method="" siteId="{c1044456-b2a8-4d39-9fd0-6bbb6ed91d71}" removed="1"/>
</clbl:labelList>
</file>

<file path=docProps/app.xml><?xml version="1.0" encoding="utf-8"?>
<Properties xmlns="http://schemas.openxmlformats.org/officeDocument/2006/extended-properties" xmlns:vt="http://schemas.openxmlformats.org/officeDocument/2006/docPropsVTypes">
  <TotalTime>364</TotalTime>
  <Words>9123</Words>
  <Application>Microsoft Office PowerPoint</Application>
  <PresentationFormat>Widescreen</PresentationFormat>
  <Paragraphs>715</Paragraphs>
  <Slides>7</Slides>
  <Notes>7</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7</vt:i4>
      </vt:variant>
    </vt:vector>
  </HeadingPairs>
  <TitlesOfParts>
    <vt:vector size="12" baseType="lpstr">
      <vt:lpstr>Aptos</vt:lpstr>
      <vt:lpstr>Aptos Display</vt:lpstr>
      <vt:lpstr>Arial</vt:lpstr>
      <vt:lpstr>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Seadrill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Riser Torque Wrench Fleet Transition Business Case</dc:title>
  <dc:subject>EXCO Business Case</dc:subject>
  <dc:creator>Eric Rachall</dc:creator>
  <cp:lastModifiedBy>Lee Arnold</cp:lastModifiedBy>
  <cp:revision>29</cp:revision>
  <dcterms:created xsi:type="dcterms:W3CDTF">2026-10-02T15:24:59Z</dcterms:created>
  <dcterms:modified xsi:type="dcterms:W3CDTF">2026-10-02T20:02:04Z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0x0101000DED54047FFF85479E9B6DD5C4F153B9009200B40468BA434D855EF54B1F6D999C</vt:lpwstr>
  </property>
  <property fmtid="{D5CDD505-2E9C-101B-9397-08002B2CF9AE}" pid="3" name="Operating_x0020_Units">
    <vt:lpwstr/>
  </property>
  <property fmtid="{D5CDD505-2E9C-101B-9397-08002B2CF9AE}" pid="4" name="OU Description">
    <vt:lpwstr/>
  </property>
  <property fmtid="{D5CDD505-2E9C-101B-9397-08002B2CF9AE}" pid="5" name="MediaServiceImageTags">
    <vt:lpwstr/>
  </property>
  <property fmtid="{D5CDD505-2E9C-101B-9397-08002B2CF9AE}" pid="6" name="Rig Type">
    <vt:lpwstr/>
  </property>
  <property fmtid="{D5CDD505-2E9C-101B-9397-08002B2CF9AE}" pid="7" name="OU">
    <vt:lpwstr/>
  </property>
  <property fmtid="{D5CDD505-2E9C-101B-9397-08002B2CF9AE}" pid="8" name="Document_x0020_Family">
    <vt:lpwstr>2;#Administrative Documents|cff44017-f2b8-4e1e-8153-143b61bb10bb</vt:lpwstr>
  </property>
  <property fmtid="{D5CDD505-2E9C-101B-9397-08002B2CF9AE}" pid="9" name="OU_x0020_Description">
    <vt:lpwstr/>
  </property>
  <property fmtid="{D5CDD505-2E9C-101B-9397-08002B2CF9AE}" pid="10" name="Document Family">
    <vt:lpwstr>2;#Administrative Documents|cff44017-f2b8-4e1e-8153-143b61bb10bb</vt:lpwstr>
  </property>
  <property fmtid="{D5CDD505-2E9C-101B-9397-08002B2CF9AE}" pid="11" name="Classification">
    <vt:lpwstr>41;#Internal|cdbc997d-978a-405b-ab2f-45e9b98096c7</vt:lpwstr>
  </property>
  <property fmtid="{D5CDD505-2E9C-101B-9397-08002B2CF9AE}" pid="12" name="Rig_x0020_Type">
    <vt:lpwstr/>
  </property>
  <property fmtid="{D5CDD505-2E9C-101B-9397-08002B2CF9AE}" pid="13" name="Rig Units">
    <vt:lpwstr/>
  </property>
  <property fmtid="{D5CDD505-2E9C-101B-9397-08002B2CF9AE}" pid="14" name="Operating Units">
    <vt:lpwstr/>
  </property>
  <property fmtid="{D5CDD505-2E9C-101B-9397-08002B2CF9AE}" pid="15" name="Rig_x0020_Units">
    <vt:lpwstr/>
  </property>
</Properties>
</file>