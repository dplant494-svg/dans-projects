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72b992e-97c5-9907-d4a1-5f0a08571b5e}">
          <p14:sldIdLst>
            <p14:sldId id="256"/>
            <p14:sldId id="257"/>
          </p14:sldIdLst>
        </p14:section>
        <p14:section name="How it works" id="{b8d505d4-a560-6d6d-095d-87a54a1e173d}">
          <p14:sldIdLst>
            <p14:sldId id="258"/>
            <p14:sldId id="259"/>
            <p14:sldId id="260"/>
          </p14:sldIdLst>
        </p14:section>
        <p14:section name="Needs" id="{53f00fc9-d7f2-e7f2-98a1-0d34d8a835eb}">
          <p14:sldIdLst>
            <p14:sldId id="261"/>
          </p14:sldIdLst>
        </p14:section>
        <p14:section name="Options" id="{642b09cc-d264-c360-63eb-902facb0c4b9}">
          <p14:sldIdLst>
            <p14:sldId id="262"/>
            <p14:sldId id="263"/>
            <p14:sldId id="264"/>
            <p14:sldId id="265"/>
          </p14:sldIdLst>
        </p14:section>
        <p14:section name="Transfer" id="{faef7e9b-ce1a-61fc-0770-455ce6480c37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the meeting: agree the host (server or Microsoft web app), the identities, and the transfer day. Thirty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step 3: SharePoint is the system of record, so nothing is lost if the scanner is off. Step 4 is the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SACRED · transfer sit-down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SACRED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How it works today, what it needs, and how we move it off a laptop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Dan Plant · Well Control Equipment · for the transfer sit-down with Adam Snyder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SACRED in one slide</a:t>
            </a:r>
            <a:endParaRPr lang="en-US" sz="3200" dirty="0"/>
          </a:p>
        </p:txBody>
      </p:sp>
      <p:sp>
        <p:nvSpPr>
          <p:cNvPr id="3" name="card What it is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 head What it is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it is</a:t>
            </a:r>
            <a:endParaRPr lang="en-US" sz="1600" dirty="0"/>
          </a:p>
        </p:txBody>
      </p:sp>
      <p:sp>
        <p:nvSpPr>
          <p:cNvPr id="5" name="card body What it is"/>
          <p:cNvSpPr txBox="1"/>
          <p:nvPr/>
        </p:nvSpPr>
        <p:spPr>
          <a:xfrm>
            <a:off x="73152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set of web pages for Well Control Equipment: reports from every rig, planning, the Help Centre, the schedule builder and the certificate tracker. Opened in a browser, no install, no login on the rig.</a:t>
            </a:r>
            <a:endParaRPr lang="en-US" sz="1300" dirty="0"/>
          </a:p>
        </p:txBody>
      </p:sp>
      <p:sp>
        <p:nvSpPr>
          <p:cNvPr id="6" name="card Who uses it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card head Who uses it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Who uses it</a:t>
            </a:r>
            <a:endParaRPr lang="en-US" sz="1600" dirty="0"/>
          </a:p>
        </p:txBody>
      </p:sp>
      <p:sp>
        <p:nvSpPr>
          <p:cNvPr id="8" name="card body Who uses it"/>
          <p:cNvSpPr txBox="1"/>
          <p:nvPr/>
        </p:nvSpPr>
        <p:spPr>
          <a:xfrm>
            <a:off x="448056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16 rigs post reports. Office, superintendents, SMEs and the VP read the dashboards. Power Automate sends the emails and Teams posts.</a:t>
            </a:r>
            <a:endParaRPr lang="en-US" sz="1300" dirty="0"/>
          </a:p>
        </p:txBody>
      </p:sp>
      <p:sp>
        <p:nvSpPr>
          <p:cNvPr id="9" name="card What is live"/>
          <p:cNvSpPr/>
          <p:nvPr/>
        </p:nvSpPr>
        <p:spPr>
          <a:xfrm>
            <a:off x="804672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card head What is live"/>
          <p:cNvSpPr txBox="1"/>
          <p:nvPr/>
        </p:nvSpPr>
        <p:spPr>
          <a:xfrm>
            <a:off x="82296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is live</a:t>
            </a:r>
            <a:endParaRPr lang="en-US" sz="1600" dirty="0"/>
          </a:p>
        </p:txBody>
      </p:sp>
      <p:sp>
        <p:nvSpPr>
          <p:cNvPr id="11" name="card body What is live"/>
          <p:cNvSpPr txBox="1"/>
          <p:nvPr/>
        </p:nvSpPr>
        <p:spPr>
          <a:xfrm>
            <a:off x="822960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Posting from the rigs since August. About 400 reports on the server. Nine automation loops. Database export for Fabric every run (36 tables).</a:t>
            </a:r>
            <a:endParaRPr lang="en-US" sz="1300" dirty="0"/>
          </a:p>
        </p:txBody>
      </p:sp>
      <p:sp>
        <p:nvSpPr>
          <p:cNvPr id="12" name="key line"/>
          <p:cNvSpPr txBox="1"/>
          <p:nvPr/>
        </p:nvSpPr>
        <p:spPr>
          <a:xfrm>
            <a:off x="548640" y="3931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Everything already runs on the Seadrill network.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only piece on a laptop is the script that turns posts into pages, the scanner. That is what we are moving.</a:t>
            </a:r>
            <a:endParaRPr lang="en-US" sz="1800" dirty="0"/>
          </a:p>
        </p:txBody>
      </p:sp>
      <p:sp>
        <p:nvSpPr>
          <p:cNvPr id="13" name="ask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Ask of this meeting: pick the host, confirm the identities Janzen has requested, book the transfer day.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loop, start to finish</a:t>
            </a:r>
            <a:endParaRPr lang="en-US" sz="3200" dirty="0"/>
          </a:p>
        </p:txBody>
      </p:sp>
      <p:sp>
        <p:nvSpPr>
          <p:cNvPr id="3" name="step 0"/>
          <p:cNvSpPr/>
          <p:nvPr/>
        </p:nvSpPr>
        <p:spPr>
          <a:xfrm>
            <a:off x="548640" y="1463040"/>
            <a:ext cx="1783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tep head 0"/>
          <p:cNvSpPr txBox="1"/>
          <p:nvPr/>
        </p:nvSpPr>
        <p:spPr>
          <a:xfrm>
            <a:off x="548640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 Rig tool</a:t>
            </a:r>
            <a:endParaRPr lang="en-US" sz="1500" dirty="0"/>
          </a:p>
        </p:txBody>
      </p:sp>
      <p:sp>
        <p:nvSpPr>
          <p:cNvPr id="5" name="step text 0"/>
          <p:cNvSpPr txBox="1"/>
          <p:nvPr/>
        </p:nvSpPr>
        <p:spPr>
          <a:xfrm>
            <a:off x="548640" y="22402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crew fills in a report in a browser tool (a single HTML file on the rig PC or tablet).</a:t>
            </a:r>
            <a:endParaRPr lang="en-US" sz="1200" dirty="0"/>
          </a:p>
        </p:txBody>
      </p:sp>
      <p:sp>
        <p:nvSpPr>
          <p:cNvPr id="6" name="step 1"/>
          <p:cNvSpPr/>
          <p:nvPr/>
        </p:nvSpPr>
        <p:spPr>
          <a:xfrm>
            <a:off x="2441448" y="1463040"/>
            <a:ext cx="1783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step head 1"/>
          <p:cNvSpPr txBox="1"/>
          <p:nvPr/>
        </p:nvSpPr>
        <p:spPr>
          <a:xfrm>
            <a:off x="2441448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 Post</a:t>
            </a:r>
            <a:endParaRPr lang="en-US" sz="1500" dirty="0"/>
          </a:p>
        </p:txBody>
      </p:sp>
      <p:sp>
        <p:nvSpPr>
          <p:cNvPr id="8" name="step text 1"/>
          <p:cNvSpPr txBox="1"/>
          <p:nvPr/>
        </p:nvSpPr>
        <p:spPr>
          <a:xfrm>
            <a:off x="2441448" y="22402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tool sends a JSON file over HTTPS to a Power Automate HTTP intake. No SharePoint rights on the rig.</a:t>
            </a:r>
            <a:endParaRPr lang="en-US" sz="1200" dirty="0"/>
          </a:p>
        </p:txBody>
      </p:sp>
      <p:sp>
        <p:nvSpPr>
          <p:cNvPr id="9" name="step 2"/>
          <p:cNvSpPr/>
          <p:nvPr/>
        </p:nvSpPr>
        <p:spPr>
          <a:xfrm>
            <a:off x="4334256" y="1463040"/>
            <a:ext cx="1783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step head 2"/>
          <p:cNvSpPr txBox="1"/>
          <p:nvPr/>
        </p:nvSpPr>
        <p:spPr>
          <a:xfrm>
            <a:off x="4334256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 SharePoint</a:t>
            </a:r>
            <a:endParaRPr lang="en-US" sz="1500" dirty="0"/>
          </a:p>
        </p:txBody>
      </p:sp>
      <p:sp>
        <p:nvSpPr>
          <p:cNvPr id="11" name="step text 2"/>
          <p:cNvSpPr txBox="1"/>
          <p:nvPr/>
        </p:nvSpPr>
        <p:spPr>
          <a:xfrm>
            <a:off x="4334256" y="22402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flow drops the file in WellControl / PostedReports. The posts are safe here whatever happens downstream.</a:t>
            </a:r>
            <a:endParaRPr lang="en-US" sz="1200" dirty="0"/>
          </a:p>
        </p:txBody>
      </p:sp>
      <p:sp>
        <p:nvSpPr>
          <p:cNvPr id="12" name="step 3"/>
          <p:cNvSpPr/>
          <p:nvPr/>
        </p:nvSpPr>
        <p:spPr>
          <a:xfrm>
            <a:off x="6227064" y="1463040"/>
            <a:ext cx="17830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3" name="step head 3"/>
          <p:cNvSpPr txBox="1"/>
          <p:nvPr/>
        </p:nvSpPr>
        <p:spPr>
          <a:xfrm>
            <a:off x="6227064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 Scanner</a:t>
            </a:r>
            <a:endParaRPr lang="en-US" sz="1500" dirty="0"/>
          </a:p>
        </p:txBody>
      </p:sp>
      <p:sp>
        <p:nvSpPr>
          <p:cNvPr id="14" name="step text 3"/>
          <p:cNvSpPr txBox="1"/>
          <p:nvPr/>
        </p:nvSpPr>
        <p:spPr>
          <a:xfrm>
            <a:off x="6227064" y="22402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PowerShell script, every 10 minutes, reads new posts, builds the data files and the database export.</a:t>
            </a:r>
            <a:endParaRPr lang="en-US" sz="1200" dirty="0"/>
          </a:p>
        </p:txBody>
      </p:sp>
      <p:sp>
        <p:nvSpPr>
          <p:cNvPr id="15" name="step 4"/>
          <p:cNvSpPr/>
          <p:nvPr/>
        </p:nvSpPr>
        <p:spPr>
          <a:xfrm>
            <a:off x="8119872" y="1463040"/>
            <a:ext cx="1783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step head 4"/>
          <p:cNvSpPr txBox="1"/>
          <p:nvPr/>
        </p:nvSpPr>
        <p:spPr>
          <a:xfrm>
            <a:off x="8119872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Server</a:t>
            </a:r>
            <a:endParaRPr lang="en-US" sz="1500" dirty="0"/>
          </a:p>
        </p:txBody>
      </p:sp>
      <p:sp>
        <p:nvSpPr>
          <p:cNvPr id="17" name="step text 4"/>
          <p:cNvSpPr txBox="1"/>
          <p:nvPr/>
        </p:nvSpPr>
        <p:spPr>
          <a:xfrm>
            <a:off x="8119872" y="22402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scanner copies pages and data to the SACRED share on sdrlazneuiis01d. IIS serves them as plain web pages.</a:t>
            </a:r>
            <a:endParaRPr lang="en-US" sz="1200" dirty="0"/>
          </a:p>
        </p:txBody>
      </p:sp>
      <p:sp>
        <p:nvSpPr>
          <p:cNvPr id="18" name="step 5"/>
          <p:cNvSpPr/>
          <p:nvPr/>
        </p:nvSpPr>
        <p:spPr>
          <a:xfrm>
            <a:off x="10012680" y="1463040"/>
            <a:ext cx="17830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step head 5"/>
          <p:cNvSpPr txBox="1"/>
          <p:nvPr/>
        </p:nvSpPr>
        <p:spPr>
          <a:xfrm>
            <a:off x="10012680" y="1463040"/>
            <a:ext cx="1783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  Notify</a:t>
            </a:r>
            <a:endParaRPr lang="en-US" sz="1500" dirty="0"/>
          </a:p>
        </p:txBody>
      </p:sp>
      <p:sp>
        <p:nvSpPr>
          <p:cNvPr id="20" name="step text 5"/>
          <p:cNvSpPr txBox="1"/>
          <p:nvPr/>
        </p:nvSpPr>
        <p:spPr>
          <a:xfrm>
            <a:off x="10012680" y="22402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Flows read the scanner's output and send the emails and Teams posts (Help Centre, AABs, plans, precharge).</a:t>
            </a:r>
            <a:endParaRPr lang="en-US" sz="1200" dirty="0"/>
          </a:p>
        </p:txBody>
      </p:sp>
      <p:sp>
        <p:nvSpPr>
          <p:cNvPr id="21" name="loop note"/>
          <p:cNvSpPr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loop note text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things are: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rig tools and the intake flow are Seadrill Power Automate; the posts live in SharePoint (M365); the pages are served by IIS on the sandbox server.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The orange step is the only one on a laptop.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server serves today</a:t>
            </a:r>
            <a:endParaRPr lang="en-US" sz="3200" dirty="0"/>
          </a:p>
        </p:txBody>
      </p:sp>
      <p:sp>
        <p:nvSpPr>
          <p:cNvPr id="3" name="dot 0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dot n 0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tem 0"/>
          <p:cNvSpPr txBox="1"/>
          <p:nvPr/>
        </p:nvSpPr>
        <p:spPr>
          <a:xfrm>
            <a:off x="1188720" y="1371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Reports dashboard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post by rig and type, CBM, BWM, daily logs, pre-deployment checklists, errors list.</a:t>
            </a:r>
            <a:endParaRPr lang="en-US" sz="1500" dirty="0"/>
          </a:p>
        </p:txBody>
      </p:sp>
      <p:sp>
        <p:nvSpPr>
          <p:cNvPr id="6" name="dot 1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dot n 1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tem 1"/>
          <p:cNvSpPr txBox="1"/>
          <p:nvPr/>
        </p:nvSpPr>
        <p:spPr>
          <a:xfrm>
            <a:off x="6858000" y="1371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Status page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Nine automation loops with their health, per rig: checks, precharge, AAB acknowledgements, help, SSCE.</a:t>
            </a:r>
            <a:endParaRPr lang="en-US" sz="1500" dirty="0"/>
          </a:p>
        </p:txBody>
      </p:sp>
      <p:sp>
        <p:nvSpPr>
          <p:cNvPr id="9" name="dot 2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dot n 2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tem 2"/>
          <p:cNvSpPr txBox="1"/>
          <p:nvPr/>
        </p:nvSpPr>
        <p:spPr>
          <a:xfrm>
            <a:off x="1188720" y="25603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Help Centre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Assistance requests and the Plans tab where each committee position verifies a maintenance plan.</a:t>
            </a:r>
            <a:endParaRPr lang="en-US" sz="1500" dirty="0"/>
          </a:p>
        </p:txBody>
      </p:sp>
      <p:sp>
        <p:nvSpPr>
          <p:cNvPr id="12" name="dot 3"/>
          <p:cNvSpPr/>
          <p:nvPr/>
        </p:nvSpPr>
        <p:spPr>
          <a:xfrm>
            <a:off x="621792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dot n 3"/>
          <p:cNvSpPr txBox="1"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tem 3"/>
          <p:cNvSpPr txBox="1"/>
          <p:nvPr/>
        </p:nvSpPr>
        <p:spPr>
          <a:xfrm>
            <a:off x="6858000" y="256032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Argo Navis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Lee's schedule builder, served from the server with its data folder refreshed by the scanner.</a:t>
            </a:r>
            <a:endParaRPr lang="en-US" sz="1500" dirty="0"/>
          </a:p>
        </p:txBody>
      </p:sp>
      <p:sp>
        <p:nvSpPr>
          <p:cNvPr id="15" name="dot 4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dot n 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tem 4"/>
          <p:cNvSpPr txBox="1"/>
          <p:nvPr/>
        </p:nvSpPr>
        <p:spPr>
          <a:xfrm>
            <a:off x="118872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CoC Tracker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Certificate status for the fleet, rebuilt from the Maximo extract every run (scanner v2.92).</a:t>
            </a:r>
            <a:endParaRPr lang="en-US" sz="1500" dirty="0"/>
          </a:p>
        </p:txBody>
      </p:sp>
      <p:sp>
        <p:nvSpPr>
          <p:cNvPr id="18" name="dot 5"/>
          <p:cNvSpPr/>
          <p:nvPr/>
        </p:nvSpPr>
        <p:spPr>
          <a:xfrm>
            <a:off x="621792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dot n 5"/>
          <p:cNvSpPr txBox="1"/>
          <p:nvPr/>
        </p:nvSpPr>
        <p:spPr>
          <a:xfrm>
            <a:off x="62179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item 5"/>
          <p:cNvSpPr txBox="1"/>
          <p:nvPr/>
        </p:nvSpPr>
        <p:spPr>
          <a:xfrm>
            <a:off x="685800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Precharge inbox and AABs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Precharge requests issued from posts; advisory bulletins with rig acknowledgements.</a:t>
            </a:r>
            <a:endParaRPr lang="en-US" sz="1500" dirty="0"/>
          </a:p>
        </p:txBody>
      </p:sp>
      <p:sp>
        <p:nvSpPr>
          <p:cNvPr id="21" name="dot 6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2" name="dot n 6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item 6"/>
          <p:cNvSpPr txBox="1"/>
          <p:nvPr/>
        </p:nvSpPr>
        <p:spPr>
          <a:xfrm>
            <a:off x="118872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Database export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36 tables, 22,600 rows every run, ready for Fabric.</a:t>
            </a:r>
            <a:endParaRPr lang="en-US" sz="1500" dirty="0"/>
          </a:p>
        </p:txBody>
      </p:sp>
      <p:sp>
        <p:nvSpPr>
          <p:cNvPr id="24" name="dot 7"/>
          <p:cNvSpPr/>
          <p:nvPr/>
        </p:nvSpPr>
        <p:spPr>
          <a:xfrm>
            <a:off x="6217920" y="5029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dot n 7"/>
          <p:cNvSpPr txBox="1"/>
          <p:nvPr/>
        </p:nvSpPr>
        <p:spPr>
          <a:xfrm>
            <a:off x="62179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item 7"/>
          <p:cNvSpPr txBox="1"/>
          <p:nvPr/>
        </p:nvSpPr>
        <p:spPr>
          <a:xfrm>
            <a:off x="6858000" y="4937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Digests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text digest per report for Copilot and Ask SACRED AI.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the scanner must leave the laptop</a:t>
            </a:r>
            <a:endParaRPr lang="en-US" sz="3200" dirty="0"/>
          </a:p>
        </p:txBody>
      </p:sp>
      <p:sp>
        <p:nvSpPr>
          <p:cNvPr id="3" name="stat1"/>
          <p:cNvSpPr txBox="1"/>
          <p:nvPr/>
        </p:nvSpPr>
        <p:spPr>
          <a:xfrm>
            <a:off x="548640" y="1371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10</a:t>
            </a:r>
            <a:endParaRPr lang="en-US" sz="7200" dirty="0"/>
          </a:p>
        </p:txBody>
      </p:sp>
      <p:sp>
        <p:nvSpPr>
          <p:cNvPr id="4" name="stat1 label"/>
          <p:cNvSpPr txBox="1"/>
          <p:nvPr/>
        </p:nvSpPr>
        <p:spPr>
          <a:xfrm>
            <a:off x="54864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minutes between runs, every day, as a scheduled task on Dan's PC</a:t>
            </a:r>
            <a:endParaRPr lang="en-US" sz="1300" dirty="0"/>
          </a:p>
        </p:txBody>
      </p:sp>
      <p:sp>
        <p:nvSpPr>
          <p:cNvPr id="5" name="stat2"/>
          <p:cNvSpPr txBox="1"/>
          <p:nvPr/>
        </p:nvSpPr>
        <p:spPr>
          <a:xfrm>
            <a:off x="4206240" y="1371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4"/>
                </a:solidFill>
              </a:rPr>
              <a:t>1</a:t>
            </a:r>
            <a:endParaRPr lang="en-US" sz="7200" dirty="0"/>
          </a:p>
        </p:txBody>
      </p:sp>
      <p:sp>
        <p:nvSpPr>
          <p:cNvPr id="6" name="stat2 label"/>
          <p:cNvSpPr txBox="1"/>
          <p:nvPr/>
        </p:nvSpPr>
        <p:spPr>
          <a:xfrm>
            <a:off x="420624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person. Laptop closed, on a plane, on leave: the dashboards stop refreshing and the notifications stop</a:t>
            </a:r>
            <a:endParaRPr lang="en-US" sz="1300" dirty="0"/>
          </a:p>
        </p:txBody>
      </p:sp>
      <p:sp>
        <p:nvSpPr>
          <p:cNvPr id="7" name="stat3"/>
          <p:cNvSpPr txBox="1"/>
          <p:nvPr/>
        </p:nvSpPr>
        <p:spPr>
          <a:xfrm>
            <a:off x="7863840" y="1371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5"/>
                </a:solidFill>
              </a:rPr>
              <a:t>0</a:t>
            </a:r>
            <a:endParaRPr lang="en-US" sz="7200" dirty="0"/>
          </a:p>
        </p:txBody>
      </p:sp>
      <p:sp>
        <p:nvSpPr>
          <p:cNvPr id="8" name="stat3 label"/>
          <p:cNvSpPr txBox="1"/>
          <p:nvPr/>
        </p:nvSpPr>
        <p:spPr>
          <a:xfrm>
            <a:off x="786384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 at risk. Every post is in SharePoint before the scanner ever sees it; the scanner can be re-run from scratch</a:t>
            </a:r>
            <a:endParaRPr lang="en-US" sz="1300" dirty="0"/>
          </a:p>
        </p:txBody>
      </p:sp>
      <p:sp>
        <p:nvSpPr>
          <p:cNvPr id="9" name="card What the scanner is"/>
          <p:cNvSpPr/>
          <p:nvPr/>
        </p:nvSpPr>
        <p:spPr>
          <a:xfrm>
            <a:off x="548640" y="3840480"/>
            <a:ext cx="110642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card head What the scanner is"/>
          <p:cNvSpPr txBox="1"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the scanner is</a:t>
            </a:r>
            <a:endParaRPr lang="en-US" sz="1600" dirty="0"/>
          </a:p>
        </p:txBody>
      </p:sp>
      <p:sp>
        <p:nvSpPr>
          <p:cNvPr id="11" name="card body What the scanner is"/>
          <p:cNvSpPr txBox="1"/>
          <p:nvPr/>
        </p:nvSpPr>
        <p:spPr>
          <a:xfrm>
            <a:off x="731520" y="438912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PowerShell script (Windows PowerShell 5.1, no other software) and one config file. It reads a SharePoint library, reads two network shares for the Maximo extracts and Lee's inputs, writes pages and data to the web folder, and writes a database export. A full run takes 8 minutes on the laptop; most runs find nothing new and finish in seconds.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SACRED needs, whichever host</a:t>
            </a:r>
            <a:endParaRPr lang="en-US" sz="3200" dirty="0"/>
          </a:p>
        </p:txBody>
      </p:sp>
      <p:sp>
        <p:nvSpPr>
          <p:cNvPr id="3" name="card An identity that is not a person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 head An identity that is not a person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 identity that is not a person</a:t>
            </a:r>
            <a:endParaRPr lang="en-US" sz="1600" dirty="0"/>
          </a:p>
        </p:txBody>
      </p:sp>
      <p:sp>
        <p:nvSpPr>
          <p:cNvPr id="5" name="card body An identity that is not a person"/>
          <p:cNvSpPr txBox="1"/>
          <p:nvPr/>
        </p:nvSpPr>
        <p:spPr>
          <a:xfrm>
            <a:off x="73152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Reads the SharePoint library and writes the web folder. Today it is Dan's login. Janzen Small (ISIT, Tech Services' app IT contact) requested two role accounts on 17 Oct: Well Control Group 1 and 2.</a:t>
            </a:r>
            <a:endParaRPr lang="en-US" sz="1300" dirty="0"/>
          </a:p>
        </p:txBody>
      </p:sp>
      <p:sp>
        <p:nvSpPr>
          <p:cNvPr id="6" name="card Somewhere to run on a schedule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card head Somewhere to run on a schedule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Somewhere to run on a schedule</a:t>
            </a:r>
            <a:endParaRPr lang="en-US" sz="1600" dirty="0"/>
          </a:p>
        </p:txBody>
      </p:sp>
      <p:sp>
        <p:nvSpPr>
          <p:cNvPr id="8" name="card body Somewhere to run on a schedule"/>
          <p:cNvSpPr txBox="1"/>
          <p:nvPr/>
        </p:nvSpPr>
        <p:spPr>
          <a:xfrm>
            <a:off x="448056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10 minutes, writing pages where the web server reads them.</a:t>
            </a:r>
            <a:endParaRPr lang="en-US" sz="1300" dirty="0"/>
          </a:p>
        </p:txBody>
      </p:sp>
      <p:sp>
        <p:nvSpPr>
          <p:cNvPr id="9" name="card HTTPS"/>
          <p:cNvSpPr/>
          <p:nvPr/>
        </p:nvSpPr>
        <p:spPr>
          <a:xfrm>
            <a:off x="804672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card head HTTPS"/>
          <p:cNvSpPr txBox="1"/>
          <p:nvPr/>
        </p:nvSpPr>
        <p:spPr>
          <a:xfrm>
            <a:off x="82296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HTTPS</a:t>
            </a:r>
            <a:endParaRPr lang="en-US" sz="1600" dirty="0"/>
          </a:p>
        </p:txBody>
      </p:sp>
      <p:sp>
        <p:nvSpPr>
          <p:cNvPr id="11" name="card body HTTPS"/>
          <p:cNvSpPr txBox="1"/>
          <p:nvPr/>
        </p:nvSpPr>
        <p:spPr>
          <a:xfrm>
            <a:off x="8229600" y="19202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Rig tablets can only install the pages for offline use over HTTPS. Also wanted for the schedule builder.</a:t>
            </a:r>
            <a:endParaRPr lang="en-US" sz="1300" dirty="0"/>
          </a:p>
        </p:txBody>
      </p:sp>
      <p:sp>
        <p:nvSpPr>
          <p:cNvPr id="12" name="card The WCEMPD mailbox"/>
          <p:cNvSpPr/>
          <p:nvPr/>
        </p:nvSpPr>
        <p:spPr>
          <a:xfrm>
            <a:off x="548640" y="3749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card head The WCEMPD mailbox"/>
          <p:cNvSpPr txBox="1"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Role accounts and mailbox</a:t>
            </a:r>
            <a:endParaRPr lang="en-US" sz="1600" dirty="0"/>
          </a:p>
        </p:txBody>
      </p:sp>
      <p:sp>
        <p:nvSpPr>
          <p:cNvPr id="14" name="card body The WCEMPD mailbox"/>
          <p:cNvSpPr txBox="1"/>
          <p:nvPr/>
        </p:nvSpPr>
        <p:spPr>
          <a:xfrm>
            <a:off x="731520" y="429768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Well Control Group accounts with Exchange, Power Automate and Teams licences, so emails and Teams posts come from the department, not Dan, and access survives rotations and shared tablets.</a:t>
            </a:r>
            <a:endParaRPr lang="en-US" sz="1300" dirty="0"/>
          </a:p>
        </p:txBody>
      </p:sp>
      <p:sp>
        <p:nvSpPr>
          <p:cNvPr id="15" name="card The inputs reachable"/>
          <p:cNvSpPr/>
          <p:nvPr/>
        </p:nvSpPr>
        <p:spPr>
          <a:xfrm>
            <a:off x="4297680" y="3749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card head The inputs reachable"/>
          <p:cNvSpPr txBox="1"/>
          <p:nvPr/>
        </p:nvSpPr>
        <p:spPr>
          <a:xfrm>
            <a:off x="448056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inputs reachable</a:t>
            </a:r>
            <a:endParaRPr lang="en-US" sz="1600" dirty="0"/>
          </a:p>
        </p:txBody>
      </p:sp>
      <p:sp>
        <p:nvSpPr>
          <p:cNvPr id="17" name="card body The inputs reachable"/>
          <p:cNvSpPr txBox="1"/>
          <p:nvPr/>
        </p:nvSpPr>
        <p:spPr>
          <a:xfrm>
            <a:off x="4480560" y="429768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Manpreet's Maximo extract and Lee's job plans: today on \\SEADRILL23339. Wherever the scanner runs, it must read them.</a:t>
            </a:r>
            <a:endParaRPr lang="en-US" sz="1300" dirty="0"/>
          </a:p>
        </p:txBody>
      </p:sp>
      <p:sp>
        <p:nvSpPr>
          <p:cNvPr id="18" name="card A drop folder for Lee"/>
          <p:cNvSpPr/>
          <p:nvPr/>
        </p:nvSpPr>
        <p:spPr>
          <a:xfrm>
            <a:off x="8046720" y="3749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card head A drop folder for Lee"/>
          <p:cNvSpPr txBox="1"/>
          <p:nvPr/>
        </p:nvSpPr>
        <p:spPr>
          <a:xfrm>
            <a:off x="822960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Dan deploys every update</a:t>
            </a:r>
            <a:endParaRPr lang="en-US" sz="1600" dirty="0"/>
          </a:p>
        </p:txBody>
      </p:sp>
      <p:sp>
        <p:nvSpPr>
          <p:cNvPr id="20" name="card body A drop folder for Lee"/>
          <p:cNvSpPr txBox="1"/>
          <p:nvPr/>
        </p:nvSpPr>
        <p:spPr>
          <a:xfrm>
            <a:off x="8229600" y="429768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Dan drops every update himself (scanner, Argo Navis, precharge, pages): Lee sends his Argo Navis builds to Dan. Dan's write access to the deploy folders means no ticket per update.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Option A: the sandbox server, as planned</a:t>
            </a:r>
            <a:endParaRPr lang="en-US" sz="3200" dirty="0"/>
          </a:p>
        </p:txBody>
      </p:sp>
      <p:sp>
        <p:nvSpPr>
          <p:cNvPr id="3" name="card What it takes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 head What it takes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it takes</a:t>
            </a:r>
            <a:endParaRPr lang="en-US" sz="1600" dirty="0"/>
          </a:p>
        </p:txBody>
      </p:sp>
      <p:sp>
        <p:nvSpPr>
          <p:cNvPr id="5" name="card body What it takes"/>
          <p:cNvSpPr txBox="1"/>
          <p:nvPr/>
        </p:nvSpPr>
        <p:spPr>
          <a:xfrm>
            <a:off x="731520" y="192024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Service account on sdrlazneuiis01d running the scheduled task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SharePoint read for that account: OneDrive sync does not run under a service account, so a UNC path to the library or a read through the SharePoint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 to the SACRED share on the same box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HTTPS binding on the IIS site with a corporate certificate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access to \\SEADRILL23339 from the server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 access for Dan to the deploy folders</a:t>
            </a:r>
            <a:endParaRPr lang="en-US" sz="1400" dirty="0"/>
          </a:p>
        </p:txBody>
      </p:sp>
      <p:sp>
        <p:nvSpPr>
          <p:cNvPr id="6" name="card For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7" name="card head For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</a:t>
            </a:r>
            <a:endParaRPr lang="en-US" sz="1600" dirty="0"/>
          </a:p>
        </p:txBody>
      </p:sp>
      <p:sp>
        <p:nvSpPr>
          <p:cNvPr id="8" name="card body For"/>
          <p:cNvSpPr txBox="1"/>
          <p:nvPr/>
        </p:nvSpPr>
        <p:spPr>
          <a:xfrm>
            <a:off x="6400800" y="19202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Smallest change: the pages are already served here. The scanner config changes one path. The rigs' bookmarks stay. Proven in two weeks of running against this server.</a:t>
            </a:r>
            <a:endParaRPr lang="en-US" sz="1400" dirty="0"/>
          </a:p>
        </p:txBody>
      </p:sp>
      <p:sp>
        <p:nvSpPr>
          <p:cNvPr id="9" name="card Against"/>
          <p:cNvSpPr/>
          <p:nvPr/>
        </p:nvSpPr>
        <p:spPr>
          <a:xfrm>
            <a:off x="6217920" y="37490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0" name="card head Against"/>
          <p:cNvSpPr txBox="1"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Against</a:t>
            </a:r>
            <a:endParaRPr lang="en-US" sz="1600" dirty="0"/>
          </a:p>
        </p:txBody>
      </p:sp>
      <p:sp>
        <p:nvSpPr>
          <p:cNvPr id="11" name="card body Against"/>
          <p:cNvSpPr txBox="1"/>
          <p:nvPr/>
        </p:nvSpPr>
        <p:spPr>
          <a:xfrm>
            <a:off x="6400800" y="42976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sandbox server, not production: ISIT still has to name the production home and plan a second cutover. HTTPS, certificate and service account are three separate tickets.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Option B: a Microsoft web app, as Adam raised</a:t>
            </a:r>
            <a:endParaRPr lang="en-US" sz="3200" dirty="0"/>
          </a:p>
        </p:txBody>
      </p:sp>
      <p:sp>
        <p:nvSpPr>
          <p:cNvPr id="3" name="card What it would look like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 head What it would look like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it would look like</a:t>
            </a:r>
            <a:endParaRPr lang="en-US" sz="1600" dirty="0"/>
          </a:p>
        </p:txBody>
      </p:sp>
      <p:sp>
        <p:nvSpPr>
          <p:cNvPr id="5" name="card body What it would look like"/>
          <p:cNvSpPr txBox="1"/>
          <p:nvPr/>
        </p:nvSpPr>
        <p:spPr>
          <a:xfrm>
            <a:off x="731520" y="192024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Azure App Service hosts the pages as they are: they are static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scanner runs as a scheduled WebJob on the same app and writes into the app's own web 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SharePoint read through the Microsoft Graph API with an app registration (the change we need for a non-person identity anyway)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HTTPS is built in: the tablet request falls away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Azure cannot see \\SEADRILL23339, so the Maximo extract and Lee's inputs go into a SharePoint library and the scanner reads them there, the same way it reads the posts</a:t>
            </a:r>
            <a:endParaRPr lang="en-US" sz="1400" dirty="0"/>
          </a:p>
        </p:txBody>
      </p:sp>
      <p:sp>
        <p:nvSpPr>
          <p:cNvPr id="6" name="card For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7" name="card head For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</a:t>
            </a:r>
            <a:endParaRPr lang="en-US" sz="1600" dirty="0"/>
          </a:p>
        </p:txBody>
      </p:sp>
      <p:sp>
        <p:nvSpPr>
          <p:cNvPr id="8" name="card body For"/>
          <p:cNvSpPr txBox="1"/>
          <p:nvPr/>
        </p:nvSpPr>
        <p:spPr>
          <a:xfrm>
            <a:off x="6400800" y="19202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Production from day one, ISIT's standard platform, HTTPS and identity handled the Microsoft way. Nothing changes for the rig tools: they post to the same flow.</a:t>
            </a:r>
            <a:endParaRPr lang="en-US" sz="1400" dirty="0"/>
          </a:p>
        </p:txBody>
      </p:sp>
      <p:sp>
        <p:nvSpPr>
          <p:cNvPr id="9" name="card To settle"/>
          <p:cNvSpPr/>
          <p:nvPr/>
        </p:nvSpPr>
        <p:spPr>
          <a:xfrm>
            <a:off x="6217920" y="37490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card head To settle"/>
          <p:cNvSpPr txBox="1"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 settle</a:t>
            </a:r>
            <a:endParaRPr lang="en-US" sz="1600" dirty="0"/>
          </a:p>
        </p:txBody>
      </p:sp>
      <p:sp>
        <p:nvSpPr>
          <p:cNvPr id="11" name="card body To settle"/>
          <p:cNvSpPr txBox="1"/>
          <p:nvPr/>
        </p:nvSpPr>
        <p:spPr>
          <a:xfrm>
            <a:off x="6400800" y="42976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Internet-facing with a Seadrill sign-in, or private network only? Rigs open SACRED today with no login. Where does the CoC Tracker file the rigs open go? Who creates the app registration and when?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Side by side</a:t>
            </a:r>
            <a:endParaRPr lang="en-US" sz="3200" dirty="0"/>
          </a:p>
        </p:txBody>
      </p:sp>
      <p:graphicFrame>
        <p:nvGraphicFramePr>
          <p:cNvPr id="10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A: sandbox server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B: Microsoft web app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Pages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Already there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Copied as they are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Scanner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Scheduled task, service account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Scheduled WebJob on the app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Reads SharePoint by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UNC path or SharePoint API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Graph API, app registration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HTTPS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New binding and certificate (ticket)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Built in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Maximo extract and Lee's inputs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Read from \\SEADRILL23339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Moved into a SharePoint library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Rig tools and intake flow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Rig bookmarks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New address once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Sign-in for readers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None, as today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To be decided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Production status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Sandbox, second cutover later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Production from the start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Work on the scanner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One path in config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Config plus the Graph read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changes for a rig under either option</a:t>
            </a:r>
            <a:endParaRPr lang="en-US" sz="3200" dirty="0"/>
          </a:p>
        </p:txBody>
      </p:sp>
      <p:sp>
        <p:nvSpPr>
          <p:cNvPr id="3" name="nothing"/>
          <p:cNvSpPr txBox="1"/>
          <p:nvPr/>
        </p:nvSpPr>
        <p:spPr>
          <a:xfrm>
            <a:off x="548640" y="1371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Nothing</a:t>
            </a:r>
            <a:endParaRPr lang="en-US" sz="6400" dirty="0"/>
          </a:p>
        </p:txBody>
      </p:sp>
      <p:sp>
        <p:nvSpPr>
          <p:cNvPr id="4" name="nothing text"/>
          <p:cNvSpPr txBox="1"/>
          <p:nvPr/>
        </p:nvSpPr>
        <p:spPr>
          <a:xfrm>
            <a:off x="548640" y="26517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the posting tools. SSORT, WCGRRT and the checklist tools post to the same Power Automate address with the same key. No rebuild, no redeploy to 16 rigs.</a:t>
            </a:r>
            <a:endParaRPr lang="en-US" sz="1600" dirty="0"/>
          </a:p>
        </p:txBody>
      </p:sp>
      <p:sp>
        <p:nvSpPr>
          <p:cNvPr id="5" name="card Bookmarks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card head Bookmarks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Bookmarks</a:t>
            </a:r>
            <a:endParaRPr lang="en-US" sz="1600" dirty="0"/>
          </a:p>
        </p:txBody>
      </p:sp>
      <p:sp>
        <p:nvSpPr>
          <p:cNvPr id="7" name="card body Bookmarks"/>
          <p:cNvSpPr txBox="1"/>
          <p:nvPr/>
        </p:nvSpPr>
        <p:spPr>
          <a:xfrm>
            <a:off x="6400800" y="1920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Server: unchanged. Web app: one new address, sent once with the class on 20 October.</a:t>
            </a:r>
            <a:endParaRPr lang="en-US" sz="1400" dirty="0"/>
          </a:p>
        </p:txBody>
      </p:sp>
      <p:sp>
        <p:nvSpPr>
          <p:cNvPr id="8" name="card Sign-in"/>
          <p:cNvSpPr/>
          <p:nvPr/>
        </p:nvSpPr>
        <p:spPr>
          <a:xfrm>
            <a:off x="6217920" y="292608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card head Sign-in"/>
          <p:cNvSpPr txBox="1"/>
          <p:nvPr/>
        </p:nvSpPr>
        <p:spPr>
          <a:xfrm>
            <a:off x="640080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Sign-in</a:t>
            </a:r>
            <a:endParaRPr lang="en-US" sz="1600" dirty="0"/>
          </a:p>
        </p:txBody>
      </p:sp>
      <p:sp>
        <p:nvSpPr>
          <p:cNvPr id="10" name="card body Sign-in"/>
          <p:cNvSpPr txBox="1"/>
          <p:nvPr/>
        </p:nvSpPr>
        <p:spPr>
          <a:xfrm>
            <a:off x="6400800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Server: none, as today. Web app: depends on the decision above; a rig test is needed before cutover.</a:t>
            </a:r>
            <a:endParaRPr lang="en-US" sz="1400" dirty="0"/>
          </a:p>
        </p:txBody>
      </p:sp>
      <p:sp>
        <p:nvSpPr>
          <p:cNvPr id="11" name="card Offline tablets"/>
          <p:cNvSpPr/>
          <p:nvPr/>
        </p:nvSpPr>
        <p:spPr>
          <a:xfrm>
            <a:off x="6217920" y="448056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card head Offline tablets"/>
          <p:cNvSpPr txBox="1"/>
          <p:nvPr/>
        </p:nvSpPr>
        <p:spPr>
          <a:xfrm>
            <a:off x="640080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Offline tablets</a:t>
            </a:r>
            <a:endParaRPr lang="en-US" sz="1600" dirty="0"/>
          </a:p>
        </p:txBody>
      </p:sp>
      <p:sp>
        <p:nvSpPr>
          <p:cNvPr id="13" name="card body Offline tablets"/>
          <p:cNvSpPr txBox="1"/>
          <p:nvPr/>
        </p:nvSpPr>
        <p:spPr>
          <a:xfrm>
            <a:off x="6400800" y="5029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give HTTPS in the end; the web app gives it on day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Risk and fallback</a:t>
            </a:r>
            <a:endParaRPr lang="en-US" sz="3200" dirty="0"/>
          </a:p>
        </p:txBody>
      </p:sp>
      <p:sp>
        <p:nvSpPr>
          <p:cNvPr id="3" name="card The posts are never at risk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ard head The posts are never at risk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posts are never at risk</a:t>
            </a:r>
            <a:endParaRPr lang="en-US" sz="1600" dirty="0"/>
          </a:p>
        </p:txBody>
      </p:sp>
      <p:sp>
        <p:nvSpPr>
          <p:cNvPr id="5" name="card body The posts are never at risk"/>
          <p:cNvSpPr txBox="1"/>
          <p:nvPr/>
        </p:nvSpPr>
        <p:spPr>
          <a:xfrm>
            <a:off x="731520" y="19202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land in SharePoint before the scanner runs. A scanner that is off for a day catches up on the next run; it has done so before.</a:t>
            </a:r>
            <a:endParaRPr lang="en-US" sz="1400" dirty="0"/>
          </a:p>
        </p:txBody>
      </p:sp>
      <p:sp>
        <p:nvSpPr>
          <p:cNvPr id="6" name="card The laptop stays on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card head The laptop stays on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laptop stays on</a:t>
            </a:r>
            <a:endParaRPr lang="en-US" sz="1600" dirty="0"/>
          </a:p>
        </p:txBody>
      </p:sp>
      <p:sp>
        <p:nvSpPr>
          <p:cNvPr id="8" name="card body The laptop stays on"/>
          <p:cNvSpPr txBox="1"/>
          <p:nvPr/>
        </p:nvSpPr>
        <p:spPr>
          <a:xfrm>
            <a:off x="6400800" y="19202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Dan's scheduled task keeps running until the new host has produced one clean full run and the Status page agrees.</a:t>
            </a:r>
            <a:endParaRPr lang="en-US" sz="1400" dirty="0"/>
          </a:p>
        </p:txBody>
      </p:sp>
      <p:sp>
        <p:nvSpPr>
          <p:cNvPr id="9" name="card The scanner is one file"/>
          <p:cNvSpPr/>
          <p:nvPr/>
        </p:nvSpPr>
        <p:spPr>
          <a:xfrm>
            <a:off x="54864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card head The scanner is one file"/>
          <p:cNvSpPr txBox="1"/>
          <p:nvPr/>
        </p:nvSpPr>
        <p:spPr>
          <a:xfrm>
            <a:off x="73152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scanner is one file</a:t>
            </a:r>
            <a:endParaRPr lang="en-US" sz="1600" dirty="0"/>
          </a:p>
        </p:txBody>
      </p:sp>
      <p:sp>
        <p:nvSpPr>
          <p:cNvPr id="11" name="card body The scanner is one file"/>
          <p:cNvSpPr txBox="1"/>
          <p:nvPr/>
        </p:nvSpPr>
        <p:spPr>
          <a:xfrm>
            <a:off x="731520" y="4297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script on either host; the config names the paths. Rolling back is turning the laptop task back on.</a:t>
            </a:r>
            <a:endParaRPr lang="en-US" sz="1400" dirty="0"/>
          </a:p>
        </p:txBody>
      </p:sp>
      <p:sp>
        <p:nvSpPr>
          <p:cNvPr id="12" name="card Two things are secret"/>
          <p:cNvSpPr/>
          <p:nvPr/>
        </p:nvSpPr>
        <p:spPr>
          <a:xfrm>
            <a:off x="621792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card head Two things are secret"/>
          <p:cNvSpPr txBox="1"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Two things are secret</a:t>
            </a:r>
            <a:endParaRPr lang="en-US" sz="1600" dirty="0"/>
          </a:p>
        </p:txBody>
      </p:sp>
      <p:sp>
        <p:nvSpPr>
          <p:cNvPr id="14" name="card body Two things are secret"/>
          <p:cNvSpPr txBox="1"/>
          <p:nvPr/>
        </p:nvSpPr>
        <p:spPr>
          <a:xfrm>
            <a:off x="6400800" y="4297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intake key in the rig tools and the flow URL. Neither moves; neither is in the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Transfer day, in order</a:t>
            </a:r>
            <a:endParaRPr lang="en-US" sz="3200" dirty="0"/>
          </a:p>
        </p:txBody>
      </p:sp>
      <p:sp>
        <p:nvSpPr>
          <p:cNvPr id="3" name="when 0"/>
          <p:cNvSpPr/>
          <p:nvPr/>
        </p:nvSpPr>
        <p:spPr>
          <a:xfrm>
            <a:off x="548640" y="137160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when text 0"/>
          <p:cNvSpPr txBox="1"/>
          <p:nvPr/>
        </p:nvSpPr>
        <p:spPr>
          <a:xfrm>
            <a:off x="548640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Before</a:t>
            </a:r>
            <a:endParaRPr lang="en-US" sz="1400" dirty="0"/>
          </a:p>
        </p:txBody>
      </p:sp>
      <p:sp>
        <p:nvSpPr>
          <p:cNvPr id="5" name="what 0"/>
          <p:cNvSpPr txBox="1"/>
          <p:nvPr/>
        </p:nvSpPr>
        <p:spPr>
          <a:xfrm>
            <a:off x="2194560" y="13716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Identity created and tested: can it read PostedReports and write the web folder? Well Control Group role accounts requested by Janzen (17 Oct).</a:t>
            </a:r>
            <a:endParaRPr lang="en-US" sz="1400" dirty="0"/>
          </a:p>
        </p:txBody>
      </p:sp>
      <p:sp>
        <p:nvSpPr>
          <p:cNvPr id="6" name="when 1"/>
          <p:cNvSpPr/>
          <p:nvPr/>
        </p:nvSpPr>
        <p:spPr>
          <a:xfrm>
            <a:off x="548640" y="214884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when text 1"/>
          <p:cNvSpPr txBox="1"/>
          <p:nvPr/>
        </p:nvSpPr>
        <p:spPr>
          <a:xfrm>
            <a:off x="548640" y="2148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Hour 1</a:t>
            </a:r>
            <a:endParaRPr lang="en-US" sz="1400" dirty="0"/>
          </a:p>
        </p:txBody>
      </p:sp>
      <p:sp>
        <p:nvSpPr>
          <p:cNvPr id="8" name="what 1"/>
          <p:cNvSpPr txBox="1"/>
          <p:nvPr/>
        </p:nvSpPr>
        <p:spPr>
          <a:xfrm>
            <a:off x="2194560" y="214884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 the scanner and config to the host. Point config at the host's paths. Run once by hand with the laptop task paused.</a:t>
            </a:r>
            <a:endParaRPr lang="en-US" sz="1400" dirty="0"/>
          </a:p>
        </p:txBody>
      </p:sp>
      <p:sp>
        <p:nvSpPr>
          <p:cNvPr id="9" name="when 2"/>
          <p:cNvSpPr/>
          <p:nvPr/>
        </p:nvSpPr>
        <p:spPr>
          <a:xfrm>
            <a:off x="548640" y="292608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when text 2"/>
          <p:cNvSpPr txBox="1"/>
          <p:nvPr/>
        </p:nvSpPr>
        <p:spPr>
          <a:xfrm>
            <a:off x="548640" y="29260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Hour 2</a:t>
            </a:r>
            <a:endParaRPr lang="en-US" sz="1400" dirty="0"/>
          </a:p>
        </p:txBody>
      </p:sp>
      <p:sp>
        <p:nvSpPr>
          <p:cNvPr id="11" name="what 2"/>
          <p:cNvSpPr txBox="1"/>
          <p:nvPr/>
        </p:nvSpPr>
        <p:spPr>
          <a:xfrm>
            <a:off x="2194560" y="292608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the host's output with the laptop's: same report count, same Status page. Fix paths, run again.</a:t>
            </a:r>
            <a:endParaRPr lang="en-US" sz="1400" dirty="0"/>
          </a:p>
        </p:txBody>
      </p:sp>
      <p:sp>
        <p:nvSpPr>
          <p:cNvPr id="12" name="when 3"/>
          <p:cNvSpPr/>
          <p:nvPr/>
        </p:nvSpPr>
        <p:spPr>
          <a:xfrm>
            <a:off x="548640" y="370332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when text 3"/>
          <p:cNvSpPr txBox="1"/>
          <p:nvPr/>
        </p:nvSpPr>
        <p:spPr>
          <a:xfrm>
            <a:off x="548640" y="3703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Hour 3</a:t>
            </a:r>
            <a:endParaRPr lang="en-US" sz="1400" dirty="0"/>
          </a:p>
        </p:txBody>
      </p:sp>
      <p:sp>
        <p:nvSpPr>
          <p:cNvPr id="14" name="what 3"/>
          <p:cNvSpPr txBox="1"/>
          <p:nvPr/>
        </p:nvSpPr>
        <p:spPr>
          <a:xfrm>
            <a:off x="2194560" y="370332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Schedule the task or WebJob. Re-enable nothing on the laptop. Watch three runs.</a:t>
            </a:r>
            <a:endParaRPr lang="en-US" sz="1400" dirty="0"/>
          </a:p>
        </p:txBody>
      </p:sp>
      <p:sp>
        <p:nvSpPr>
          <p:cNvPr id="15" name="when 4"/>
          <p:cNvSpPr/>
          <p:nvPr/>
        </p:nvSpPr>
        <p:spPr>
          <a:xfrm>
            <a:off x="548640" y="44805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when text 4"/>
          <p:cNvSpPr txBox="1"/>
          <p:nvPr/>
        </p:nvSpPr>
        <p:spPr>
          <a:xfrm>
            <a:off x="548640" y="4480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day</a:t>
            </a:r>
            <a:endParaRPr lang="en-US" sz="1400" dirty="0"/>
          </a:p>
        </p:txBody>
      </p:sp>
      <p:sp>
        <p:nvSpPr>
          <p:cNvPr id="17" name="what 4"/>
          <p:cNvSpPr txBox="1"/>
          <p:nvPr/>
        </p:nvSpPr>
        <p:spPr>
          <a:xfrm>
            <a:off x="2194560" y="448056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Flows re-pointed if the address changed. Rigs told the address if it changed. Laptop task disabled, script kept.</a:t>
            </a:r>
            <a:endParaRPr lang="en-US" sz="1400" dirty="0"/>
          </a:p>
        </p:txBody>
      </p:sp>
      <p:sp>
        <p:nvSpPr>
          <p:cNvPr id="18" name="when 5"/>
          <p:cNvSpPr/>
          <p:nvPr/>
        </p:nvSpPr>
        <p:spPr>
          <a:xfrm>
            <a:off x="548640" y="525780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when text 5"/>
          <p:cNvSpPr txBox="1"/>
          <p:nvPr/>
        </p:nvSpPr>
        <p:spPr>
          <a:xfrm>
            <a:off x="548640" y="5257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Week after</a:t>
            </a:r>
            <a:endParaRPr lang="en-US" sz="1400" dirty="0"/>
          </a:p>
        </p:txBody>
      </p:sp>
      <p:sp>
        <p:nvSpPr>
          <p:cNvPr id="20" name="what 5"/>
          <p:cNvSpPr txBox="1"/>
          <p:nvPr/>
        </p:nvSpPr>
        <p:spPr>
          <a:xfrm>
            <a:off x="2194560" y="52578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Dan's deploy access confirmed, the extract library, HTTPS check from a rig tablet, the role accounts swapped into the flows.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Decisions wanted today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1  Server or web app, and if web app: internet with sign-in, or private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2  The identity: Janzen's two role accounts (requested 17 Oct). Confirm one runs the scanner, or an app registration as well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3  The role accounts' Exchange, Power Automate and Teams licences, and who owns them</a:t>
            </a:r>
            <a:endParaRPr lang="en-US" sz="20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accent3"/>
                </a:solidFill>
              </a:rPr>
              <a:t>4  The transfer day and the one-hour window with Adam in the room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5  Later, not today: eDocs connector API key (asked of Digital Desk, 17 Oct; Dan's account until the role accounts land), Fabric capacity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CRED Transfer">
  <a:themeElements>
    <a:clrScheme name="SACRED Transfer">
      <a:dk1>
        <a:srgbClr val="14213D"/>
      </a:dk1>
      <a:lt1>
        <a:srgbClr val="FFFFFF"/>
      </a:lt1>
      <a:dk2>
        <a:srgbClr val="3A4A63"/>
      </a:dk2>
      <a:lt2>
        <a:srgbClr val="EEF2F7"/>
      </a:lt2>
      <a:accent1>
        <a:srgbClr val="0E7C86"/>
      </a:accent1>
      <a:accent2>
        <a:srgbClr val="F4A259"/>
      </a:accent2>
      <a:accent3>
        <a:srgbClr val="8AB6D6"/>
      </a:accent3>
      <a:accent4>
        <a:srgbClr val="C8102E"/>
      </a:accent4>
      <a:accent5>
        <a:srgbClr val="5B8C5A"/>
      </a:accent5>
      <a:accent6>
        <a:srgbClr val="7A6C9F"/>
      </a:accent6>
      <a:hlink>
        <a:srgbClr val="0E7C86"/>
      </a:hlink>
      <a:folHlink>
        <a:srgbClr val="7A6C9F"/>
      </a:folHlink>
    </a:clrScheme>
    <a:fontScheme name="SACRED Transf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SACRED transfer sit-down</dc:title>
  <dc:subject>PptxGenJS Presentation</dc:subject>
  <dc:creator>Dan Plant</dc:creator>
  <cp:lastModifiedBy>Dan Plant</cp:lastModifiedBy>
  <cp:revision>1</cp:revision>
  <dcterms:created xsi:type="dcterms:W3CDTF">2026-10-14T15:30:39Z</dcterms:created>
  <dcterms:modified xsi:type="dcterms:W3CDTF">2026-10-14T15:30:39Z</dcterms:modified>
</cp:coreProperties>
</file>