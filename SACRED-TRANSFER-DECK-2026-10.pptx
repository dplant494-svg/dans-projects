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20"/>
    <p:sldId id="270" r:id="rId21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972b992e-97c5-9907-d4a1-5f0a08571b5e}">
          <p14:sldIdLst>
            <p14:sldId id="256"/>
            <p14:sldId id="257"/>
          </p14:sldIdLst>
        </p14:section>
        <p14:section name="How it works" id="{b8d505d4-a560-6d6d-095d-87a54a1e173d}">
          <p14:sldIdLst>
            <p14:sldId id="258"/>
            <p14:sldId id="259"/>
            <p14:sldId id="260"/>
          </p14:sldIdLst>
        </p14:section>
        <p14:section name="Needs" id="{53f00fc9-d7f2-e7f2-98a1-0d34d8a835eb}">
          <p14:sldIdLst>
            <p14:sldId id="261"/>
          </p14:sldIdLst>
        </p14:section>
        <p14:section name="Options" id="{642b09cc-d264-c360-63eb-902facb0c4b9}">
          <p14:sldIdLst>
            <p14:sldId id="262"/>
            <p14:sldId id="263"/>
            <p14:sldId id="264"/>
            <p14:sldId id="265"/>
          </p14:sldIdLst>
        </p14:section>
        <p14:section name="Transfer" id="{faef7e9b-ce1a-61fc-0770-455ce6480c37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4.xml"/><Relationship Id="rId2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Purpose of the meeting: agree the host (server or Microsoft web app), the identities, and the transfer day. Thirty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Stress step 3: SharePoint is the system of record, so nothing is lost if the scanner is off. Step 4 is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on one page. The point for Adam: every post lands in SharePoint first, so nothing is at risk; the only piece on a laptop is the scanner (orange). The data now goes to Power BI Pro, not Fabric: Fabric is not an approved platform (Janzen, 17 Oct), and Power BI Pro comes with E5 at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each piece physically runs. Orange is the single point of failure: Dan's laptop, running as Dan's login. The transfer moves only that box to the server (or the web app) under a Well Control Group role account. Everything else, rigs, SharePoint, flows, the share, already runs on Seadrill platforms. Power BI reads the 36-table export from SharePoint.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SACRED · transfer sit-down ·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SACRED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How it works today, what it needs, and how we move it off a laptop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Dan Plant · Well Control Equipment · for the transfer sit-down with Adam Snyder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SACRED in one slide</a:t>
            </a:r>
            <a:endParaRPr lang="en-US" sz="3200" dirty="0"/>
          </a:p>
        </p:txBody>
      </p:sp>
      <p:sp>
        <p:nvSpPr>
          <p:cNvPr id="3" name="card What it is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 head What it is"/>
          <p:cNvSpPr txBox="1"/>
          <p:nvPr/>
        </p:nvSpPr>
        <p:spPr>
          <a:xfrm>
            <a:off x="73152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it is</a:t>
            </a:r>
            <a:endParaRPr lang="en-US" sz="1600" dirty="0"/>
          </a:p>
        </p:txBody>
      </p:sp>
      <p:sp>
        <p:nvSpPr>
          <p:cNvPr id="5" name="card body What it is"/>
          <p:cNvSpPr txBox="1"/>
          <p:nvPr/>
        </p:nvSpPr>
        <p:spPr>
          <a:xfrm>
            <a:off x="73152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One set of web pages for Well Control Equipment: reports from every rig, planning, the Help Centre, the schedule builder and the certificate tracker. Opened in a browser, no install, no login on the rig.</a:t>
            </a:r>
            <a:endParaRPr lang="en-US" sz="1300" dirty="0"/>
          </a:p>
        </p:txBody>
      </p:sp>
      <p:sp>
        <p:nvSpPr>
          <p:cNvPr id="6" name="card Who uses it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card head Who uses it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Who uses it</a:t>
            </a:r>
            <a:endParaRPr lang="en-US" sz="1600" dirty="0"/>
          </a:p>
        </p:txBody>
      </p:sp>
      <p:sp>
        <p:nvSpPr>
          <p:cNvPr id="8" name="card body Who uses it"/>
          <p:cNvSpPr txBox="1"/>
          <p:nvPr/>
        </p:nvSpPr>
        <p:spPr>
          <a:xfrm>
            <a:off x="448056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16 rigs post reports. Office, superintendents, SMEs and the VP read the dashboards. Power Automate sends the emails and Teams posts.</a:t>
            </a:r>
            <a:endParaRPr lang="en-US" sz="1300" dirty="0"/>
          </a:p>
        </p:txBody>
      </p:sp>
      <p:sp>
        <p:nvSpPr>
          <p:cNvPr id="9" name="card What is live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card head What is live"/>
          <p:cNvSpPr txBox="1"/>
          <p:nvPr/>
        </p:nvSpPr>
        <p:spPr>
          <a:xfrm>
            <a:off x="822960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is live</a:t>
            </a:r>
            <a:endParaRPr lang="en-US" sz="1600" dirty="0"/>
          </a:p>
        </p:txBody>
      </p:sp>
      <p:sp>
        <p:nvSpPr>
          <p:cNvPr id="11" name="card body What is live"/>
          <p:cNvSpPr txBox="1"/>
          <p:nvPr/>
        </p:nvSpPr>
        <p:spPr>
          <a:xfrm>
            <a:off x="822960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Posting from the rigs since August. About 400 reports on the server. Nine automation loops. Database export every run (36 tables), read by Power BI.</a:t>
            </a:r>
            <a:endParaRPr lang="en-US" sz="1300" dirty="0"/>
          </a:p>
        </p:txBody>
      </p:sp>
      <p:sp>
        <p:nvSpPr>
          <p:cNvPr id="12" name="key line"/>
          <p:cNvSpPr txBox="1"/>
          <p:nvPr/>
        </p:nvSpPr>
        <p:spPr>
          <a:xfrm>
            <a:off x="548640" y="3931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Everything already runs on the Seadrill network. 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only piece on a laptop is the script that turns posts into pages, the scanner. That is what we are moving.</a:t>
            </a:r>
            <a:endParaRPr lang="en-US" sz="1800" dirty="0"/>
          </a:p>
        </p:txBody>
      </p:sp>
      <p:sp>
        <p:nvSpPr>
          <p:cNvPr id="13" name="ask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Ask of this meeting: pick the host, confirm the identities Janzen has requested, book the transfer day.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loop, start to finish</a:t>
            </a:r>
            <a:endParaRPr lang="en-US" sz="3200" dirty="0"/>
          </a:p>
        </p:txBody>
      </p:sp>
      <p:sp>
        <p:nvSpPr>
          <p:cNvPr id="3" name="step 0"/>
          <p:cNvSpPr/>
          <p:nvPr/>
        </p:nvSpPr>
        <p:spPr>
          <a:xfrm>
            <a:off x="548640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step head 0"/>
          <p:cNvSpPr txBox="1"/>
          <p:nvPr/>
        </p:nvSpPr>
        <p:spPr>
          <a:xfrm>
            <a:off x="548640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  Rig tool</a:t>
            </a:r>
            <a:endParaRPr lang="en-US" sz="1500" dirty="0"/>
          </a:p>
        </p:txBody>
      </p:sp>
      <p:sp>
        <p:nvSpPr>
          <p:cNvPr id="5" name="step text 0"/>
          <p:cNvSpPr txBox="1"/>
          <p:nvPr/>
        </p:nvSpPr>
        <p:spPr>
          <a:xfrm>
            <a:off x="548640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crew fills in a report in a browser tool (a single HTML file on the rig PC or tablet).</a:t>
            </a:r>
            <a:endParaRPr lang="en-US" sz="1200" dirty="0"/>
          </a:p>
        </p:txBody>
      </p:sp>
      <p:sp>
        <p:nvSpPr>
          <p:cNvPr id="6" name="step 1"/>
          <p:cNvSpPr/>
          <p:nvPr/>
        </p:nvSpPr>
        <p:spPr>
          <a:xfrm>
            <a:off x="2441448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7" name="step head 1"/>
          <p:cNvSpPr txBox="1"/>
          <p:nvPr/>
        </p:nvSpPr>
        <p:spPr>
          <a:xfrm>
            <a:off x="2441448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  Post</a:t>
            </a:r>
            <a:endParaRPr lang="en-US" sz="1500" dirty="0"/>
          </a:p>
        </p:txBody>
      </p:sp>
      <p:sp>
        <p:nvSpPr>
          <p:cNvPr id="8" name="step text 1"/>
          <p:cNvSpPr txBox="1"/>
          <p:nvPr/>
        </p:nvSpPr>
        <p:spPr>
          <a:xfrm>
            <a:off x="2441448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tool sends a JSON file over HTTPS to a Power Automate HTTP intake. No SharePoint rights on the rig.</a:t>
            </a:r>
            <a:endParaRPr lang="en-US" sz="1200" dirty="0"/>
          </a:p>
        </p:txBody>
      </p:sp>
      <p:sp>
        <p:nvSpPr>
          <p:cNvPr id="9" name="step 2"/>
          <p:cNvSpPr/>
          <p:nvPr/>
        </p:nvSpPr>
        <p:spPr>
          <a:xfrm>
            <a:off x="4334256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step head 2"/>
          <p:cNvSpPr txBox="1"/>
          <p:nvPr/>
        </p:nvSpPr>
        <p:spPr>
          <a:xfrm>
            <a:off x="4334256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  SharePoint</a:t>
            </a:r>
            <a:endParaRPr lang="en-US" sz="1500" dirty="0"/>
          </a:p>
        </p:txBody>
      </p:sp>
      <p:sp>
        <p:nvSpPr>
          <p:cNvPr id="11" name="step text 2"/>
          <p:cNvSpPr txBox="1"/>
          <p:nvPr/>
        </p:nvSpPr>
        <p:spPr>
          <a:xfrm>
            <a:off x="4334256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flow drops the file in WellControl / PostedReports. The posts are safe here whatever happens downstream.</a:t>
            </a:r>
            <a:endParaRPr lang="en-US" sz="1200" dirty="0"/>
          </a:p>
        </p:txBody>
      </p:sp>
      <p:sp>
        <p:nvSpPr>
          <p:cNvPr id="12" name="step 3"/>
          <p:cNvSpPr/>
          <p:nvPr/>
        </p:nvSpPr>
        <p:spPr>
          <a:xfrm>
            <a:off x="6227064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3" name="step head 3"/>
          <p:cNvSpPr txBox="1"/>
          <p:nvPr/>
        </p:nvSpPr>
        <p:spPr>
          <a:xfrm>
            <a:off x="6227064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  Scanner</a:t>
            </a:r>
            <a:endParaRPr lang="en-US" sz="1500" dirty="0"/>
          </a:p>
        </p:txBody>
      </p:sp>
      <p:sp>
        <p:nvSpPr>
          <p:cNvPr id="14" name="step text 3"/>
          <p:cNvSpPr txBox="1"/>
          <p:nvPr/>
        </p:nvSpPr>
        <p:spPr>
          <a:xfrm>
            <a:off x="6227064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 PowerShell script, every 10 minutes, reads new posts, builds the data files and the database export.</a:t>
            </a:r>
            <a:endParaRPr lang="en-US" sz="1200" dirty="0"/>
          </a:p>
        </p:txBody>
      </p:sp>
      <p:sp>
        <p:nvSpPr>
          <p:cNvPr id="15" name="step 4"/>
          <p:cNvSpPr/>
          <p:nvPr/>
        </p:nvSpPr>
        <p:spPr>
          <a:xfrm>
            <a:off x="8119872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step head 4"/>
          <p:cNvSpPr txBox="1"/>
          <p:nvPr/>
        </p:nvSpPr>
        <p:spPr>
          <a:xfrm>
            <a:off x="8119872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  Server</a:t>
            </a:r>
            <a:endParaRPr lang="en-US" sz="1500" dirty="0"/>
          </a:p>
        </p:txBody>
      </p:sp>
      <p:sp>
        <p:nvSpPr>
          <p:cNvPr id="17" name="step text 4"/>
          <p:cNvSpPr txBox="1"/>
          <p:nvPr/>
        </p:nvSpPr>
        <p:spPr>
          <a:xfrm>
            <a:off x="8119872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scanner copies pages and data to the SACRED share on sdrlazneuiis01d. IIS serves them as plain web pages.</a:t>
            </a:r>
            <a:endParaRPr lang="en-US" sz="1200" dirty="0"/>
          </a:p>
        </p:txBody>
      </p:sp>
      <p:sp>
        <p:nvSpPr>
          <p:cNvPr id="18" name="step 5"/>
          <p:cNvSpPr/>
          <p:nvPr/>
        </p:nvSpPr>
        <p:spPr>
          <a:xfrm>
            <a:off x="10012680" y="1463040"/>
            <a:ext cx="17830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step head 5"/>
          <p:cNvSpPr txBox="1"/>
          <p:nvPr/>
        </p:nvSpPr>
        <p:spPr>
          <a:xfrm>
            <a:off x="10012680" y="1463040"/>
            <a:ext cx="178308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  Notify</a:t>
            </a:r>
            <a:endParaRPr lang="en-US" sz="1500" dirty="0"/>
          </a:p>
        </p:txBody>
      </p:sp>
      <p:sp>
        <p:nvSpPr>
          <p:cNvPr id="20" name="step text 5"/>
          <p:cNvSpPr txBox="1"/>
          <p:nvPr/>
        </p:nvSpPr>
        <p:spPr>
          <a:xfrm>
            <a:off x="10012680" y="2240280"/>
            <a:ext cx="1783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Flows read the scanner's output and send the emails and Teams posts (Help Centre, AABs, plans, precharge).</a:t>
            </a:r>
            <a:endParaRPr lang="en-US" sz="1200" dirty="0"/>
          </a:p>
        </p:txBody>
      </p:sp>
      <p:sp>
        <p:nvSpPr>
          <p:cNvPr id="21" name="loop note"/>
          <p:cNvSpPr/>
          <p:nvPr/>
        </p:nvSpPr>
        <p:spPr>
          <a:xfrm>
            <a:off x="548640" y="4480560"/>
            <a:ext cx="11064240" cy="1463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2" name="loop note text"/>
          <p:cNvSpPr txBox="1"/>
          <p:nvPr/>
        </p:nvSpPr>
        <p:spPr>
          <a:xfrm>
            <a:off x="731520" y="457200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Where things are: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rig tools and the intake flow are Seadrill Power Automate; the posts live in SharePoint (M365); the pages are served by IIS on the sandbox server. </a:t>
            </a:r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The orange step is the only one on a laptop.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Posts are safe in SharePoint; only the scanner runs on a laptop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572768"/>
            <a:ext cx="32918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572768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Rig crew, 16 rigs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Rig PC or tablet, no login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1572768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434840" y="1572768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1. Capture report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Single HTML browser tool (SSORT, WCGRRT, checklists)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77440"/>
            <a:ext cx="32918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Manpreet and Lee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Maximo extract, job plans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37744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2377440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2. Intake flow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Power Automate HTTP trigger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2377440"/>
            <a:ext cx="3291840" cy="548640"/>
          </a:xfrm>
          <a:prstGeom prst="rect">
            <a:avLst/>
          </a:prstGeom>
          <a:solidFill>
            <a:srgbClr val="EEF2F7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D1 PostedReports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SharePoint, the system of record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82696"/>
            <a:ext cx="3291840" cy="548640"/>
          </a:xfrm>
          <a:prstGeom prst="rect">
            <a:avLst/>
          </a:prstGeom>
          <a:solidFill>
            <a:srgbClr val="EEF2F7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3282696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D2 File share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\\SEADRILL23339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3182112"/>
            <a:ext cx="3291840" cy="749808"/>
          </a:xfrm>
          <a:prstGeom prst="roundRect">
            <a:avLst>
              <a:gd name="adj" fmla="val 12000"/>
            </a:avLst>
          </a:prstGeom>
          <a:solidFill>
            <a:srgbClr val="FDF1E4"/>
          </a:solidFill>
          <a:ln w="28575">
            <a:solidFill>
              <a:srgbClr val="F4A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434840" y="3182112"/>
            <a:ext cx="3291840" cy="74980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3. Scanner, every 10 min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PowerShell 5.1 on Dan's laptop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Runs as Dan's login (role account after transfer)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160520"/>
            <a:ext cx="32918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4160520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Power BI and Copilot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DB export to Power BI Pro (moving from Fabric); Ask SACRED AI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4160520"/>
            <a:ext cx="3291840" cy="548640"/>
          </a:xfrm>
          <a:prstGeom prst="rect">
            <a:avLst/>
          </a:prstGeom>
          <a:solidFill>
            <a:srgbClr val="EEF2F7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434840" y="4160520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D3 SACRED web share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Pages, data, DB export, digests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41605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321040" y="4160520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5. Notify loops (9)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Power Automate flows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65192"/>
            <a:ext cx="32918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48640" y="4965192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Readers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Office, SMEs, VP, rigs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34840" y="4965192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434840" y="4965192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4. Serve pages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IIS on sandbox sdrlazneuiis01d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4965192"/>
            <a:ext cx="3291840" cy="548640"/>
          </a:xfrm>
          <a:prstGeom prst="rect">
            <a:avLst/>
          </a:prstGeom>
          <a:solidFill>
            <a:srgbClr val="FFFFFF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321040" y="4965192"/>
            <a:ext cx="329184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Email and Teams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Help, AABs, plans, precharge, daily reports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840480" y="1847088"/>
            <a:ext cx="59436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080759" y="2121408"/>
            <a:ext cx="0" cy="256032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126479" y="2139696"/>
            <a:ext cx="201168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JSON over HTTPS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26679" y="2651760"/>
            <a:ext cx="594361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194560" y="2926080"/>
            <a:ext cx="0" cy="356616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240279" y="2944368"/>
            <a:ext cx="146304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drop files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840480" y="3557015"/>
            <a:ext cx="59436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966960" y="2926080"/>
            <a:ext cx="0" cy="630936"/>
          </a:xfrm>
          <a:prstGeom prst="line">
            <a:avLst/>
          </a:prstGeom>
          <a:ln w="19050">
            <a:solidFill>
              <a:srgbClr val="8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7726679" y="3557016"/>
            <a:ext cx="2240281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0012680" y="2971800"/>
            <a:ext cx="146304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reads posts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80759" y="3931920"/>
            <a:ext cx="0" cy="22860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126479" y="3950208"/>
            <a:ext cx="182880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writes every run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3840480" y="4434840"/>
            <a:ext cx="59436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726679" y="4434840"/>
            <a:ext cx="594361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6080759" y="4709159"/>
            <a:ext cx="0" cy="256033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126479" y="4709159"/>
            <a:ext cx="146304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files served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3840480" y="5239512"/>
            <a:ext cx="59436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9966960" y="4709159"/>
            <a:ext cx="0" cy="256033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012680" y="4709159"/>
            <a:ext cx="91440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sends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760720"/>
            <a:ext cx="384048" cy="2194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960120" y="5742432"/>
            <a:ext cx="182880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Process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5760720"/>
            <a:ext cx="384048" cy="219456"/>
          </a:xfrm>
          <a:prstGeom prst="rect">
            <a:avLst/>
          </a:prstGeom>
          <a:solidFill>
            <a:srgbClr val="FFFFFF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3337560" y="5742432"/>
            <a:ext cx="182880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Outside party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03520" y="5760720"/>
            <a:ext cx="384048" cy="219456"/>
          </a:xfrm>
          <a:prstGeom prst="rect">
            <a:avLst/>
          </a:prstGeom>
          <a:solidFill>
            <a:srgbClr val="EEF2F7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715000" y="5742432"/>
            <a:ext cx="182880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Data store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680960" y="5760720"/>
            <a:ext cx="384048" cy="219456"/>
          </a:xfrm>
          <a:prstGeom prst="roundRect">
            <a:avLst>
              <a:gd name="adj" fmla="val 12000"/>
            </a:avLst>
          </a:prstGeom>
          <a:solidFill>
            <a:srgbClr val="FDF1E4"/>
          </a:solidFill>
          <a:ln w="28575">
            <a:solidFill>
              <a:srgbClr val="F4A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092440" y="5742432"/>
            <a:ext cx="182880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Runs on Dan's laptop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t>Where everything runs today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4206240" cy="1417320"/>
          </a:xfrm>
          <a:prstGeom prst="rect">
            <a:avLst/>
          </a:prstGeom>
          <a:solidFill>
            <a:srgbClr val="F8FAFC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02920" y="1316736"/>
            <a:ext cx="4114800" cy="292608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</a:rPr>
              <a:t>Offshore rigs (16)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691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3749039" cy="82296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Rig posting tools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HTML file on rig PC or tablet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SSORT, WCGRRT, checklists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143000"/>
            <a:ext cx="5440680" cy="2240280"/>
          </a:xfrm>
          <a:prstGeom prst="rect">
            <a:avLst/>
          </a:prstGeom>
          <a:solidFill>
            <a:srgbClr val="F8FAFC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55080" y="1179576"/>
            <a:ext cx="5349240" cy="292608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</a:rPr>
              <a:t>Microsoft 365 cloud, Seadrill tenant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537960" y="1481328"/>
            <a:ext cx="4983480" cy="548640"/>
          </a:xfrm>
          <a:prstGeom prst="rect">
            <a:avLst/>
          </a:prstGeom>
          <a:solidFill>
            <a:srgbClr val="EEF2F7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37960" y="1481328"/>
            <a:ext cx="498348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SharePoint Online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WellControl / PostedReports, Digests (DB export)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2130552"/>
            <a:ext cx="4983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37960" y="2130552"/>
            <a:ext cx="4983480" cy="5486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Power Automate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Intake flow (HTTP trigger); 9 loops: email and Teams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2779776"/>
            <a:ext cx="498348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37960" y="2779776"/>
            <a:ext cx="4983480" cy="50292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Exchange and Teams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Sent as Dan today; Well Control Group accounts requested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17520"/>
            <a:ext cx="4206240" cy="1783080"/>
          </a:xfrm>
          <a:prstGeom prst="roundRect">
            <a:avLst>
              <a:gd name="adj" fmla="val 12000"/>
            </a:avLst>
          </a:prstGeom>
          <a:solidFill>
            <a:srgbClr val="FDF1E4"/>
          </a:solidFill>
          <a:ln w="28575">
            <a:solidFill>
              <a:srgbClr val="F4A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02920" y="3054096"/>
            <a:ext cx="4114800" cy="292608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</a:rPr>
              <a:t>Dan's laptop: single point of failure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01568"/>
            <a:ext cx="3749039" cy="1234440"/>
          </a:xfrm>
          <a:prstGeom prst="roundRect">
            <a:avLst>
              <a:gd name="adj" fmla="val 12000"/>
            </a:avLst>
          </a:prstGeom>
          <a:solidFill>
            <a:srgbClr val="FDF1E4"/>
          </a:solidFill>
          <a:ln w="28575">
            <a:solidFill>
              <a:srgbClr val="F4A2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401568"/>
            <a:ext cx="3749039" cy="123444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SACRED scanner, every 10 min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PowerShell 5.1 + one config file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Windows Task Scheduler, runs as Dan's login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Full run 8 min, most runs seconds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520440"/>
            <a:ext cx="5440680" cy="1371600"/>
          </a:xfrm>
          <a:prstGeom prst="rect">
            <a:avLst/>
          </a:prstGeom>
          <a:solidFill>
            <a:srgbClr val="F8FAFC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55080" y="3557016"/>
            <a:ext cx="5349240" cy="292608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</a:rPr>
              <a:t>Seadrill network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3858768"/>
            <a:ext cx="4983480" cy="457200"/>
          </a:xfrm>
          <a:prstGeom prst="rect">
            <a:avLst/>
          </a:prstGeom>
          <a:solidFill>
            <a:srgbClr val="EEF2F7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537960" y="3858768"/>
            <a:ext cx="4983480" cy="45720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\\SEADRILL23339 file share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Maximo extract (Manpreet), job plans and inputs (Lee)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4370832"/>
            <a:ext cx="4983480" cy="457200"/>
          </a:xfrm>
          <a:prstGeom prst="rect">
            <a:avLst/>
          </a:prstGeom>
          <a:solidFill>
            <a:srgbClr val="EEF2F7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537960" y="4370832"/>
            <a:ext cx="4983480" cy="45720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sdrlazneuiis01d (sandbox)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IIS over HTTP, anonymous read; pages, data, export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029200"/>
            <a:ext cx="11292840" cy="1325880"/>
          </a:xfrm>
          <a:prstGeom prst="rect">
            <a:avLst/>
          </a:prstGeom>
          <a:solidFill>
            <a:srgbClr val="F8FAFC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2920" y="5065776"/>
            <a:ext cx="11201400" cy="292608"/>
          </a:xfrm>
          <a:prstGeom prst="rect">
            <a:avLst/>
          </a:prstGeom>
          <a:noFill/>
        </p:spPr>
        <p:txBody>
          <a:bodyPr wrap="square" lIns="73152" rIns="73152" tIns="27432" bIns="27432" anchor="t">
            <a:spAutoFit/>
          </a:bodyPr>
          <a:lstStyle/>
          <a:p>
            <a:pPr algn="l"/>
            <a:r>
              <a:rPr sz="1200" b="1" i="0">
                <a:solidFill>
                  <a:srgbClr val="14213D"/>
                </a:solidFill>
              </a:rPr>
              <a:t>Consumers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5376672"/>
            <a:ext cx="3429000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85800" y="5376672"/>
            <a:ext cx="3429000" cy="8412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Readers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Office, supers, SMEs, VP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Rig crews, no login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5376672"/>
            <a:ext cx="3657600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343400" y="5376672"/>
            <a:ext cx="3657600" cy="8412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Power BI Pro (from Fabric)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36-table DB export from SharePoint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Pro via E5, no extra cost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5376672"/>
            <a:ext cx="3291840" cy="841248"/>
          </a:xfrm>
          <a:prstGeom prst="rect">
            <a:avLst/>
          </a:prstGeom>
          <a:solidFill>
            <a:srgbClr val="FFFFFF"/>
          </a:solidFill>
          <a:ln w="15875">
            <a:solidFill>
              <a:srgbClr val="8AB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229600" y="5376672"/>
            <a:ext cx="3291840" cy="841248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100" b="1" i="0">
                <a:solidFill>
                  <a:srgbClr val="14213D"/>
                </a:solidFill>
              </a:rPr>
              <a:t>Copilot, Ask SACRED AI</a:t>
            </a:r>
          </a:p>
          <a:p>
            <a:pPr algn="l"/>
            <a:r>
              <a:rPr sz="950" b="0" i="0">
                <a:solidFill>
                  <a:srgbClr val="3A4A63"/>
                </a:solidFill>
              </a:rPr>
              <a:t>One text digest per report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434840" y="2103120"/>
            <a:ext cx="2103120" cy="301752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72000" y="1810512"/>
            <a:ext cx="73152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HTTPS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9052560" y="2029968"/>
            <a:ext cx="0" cy="100584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052560" y="2679192"/>
            <a:ext cx="0" cy="100584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440680" y="1755648"/>
            <a:ext cx="1097280" cy="0"/>
          </a:xfrm>
          <a:prstGeom prst="line">
            <a:avLst/>
          </a:prstGeom>
          <a:ln w="19050">
            <a:solidFill>
              <a:srgbClr val="8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5440680" y="1755648"/>
            <a:ext cx="0" cy="1764792"/>
          </a:xfrm>
          <a:prstGeom prst="line">
            <a:avLst/>
          </a:prstGeom>
          <a:ln w="19050">
            <a:solidFill>
              <a:srgbClr val="8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4434840" y="3520440"/>
            <a:ext cx="1005840" cy="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468112" y="2514600"/>
            <a:ext cx="868680" cy="685800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reads posts as Dan's login</a:t>
            </a:r>
          </a:p>
        </p:txBody>
      </p:sp>
      <p:cxnSp>
        <p:nvCxnSpPr>
          <p:cNvPr id="41" name="Connector 40"/>
          <p:cNvCxnSpPr/>
          <p:nvPr/>
        </p:nvCxnSpPr>
        <p:spPr>
          <a:xfrm flipH="1" flipV="1">
            <a:off x="4434840" y="3931920"/>
            <a:ext cx="2103120" cy="155448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40680" y="3767328"/>
            <a:ext cx="73152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read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434840" y="4343400"/>
            <a:ext cx="2103120" cy="256032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120640" y="4443984"/>
            <a:ext cx="73152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write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040880" y="4828032"/>
            <a:ext cx="0" cy="457200"/>
          </a:xfrm>
          <a:prstGeom prst="line">
            <a:avLst/>
          </a:prstGeom>
          <a:ln w="19050">
            <a:solidFill>
              <a:srgbClr val="8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2377440" y="5285232"/>
            <a:ext cx="4663440" cy="0"/>
          </a:xfrm>
          <a:prstGeom prst="line">
            <a:avLst/>
          </a:prstGeom>
          <a:ln w="19050">
            <a:solidFill>
              <a:srgbClr val="8A96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377440" y="5285232"/>
            <a:ext cx="0" cy="9144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1600200" y="4791456"/>
            <a:ext cx="182880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web pages over HTTP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931920" y="4636008"/>
            <a:ext cx="0" cy="521208"/>
          </a:xfrm>
          <a:prstGeom prst="line">
            <a:avLst/>
          </a:prstGeom>
          <a:ln w="19050">
            <a:solidFill>
              <a:srgbClr val="8A96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931920" y="5157216"/>
            <a:ext cx="1920240" cy="0"/>
          </a:xfrm>
          <a:prstGeom prst="line">
            <a:avLst/>
          </a:prstGeom>
          <a:ln w="19050">
            <a:solidFill>
              <a:srgbClr val="8A96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852160" y="5157216"/>
            <a:ext cx="0" cy="219456"/>
          </a:xfrm>
          <a:prstGeom prst="line">
            <a:avLst/>
          </a:prstGeom>
          <a:ln w="19050">
            <a:solidFill>
              <a:srgbClr val="8A96A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3977639" y="4846320"/>
            <a:ext cx="219456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DB export via SharePoint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058400" y="4828032"/>
            <a:ext cx="0" cy="548640"/>
          </a:xfrm>
          <a:prstGeom prst="line">
            <a:avLst/>
          </a:prstGeom>
          <a:ln w="19050">
            <a:solidFill>
              <a:srgbClr val="8A96A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1521440" y="4599432"/>
            <a:ext cx="320040" cy="0"/>
          </a:xfrm>
          <a:prstGeom prst="line">
            <a:avLst/>
          </a:prstGeom>
          <a:ln w="19050">
            <a:solidFill>
              <a:srgbClr val="8A96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11841480" y="2404872"/>
            <a:ext cx="0" cy="2194560"/>
          </a:xfrm>
          <a:prstGeom prst="line">
            <a:avLst/>
          </a:prstGeom>
          <a:ln w="19050">
            <a:solidFill>
              <a:srgbClr val="8A96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11521440" y="2404872"/>
            <a:ext cx="320040" cy="0"/>
          </a:xfrm>
          <a:prstGeom prst="line">
            <a:avLst/>
          </a:prstGeom>
          <a:ln w="19050">
            <a:solidFill>
              <a:srgbClr val="8A96A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10287000" y="3310128"/>
            <a:ext cx="1554480" cy="256032"/>
          </a:xfrm>
          <a:prstGeom prst="rect">
            <a:avLst/>
          </a:prstGeom>
          <a:noFill/>
        </p:spPr>
        <p:txBody>
          <a:bodyPr wrap="square" lIns="73152" rIns="73152" tIns="27432" bIns="27432" anchor="ctr">
            <a:spAutoFit/>
          </a:bodyPr>
          <a:lstStyle/>
          <a:p>
            <a:pPr algn="l"/>
            <a:r>
              <a:rPr sz="1000" b="0" i="0">
                <a:solidFill>
                  <a:srgbClr val="3A4A63"/>
                </a:solidFill>
              </a:rPr>
              <a:t>loops read scanner output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server serves today</a:t>
            </a:r>
            <a:endParaRPr lang="en-US" sz="3200" dirty="0"/>
          </a:p>
        </p:txBody>
      </p:sp>
      <p:sp>
        <p:nvSpPr>
          <p:cNvPr id="3" name="dot 0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dot n 0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item 0"/>
          <p:cNvSpPr txBox="1"/>
          <p:nvPr/>
        </p:nvSpPr>
        <p:spPr>
          <a:xfrm>
            <a:off x="1188720" y="1371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Reports dashboard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Every post by rig and type, CBM, BWM, daily logs, pre-deployment checklists, errors list.</a:t>
            </a:r>
            <a:endParaRPr lang="en-US" sz="1500" dirty="0"/>
          </a:p>
        </p:txBody>
      </p:sp>
      <p:sp>
        <p:nvSpPr>
          <p:cNvPr id="6" name="dot 1"/>
          <p:cNvSpPr/>
          <p:nvPr/>
        </p:nvSpPr>
        <p:spPr>
          <a:xfrm>
            <a:off x="6217920" y="1463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7" name="dot n 1"/>
          <p:cNvSpPr txBox="1"/>
          <p:nvPr/>
        </p:nvSpPr>
        <p:spPr>
          <a:xfrm>
            <a:off x="62179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item 1"/>
          <p:cNvSpPr txBox="1"/>
          <p:nvPr/>
        </p:nvSpPr>
        <p:spPr>
          <a:xfrm>
            <a:off x="6858000" y="1371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 page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Nine automation loops with their health, per rig: checks, precharge, AAB acknowledgements, help, SSCE.</a:t>
            </a:r>
            <a:endParaRPr lang="en-US" sz="1500" dirty="0"/>
          </a:p>
        </p:txBody>
      </p:sp>
      <p:sp>
        <p:nvSpPr>
          <p:cNvPr id="9" name="dot 2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dot n 2"/>
          <p:cNvSpPr txBox="1"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item 2"/>
          <p:cNvSpPr txBox="1"/>
          <p:nvPr/>
        </p:nvSpPr>
        <p:spPr>
          <a:xfrm>
            <a:off x="1188720" y="256032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Help Centre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Assistance requests and the Plans tab where each committee position verifies a maintenance plan.</a:t>
            </a:r>
            <a:endParaRPr lang="en-US" sz="1500" dirty="0"/>
          </a:p>
        </p:txBody>
      </p:sp>
      <p:sp>
        <p:nvSpPr>
          <p:cNvPr id="12" name="dot 3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dot n 3"/>
          <p:cNvSpPr txBox="1"/>
          <p:nvPr/>
        </p:nvSpPr>
        <p:spPr>
          <a:xfrm>
            <a:off x="62179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item 3"/>
          <p:cNvSpPr txBox="1"/>
          <p:nvPr/>
        </p:nvSpPr>
        <p:spPr>
          <a:xfrm>
            <a:off x="6858000" y="256032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Argo Navis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Lee's schedule builder, served from the server with its data folder refreshed by the scanner.</a:t>
            </a:r>
            <a:endParaRPr lang="en-US" sz="1500" dirty="0"/>
          </a:p>
        </p:txBody>
      </p:sp>
      <p:sp>
        <p:nvSpPr>
          <p:cNvPr id="15" name="dot 4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dot n 4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item 4"/>
          <p:cNvSpPr txBox="1"/>
          <p:nvPr/>
        </p:nvSpPr>
        <p:spPr>
          <a:xfrm>
            <a:off x="1188720" y="37490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CoC Tracker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Certificate status for the fleet, rebuilt from the Maximo extract every run (scanner v2.92).</a:t>
            </a:r>
            <a:endParaRPr lang="en-US" sz="1500" dirty="0"/>
          </a:p>
        </p:txBody>
      </p:sp>
      <p:sp>
        <p:nvSpPr>
          <p:cNvPr id="18" name="dot 5"/>
          <p:cNvSpPr/>
          <p:nvPr/>
        </p:nvSpPr>
        <p:spPr>
          <a:xfrm>
            <a:off x="6217920" y="38404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dot n 5"/>
          <p:cNvSpPr txBox="1"/>
          <p:nvPr/>
        </p:nvSpPr>
        <p:spPr>
          <a:xfrm>
            <a:off x="621792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0" name="item 5"/>
          <p:cNvSpPr txBox="1"/>
          <p:nvPr/>
        </p:nvSpPr>
        <p:spPr>
          <a:xfrm>
            <a:off x="6858000" y="37490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Precharge inbox and AABs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Precharge requests issued from posts; advisory bulletins with rig acknowledgements.</a:t>
            </a:r>
            <a:endParaRPr lang="en-US" sz="1500" dirty="0"/>
          </a:p>
        </p:txBody>
      </p:sp>
      <p:sp>
        <p:nvSpPr>
          <p:cNvPr id="21" name="dot 6"/>
          <p:cNvSpPr/>
          <p:nvPr/>
        </p:nvSpPr>
        <p:spPr>
          <a:xfrm>
            <a:off x="548640" y="5029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2" name="dot n 6"/>
          <p:cNvSpPr txBox="1"/>
          <p:nvPr/>
        </p:nvSpPr>
        <p:spPr>
          <a:xfrm>
            <a:off x="54864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23" name="item 6"/>
          <p:cNvSpPr txBox="1"/>
          <p:nvPr/>
        </p:nvSpPr>
        <p:spPr>
          <a:xfrm>
            <a:off x="1188720" y="49377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Database export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36 tables, 22,600 rows every run, read by Power BI Pro (Fabric is not an approved platform).</a:t>
            </a:r>
            <a:endParaRPr lang="en-US" sz="1500" dirty="0"/>
          </a:p>
        </p:txBody>
      </p:sp>
      <p:sp>
        <p:nvSpPr>
          <p:cNvPr id="24" name="dot 7"/>
          <p:cNvSpPr/>
          <p:nvPr/>
        </p:nvSpPr>
        <p:spPr>
          <a:xfrm>
            <a:off x="6217920" y="5029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25" name="dot n 7"/>
          <p:cNvSpPr txBox="1"/>
          <p:nvPr/>
        </p:nvSpPr>
        <p:spPr>
          <a:xfrm>
            <a:off x="621792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26" name="item 7"/>
          <p:cNvSpPr txBox="1"/>
          <p:nvPr/>
        </p:nvSpPr>
        <p:spPr>
          <a:xfrm>
            <a:off x="6858000" y="49377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Digests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One text digest per report for Copilot and Ask SACRED AI.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the scanner must leave the laptop</a:t>
            </a:r>
            <a:endParaRPr lang="en-US" sz="3200" dirty="0"/>
          </a:p>
        </p:txBody>
      </p:sp>
      <p:sp>
        <p:nvSpPr>
          <p:cNvPr id="3" name="stat1"/>
          <p:cNvSpPr txBox="1"/>
          <p:nvPr/>
        </p:nvSpPr>
        <p:spPr>
          <a:xfrm>
            <a:off x="548640" y="13716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10</a:t>
            </a:r>
            <a:endParaRPr lang="en-US" sz="7200" dirty="0"/>
          </a:p>
        </p:txBody>
      </p:sp>
      <p:sp>
        <p:nvSpPr>
          <p:cNvPr id="4" name="stat1 label"/>
          <p:cNvSpPr txBox="1"/>
          <p:nvPr/>
        </p:nvSpPr>
        <p:spPr>
          <a:xfrm>
            <a:off x="54864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minutes between runs, every day, as a scheduled task on Dan's PC</a:t>
            </a:r>
            <a:endParaRPr lang="en-US" sz="1300" dirty="0"/>
          </a:p>
        </p:txBody>
      </p:sp>
      <p:sp>
        <p:nvSpPr>
          <p:cNvPr id="5" name="stat2"/>
          <p:cNvSpPr txBox="1"/>
          <p:nvPr/>
        </p:nvSpPr>
        <p:spPr>
          <a:xfrm>
            <a:off x="4206240" y="13716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4"/>
                </a:solidFill>
              </a:rPr>
              <a:t>1</a:t>
            </a:r>
            <a:endParaRPr lang="en-US" sz="7200" dirty="0"/>
          </a:p>
        </p:txBody>
      </p:sp>
      <p:sp>
        <p:nvSpPr>
          <p:cNvPr id="6" name="stat2 label"/>
          <p:cNvSpPr txBox="1"/>
          <p:nvPr/>
        </p:nvSpPr>
        <p:spPr>
          <a:xfrm>
            <a:off x="420624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person. Laptop closed, on a plane, on leave: the dashboards stop refreshing and the notifications stop</a:t>
            </a:r>
            <a:endParaRPr lang="en-US" sz="1300" dirty="0"/>
          </a:p>
        </p:txBody>
      </p:sp>
      <p:sp>
        <p:nvSpPr>
          <p:cNvPr id="7" name="stat3"/>
          <p:cNvSpPr txBox="1"/>
          <p:nvPr/>
        </p:nvSpPr>
        <p:spPr>
          <a:xfrm>
            <a:off x="7863840" y="13716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5"/>
                </a:solidFill>
              </a:rPr>
              <a:t>0</a:t>
            </a:r>
            <a:endParaRPr lang="en-US" sz="7200" dirty="0"/>
          </a:p>
        </p:txBody>
      </p:sp>
      <p:sp>
        <p:nvSpPr>
          <p:cNvPr id="8" name="stat3 label"/>
          <p:cNvSpPr txBox="1"/>
          <p:nvPr/>
        </p:nvSpPr>
        <p:spPr>
          <a:xfrm>
            <a:off x="7863840" y="265176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data at risk. Every post is in SharePoint before the scanner ever sees it; the scanner can be re-run from scratch</a:t>
            </a:r>
            <a:endParaRPr lang="en-US" sz="1300" dirty="0"/>
          </a:p>
        </p:txBody>
      </p:sp>
      <p:sp>
        <p:nvSpPr>
          <p:cNvPr id="9" name="card What the scanner is"/>
          <p:cNvSpPr/>
          <p:nvPr/>
        </p:nvSpPr>
        <p:spPr>
          <a:xfrm>
            <a:off x="548640" y="3840480"/>
            <a:ext cx="110642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card head What the scanner is"/>
          <p:cNvSpPr txBox="1"/>
          <p:nvPr/>
        </p:nvSpPr>
        <p:spPr>
          <a:xfrm>
            <a:off x="731520" y="39776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the scanner is</a:t>
            </a:r>
            <a:endParaRPr lang="en-US" sz="1600" dirty="0"/>
          </a:p>
        </p:txBody>
      </p:sp>
      <p:sp>
        <p:nvSpPr>
          <p:cNvPr id="11" name="card body What the scanner is"/>
          <p:cNvSpPr txBox="1"/>
          <p:nvPr/>
        </p:nvSpPr>
        <p:spPr>
          <a:xfrm>
            <a:off x="731520" y="4389120"/>
            <a:ext cx="10698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PowerShell script (Windows PowerShell 5.1, no other software) and one config file. It reads a SharePoint library, reads two network shares for the Maximo extracts and Lee's inputs, writes pages and data to the web folder, and writes a database export. A full run takes 8 minutes on the laptop; most runs find nothing new and finish in seconds.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SACRED needs, whichever host</a:t>
            </a:r>
            <a:endParaRPr lang="en-US" sz="3200" dirty="0"/>
          </a:p>
        </p:txBody>
      </p:sp>
      <p:sp>
        <p:nvSpPr>
          <p:cNvPr id="3" name="card An identity that is not a person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 head An identity that is not a person"/>
          <p:cNvSpPr txBox="1"/>
          <p:nvPr/>
        </p:nvSpPr>
        <p:spPr>
          <a:xfrm>
            <a:off x="73152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An identity that is not a person</a:t>
            </a:r>
            <a:endParaRPr lang="en-US" sz="1600" dirty="0"/>
          </a:p>
        </p:txBody>
      </p:sp>
      <p:sp>
        <p:nvSpPr>
          <p:cNvPr id="5" name="card body An identity that is not a person"/>
          <p:cNvSpPr txBox="1"/>
          <p:nvPr/>
        </p:nvSpPr>
        <p:spPr>
          <a:xfrm>
            <a:off x="73152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Reads the SharePoint library and writes the web folder. Today it is Dan's login. Janzen Small (ISIT, Tech Services' app IT contact) requested two role accounts on 17 Oct: Well Control Group 1 and 2.</a:t>
            </a:r>
            <a:endParaRPr lang="en-US" sz="1300" dirty="0"/>
          </a:p>
        </p:txBody>
      </p:sp>
      <p:sp>
        <p:nvSpPr>
          <p:cNvPr id="6" name="card Somewhere to run on a schedule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card head Somewhere to run on a schedule"/>
          <p:cNvSpPr txBox="1"/>
          <p:nvPr/>
        </p:nvSpPr>
        <p:spPr>
          <a:xfrm>
            <a:off x="448056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Somewhere to run on a schedule</a:t>
            </a:r>
            <a:endParaRPr lang="en-US" sz="1600" dirty="0"/>
          </a:p>
        </p:txBody>
      </p:sp>
      <p:sp>
        <p:nvSpPr>
          <p:cNvPr id="8" name="card body Somewhere to run on a schedule"/>
          <p:cNvSpPr txBox="1"/>
          <p:nvPr/>
        </p:nvSpPr>
        <p:spPr>
          <a:xfrm>
            <a:off x="448056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10 minutes, writing pages where the web server reads them.</a:t>
            </a:r>
            <a:endParaRPr lang="en-US" sz="1300" dirty="0"/>
          </a:p>
        </p:txBody>
      </p:sp>
      <p:sp>
        <p:nvSpPr>
          <p:cNvPr id="9" name="card HTTPS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card head HTTPS"/>
          <p:cNvSpPr txBox="1"/>
          <p:nvPr/>
        </p:nvSpPr>
        <p:spPr>
          <a:xfrm>
            <a:off x="8229600" y="15087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HTTPS</a:t>
            </a:r>
            <a:endParaRPr lang="en-US" sz="1600" dirty="0"/>
          </a:p>
        </p:txBody>
      </p:sp>
      <p:sp>
        <p:nvSpPr>
          <p:cNvPr id="11" name="card body HTTPS"/>
          <p:cNvSpPr txBox="1"/>
          <p:nvPr/>
        </p:nvSpPr>
        <p:spPr>
          <a:xfrm>
            <a:off x="8229600" y="192024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Rig tablets can only install the pages for offline use over HTTPS. Also wanted for the schedule builder.</a:t>
            </a:r>
            <a:endParaRPr lang="en-US" sz="1300" dirty="0"/>
          </a:p>
        </p:txBody>
      </p:sp>
      <p:sp>
        <p:nvSpPr>
          <p:cNvPr id="12" name="card The WCEMPD mailbox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card head The WCEMPD mailbox"/>
          <p:cNvSpPr txBox="1"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Role accounts and mailbox</a:t>
            </a:r>
            <a:endParaRPr lang="en-US" sz="1600" dirty="0"/>
          </a:p>
        </p:txBody>
      </p:sp>
      <p:sp>
        <p:nvSpPr>
          <p:cNvPr id="14" name="card body The WCEMPD mailbox"/>
          <p:cNvSpPr txBox="1"/>
          <p:nvPr/>
        </p:nvSpPr>
        <p:spPr>
          <a:xfrm>
            <a:off x="731520" y="429768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The Well Control Group accounts with Exchange, Power Automate and Teams licences, so emails and Teams posts come from the department, not Dan, and access survives rotations and shared tablets.</a:t>
            </a:r>
            <a:endParaRPr lang="en-US" sz="1300" dirty="0"/>
          </a:p>
        </p:txBody>
      </p:sp>
      <p:sp>
        <p:nvSpPr>
          <p:cNvPr id="15" name="card The inputs reachable"/>
          <p:cNvSpPr/>
          <p:nvPr/>
        </p:nvSpPr>
        <p:spPr>
          <a:xfrm>
            <a:off x="429768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6" name="card head The inputs reachable"/>
          <p:cNvSpPr txBox="1"/>
          <p:nvPr/>
        </p:nvSpPr>
        <p:spPr>
          <a:xfrm>
            <a:off x="448056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inputs reachable</a:t>
            </a:r>
            <a:endParaRPr lang="en-US" sz="1600" dirty="0"/>
          </a:p>
        </p:txBody>
      </p:sp>
      <p:sp>
        <p:nvSpPr>
          <p:cNvPr id="17" name="card body The inputs reachable"/>
          <p:cNvSpPr txBox="1"/>
          <p:nvPr/>
        </p:nvSpPr>
        <p:spPr>
          <a:xfrm>
            <a:off x="4480560" y="429768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Manpreet's Maximo extract and Lee's job plans: today on \\SEADRILL23339. Wherever the scanner runs, it must read them.</a:t>
            </a:r>
            <a:endParaRPr lang="en-US" sz="1300" dirty="0"/>
          </a:p>
        </p:txBody>
      </p:sp>
      <p:sp>
        <p:nvSpPr>
          <p:cNvPr id="18" name="card A drop folder for Lee"/>
          <p:cNvSpPr/>
          <p:nvPr/>
        </p:nvSpPr>
        <p:spPr>
          <a:xfrm>
            <a:off x="804672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9" name="card head A drop folder for Lee"/>
          <p:cNvSpPr txBox="1"/>
          <p:nvPr/>
        </p:nvSpPr>
        <p:spPr>
          <a:xfrm>
            <a:off x="822960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Dan deploys every update</a:t>
            </a:r>
            <a:endParaRPr lang="en-US" sz="1600" dirty="0"/>
          </a:p>
        </p:txBody>
      </p:sp>
      <p:sp>
        <p:nvSpPr>
          <p:cNvPr id="20" name="card body A drop folder for Lee"/>
          <p:cNvSpPr txBox="1"/>
          <p:nvPr/>
        </p:nvSpPr>
        <p:spPr>
          <a:xfrm>
            <a:off x="8229600" y="4297680"/>
            <a:ext cx="3200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Dan drops every update himself (scanner, Argo Navis, precharge, pages): Lee sends his Argo Navis builds to Dan. Dan's write access to the deploy folders means no ticket per update.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Option A: the sandbox server, as planned</a:t>
            </a:r>
            <a:endParaRPr lang="en-US" sz="3200" dirty="0"/>
          </a:p>
        </p:txBody>
      </p:sp>
      <p:sp>
        <p:nvSpPr>
          <p:cNvPr id="3" name="card What it takes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 head What it takes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it takes</a:t>
            </a:r>
            <a:endParaRPr lang="en-US" sz="1600" dirty="0"/>
          </a:p>
        </p:txBody>
      </p:sp>
      <p:sp>
        <p:nvSpPr>
          <p:cNvPr id="5" name="card body What it takes"/>
          <p:cNvSpPr txBox="1"/>
          <p:nvPr/>
        </p:nvSpPr>
        <p:spPr>
          <a:xfrm>
            <a:off x="731520" y="1920240"/>
            <a:ext cx="50292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Service account on sdrlazneuiis01d running the scheduled task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SharePoint read for that account: OneDrive sync does not run under a service account, so a UNC path to the library or a read through the SharePoint API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Write to the SACRED share on the same box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HTTPS binding on the IIS site with a corporate certificate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 access to \\SEADRILL23339 from the server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Write access for Dan to the deploy folders</a:t>
            </a:r>
            <a:endParaRPr lang="en-US" sz="1400" dirty="0"/>
          </a:p>
        </p:txBody>
      </p:sp>
      <p:sp>
        <p:nvSpPr>
          <p:cNvPr id="6" name="card For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7" name="card head For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</a:t>
            </a:r>
            <a:endParaRPr lang="en-US" sz="1600" dirty="0"/>
          </a:p>
        </p:txBody>
      </p:sp>
      <p:sp>
        <p:nvSpPr>
          <p:cNvPr id="8" name="card body For"/>
          <p:cNvSpPr txBox="1"/>
          <p:nvPr/>
        </p:nvSpPr>
        <p:spPr>
          <a:xfrm>
            <a:off x="6400800" y="192024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Smallest change: the pages are already served here. The scanner config changes one path. The rigs' bookmarks stay. Proven in two weeks of running against this server.</a:t>
            </a:r>
            <a:endParaRPr lang="en-US" sz="1400" dirty="0"/>
          </a:p>
        </p:txBody>
      </p:sp>
      <p:sp>
        <p:nvSpPr>
          <p:cNvPr id="9" name="card Against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  <p:txBody>
          <a:bodyPr/>
          <a:p/>
        </p:txBody>
      </p:sp>
      <p:sp>
        <p:nvSpPr>
          <p:cNvPr id="10" name="card head Against"/>
          <p:cNvSpPr txBox="1"/>
          <p:nvPr/>
        </p:nvSpPr>
        <p:spPr>
          <a:xfrm>
            <a:off x="640080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Against</a:t>
            </a:r>
            <a:endParaRPr lang="en-US" sz="1600" dirty="0"/>
          </a:p>
        </p:txBody>
      </p:sp>
      <p:sp>
        <p:nvSpPr>
          <p:cNvPr id="11" name="card body Against"/>
          <p:cNvSpPr txBox="1"/>
          <p:nvPr/>
        </p:nvSpPr>
        <p:spPr>
          <a:xfrm>
            <a:off x="6400800" y="429768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 sandbox server, not production: ISIT still has to name the production home and plan a second cutover. HTTPS, certificate and service account are three separate tickets.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Option B: a Microsoft web app, as Adam raised</a:t>
            </a:r>
            <a:endParaRPr lang="en-US" sz="3200" dirty="0"/>
          </a:p>
        </p:txBody>
      </p:sp>
      <p:sp>
        <p:nvSpPr>
          <p:cNvPr id="3" name="card What it would look like"/>
          <p:cNvSpPr/>
          <p:nvPr/>
        </p:nvSpPr>
        <p:spPr>
          <a:xfrm>
            <a:off x="548640" y="1371600"/>
            <a:ext cx="5394960" cy="4480560"/>
          </a:xfrm>
          <a:prstGeom prst="roundRect">
            <a:avLst>
              <a:gd name="adj" fmla="val 16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 head What it would look like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it would look like</a:t>
            </a:r>
            <a:endParaRPr lang="en-US" sz="1600" dirty="0"/>
          </a:p>
        </p:txBody>
      </p:sp>
      <p:sp>
        <p:nvSpPr>
          <p:cNvPr id="5" name="card body What it would look like"/>
          <p:cNvSpPr txBox="1"/>
          <p:nvPr/>
        </p:nvSpPr>
        <p:spPr>
          <a:xfrm>
            <a:off x="731520" y="1920240"/>
            <a:ext cx="50292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Azure App Service hosts the pages as they are: they are static files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scanner runs as a scheduled WebJob on the same app and writes into the app's own web root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SharePoint read through the Microsoft Graph API with an app registration (the change we need for a non-person identity anyway)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HTTPS is built in: the tablet request falls away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Azure cannot see \\SEADRILL23339, so the Maximo extract and Lee's inputs go into a SharePoint library and the scanner reads them there, the same way it reads the posts</a:t>
            </a:r>
            <a:endParaRPr lang="en-US" sz="1400" dirty="0"/>
          </a:p>
        </p:txBody>
      </p:sp>
      <p:sp>
        <p:nvSpPr>
          <p:cNvPr id="6" name="card For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  <p:txBody>
          <a:bodyPr/>
          <a:p/>
        </p:txBody>
      </p:sp>
      <p:sp>
        <p:nvSpPr>
          <p:cNvPr id="7" name="card head For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For</a:t>
            </a:r>
            <a:endParaRPr lang="en-US" sz="1600" dirty="0"/>
          </a:p>
        </p:txBody>
      </p:sp>
      <p:sp>
        <p:nvSpPr>
          <p:cNvPr id="8" name="card body For"/>
          <p:cNvSpPr txBox="1"/>
          <p:nvPr/>
        </p:nvSpPr>
        <p:spPr>
          <a:xfrm>
            <a:off x="6400800" y="192024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Production from day one, ISIT's standard platform, HTTPS and identity handled the Microsoft way. Nothing changes for the rig tools: they post to the same flow.</a:t>
            </a:r>
            <a:endParaRPr lang="en-US" sz="1400" dirty="0"/>
          </a:p>
        </p:txBody>
      </p:sp>
      <p:sp>
        <p:nvSpPr>
          <p:cNvPr id="9" name="card To settle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3478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sp>
        <p:nvSpPr>
          <p:cNvPr id="10" name="card head To settle"/>
          <p:cNvSpPr txBox="1"/>
          <p:nvPr/>
        </p:nvSpPr>
        <p:spPr>
          <a:xfrm>
            <a:off x="640080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To settle</a:t>
            </a:r>
            <a:endParaRPr lang="en-US" sz="1600" dirty="0"/>
          </a:p>
        </p:txBody>
      </p:sp>
      <p:sp>
        <p:nvSpPr>
          <p:cNvPr id="11" name="card body To settle"/>
          <p:cNvSpPr txBox="1"/>
          <p:nvPr/>
        </p:nvSpPr>
        <p:spPr>
          <a:xfrm>
            <a:off x="6400800" y="429768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Internet-facing with a Seadrill sign-in, or private network only? Rigs open SACRED today with no login. Where does the CoC Tracker file the rigs open go? Who creates the app registration and when?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Side by side</a:t>
            </a:r>
            <a:endParaRPr lang="en-US" sz="3200" dirty="0"/>
          </a:p>
        </p:txBody>
      </p:sp>
      <p:graphicFrame>
        <p:nvGraphicFramePr>
          <p:cNvPr id="10" name="comparis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023360"/>
                <a:gridCol w="40233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A: sandbox server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B: Microsoft web app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Pages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Already there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Copied as they are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Scanner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Scheduled task, service account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Scheduled WebJob on the app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Reads SharePoint by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 path or SharePoint API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Graph API, app registration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HTTPS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New binding and certificate (ticket)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Built in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Maximo extract and Lee's inputs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Read from \\SEADRILL23339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Moved into a SharePoint library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Rig tools and intake flow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Unchanged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Unchanged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Rig bookmarks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Unchanged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New address once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Sign-in for readers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None, as today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To be decided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Production status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Sandbox, second cutover later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Production from the start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Work on the scanner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One path in config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</a:rPr>
                        <a:t>Config plus the Graph read</a:t>
                      </a:r>
                      <a:endParaRPr lang="en-US" sz="1300" dirty="0"/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changes for a rig under either option</a:t>
            </a:r>
            <a:endParaRPr lang="en-US" sz="3200" dirty="0"/>
          </a:p>
        </p:txBody>
      </p:sp>
      <p:sp>
        <p:nvSpPr>
          <p:cNvPr id="3" name="nothing"/>
          <p:cNvSpPr txBox="1"/>
          <p:nvPr/>
        </p:nvSpPr>
        <p:spPr>
          <a:xfrm>
            <a:off x="548640" y="1371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</a:rPr>
              <a:t>Nothing</a:t>
            </a:r>
            <a:endParaRPr lang="en-US" sz="6400" dirty="0"/>
          </a:p>
        </p:txBody>
      </p:sp>
      <p:sp>
        <p:nvSpPr>
          <p:cNvPr id="4" name="nothing text"/>
          <p:cNvSpPr txBox="1"/>
          <p:nvPr/>
        </p:nvSpPr>
        <p:spPr>
          <a:xfrm>
            <a:off x="548640" y="2651760"/>
            <a:ext cx="5303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for the posting tools. SSORT, WCGRRT and the checklist tools post to the same Power Automate address with the same key. No rebuild, no redeploy to 16 rigs.</a:t>
            </a:r>
            <a:endParaRPr lang="en-US" sz="1600" dirty="0"/>
          </a:p>
        </p:txBody>
      </p:sp>
      <p:sp>
        <p:nvSpPr>
          <p:cNvPr id="5" name="card Bookmarks"/>
          <p:cNvSpPr/>
          <p:nvPr/>
        </p:nvSpPr>
        <p:spPr>
          <a:xfrm>
            <a:off x="6217920" y="137160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6" name="card head Bookmarks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Bookmarks</a:t>
            </a:r>
            <a:endParaRPr lang="en-US" sz="1600" dirty="0"/>
          </a:p>
        </p:txBody>
      </p:sp>
      <p:sp>
        <p:nvSpPr>
          <p:cNvPr id="7" name="card body Bookmarks"/>
          <p:cNvSpPr txBox="1"/>
          <p:nvPr/>
        </p:nvSpPr>
        <p:spPr>
          <a:xfrm>
            <a:off x="6400800" y="1920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Server: unchanged. Web app: one new address, sent once with the class on 20 October.</a:t>
            </a:r>
            <a:endParaRPr lang="en-US" sz="1400" dirty="0"/>
          </a:p>
        </p:txBody>
      </p:sp>
      <p:sp>
        <p:nvSpPr>
          <p:cNvPr id="8" name="card Sign-in"/>
          <p:cNvSpPr/>
          <p:nvPr/>
        </p:nvSpPr>
        <p:spPr>
          <a:xfrm>
            <a:off x="6217920" y="292608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card head Sign-in"/>
          <p:cNvSpPr txBox="1"/>
          <p:nvPr/>
        </p:nvSpPr>
        <p:spPr>
          <a:xfrm>
            <a:off x="6400800" y="3063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Sign-in</a:t>
            </a:r>
            <a:endParaRPr lang="en-US" sz="1600" dirty="0"/>
          </a:p>
        </p:txBody>
      </p:sp>
      <p:sp>
        <p:nvSpPr>
          <p:cNvPr id="10" name="card body Sign-in"/>
          <p:cNvSpPr txBox="1"/>
          <p:nvPr/>
        </p:nvSpPr>
        <p:spPr>
          <a:xfrm>
            <a:off x="6400800" y="347472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Server: none, as today. Web app: depends on the decision above; a rig test is needed before cutover.</a:t>
            </a:r>
            <a:endParaRPr lang="en-US" sz="1400" dirty="0"/>
          </a:p>
        </p:txBody>
      </p:sp>
      <p:sp>
        <p:nvSpPr>
          <p:cNvPr id="11" name="card Offline tablets"/>
          <p:cNvSpPr/>
          <p:nvPr/>
        </p:nvSpPr>
        <p:spPr>
          <a:xfrm>
            <a:off x="6217920" y="4480560"/>
            <a:ext cx="539496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2" name="card head Offline tablets"/>
          <p:cNvSpPr txBox="1"/>
          <p:nvPr/>
        </p:nvSpPr>
        <p:spPr>
          <a:xfrm>
            <a:off x="6400800" y="4617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Offline tablets</a:t>
            </a:r>
            <a:endParaRPr lang="en-US" sz="1600" dirty="0"/>
          </a:p>
        </p:txBody>
      </p:sp>
      <p:sp>
        <p:nvSpPr>
          <p:cNvPr id="13" name="card body Offline tablets"/>
          <p:cNvSpPr txBox="1"/>
          <p:nvPr/>
        </p:nvSpPr>
        <p:spPr>
          <a:xfrm>
            <a:off x="6400800" y="502920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Both give HTTPS in the end; the web app gives it on day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Risk and fallback</a:t>
            </a:r>
            <a:endParaRPr lang="en-US" sz="3200" dirty="0"/>
          </a:p>
        </p:txBody>
      </p:sp>
      <p:sp>
        <p:nvSpPr>
          <p:cNvPr id="3" name="card The posts are never at risk"/>
          <p:cNvSpPr/>
          <p:nvPr/>
        </p:nvSpPr>
        <p:spPr>
          <a:xfrm>
            <a:off x="548640" y="137160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card head The posts are never at risk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posts are never at risk</a:t>
            </a:r>
            <a:endParaRPr lang="en-US" sz="1600" dirty="0"/>
          </a:p>
        </p:txBody>
      </p:sp>
      <p:sp>
        <p:nvSpPr>
          <p:cNvPr id="5" name="card body The posts are never at risk"/>
          <p:cNvSpPr txBox="1"/>
          <p:nvPr/>
        </p:nvSpPr>
        <p:spPr>
          <a:xfrm>
            <a:off x="731520" y="192024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They land in SharePoint before the scanner runs. A scanner that is off for a day catches up on the next run; it has done so before.</a:t>
            </a:r>
            <a:endParaRPr lang="en-US" sz="1400" dirty="0"/>
          </a:p>
        </p:txBody>
      </p:sp>
      <p:sp>
        <p:nvSpPr>
          <p:cNvPr id="6" name="card The laptop stays on"/>
          <p:cNvSpPr/>
          <p:nvPr/>
        </p:nvSpPr>
        <p:spPr>
          <a:xfrm>
            <a:off x="6217920" y="137160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card head The laptop stays on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laptop stays on</a:t>
            </a:r>
            <a:endParaRPr lang="en-US" sz="1600" dirty="0"/>
          </a:p>
        </p:txBody>
      </p:sp>
      <p:sp>
        <p:nvSpPr>
          <p:cNvPr id="8" name="card body The laptop stays on"/>
          <p:cNvSpPr txBox="1"/>
          <p:nvPr/>
        </p:nvSpPr>
        <p:spPr>
          <a:xfrm>
            <a:off x="6400800" y="192024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Dan's scheduled task keeps running until the new host has produced one clean full run and the Status page agrees.</a:t>
            </a:r>
            <a:endParaRPr lang="en-US" sz="1400" dirty="0"/>
          </a:p>
        </p:txBody>
      </p:sp>
      <p:sp>
        <p:nvSpPr>
          <p:cNvPr id="9" name="card The scanner is one file"/>
          <p:cNvSpPr/>
          <p:nvPr/>
        </p:nvSpPr>
        <p:spPr>
          <a:xfrm>
            <a:off x="548640" y="374904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card head The scanner is one file"/>
          <p:cNvSpPr txBox="1"/>
          <p:nvPr/>
        </p:nvSpPr>
        <p:spPr>
          <a:xfrm>
            <a:off x="73152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The scanner is one file</a:t>
            </a:r>
            <a:endParaRPr lang="en-US" sz="1600" dirty="0"/>
          </a:p>
        </p:txBody>
      </p:sp>
      <p:sp>
        <p:nvSpPr>
          <p:cNvPr id="11" name="card body The scanner is one file"/>
          <p:cNvSpPr txBox="1"/>
          <p:nvPr/>
        </p:nvSpPr>
        <p:spPr>
          <a:xfrm>
            <a:off x="731520" y="4297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script on either host; the config names the paths. Rolling back is turning the laptop task back on.</a:t>
            </a:r>
            <a:endParaRPr lang="en-US" sz="1400" dirty="0"/>
          </a:p>
        </p:txBody>
      </p:sp>
      <p:sp>
        <p:nvSpPr>
          <p:cNvPr id="12" name="card Two things are secret"/>
          <p:cNvSpPr/>
          <p:nvPr/>
        </p:nvSpPr>
        <p:spPr>
          <a:xfrm>
            <a:off x="6217920" y="3749040"/>
            <a:ext cx="5394960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card head Two things are secret"/>
          <p:cNvSpPr txBox="1"/>
          <p:nvPr/>
        </p:nvSpPr>
        <p:spPr>
          <a:xfrm>
            <a:off x="6400800" y="3886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Two things are secret</a:t>
            </a:r>
            <a:endParaRPr lang="en-US" sz="1600" dirty="0"/>
          </a:p>
        </p:txBody>
      </p:sp>
      <p:sp>
        <p:nvSpPr>
          <p:cNvPr id="14" name="card body Two things are secret"/>
          <p:cNvSpPr txBox="1"/>
          <p:nvPr/>
        </p:nvSpPr>
        <p:spPr>
          <a:xfrm>
            <a:off x="6400800" y="4297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intake key in the rig tools and the flow URL. Neither moves; neither is in the pages.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Transfer day, in order</a:t>
            </a:r>
            <a:endParaRPr lang="en-US" sz="3200" dirty="0"/>
          </a:p>
        </p:txBody>
      </p:sp>
      <p:sp>
        <p:nvSpPr>
          <p:cNvPr id="3" name="when 0"/>
          <p:cNvSpPr/>
          <p:nvPr/>
        </p:nvSpPr>
        <p:spPr>
          <a:xfrm>
            <a:off x="548640" y="137160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4" name="when text 0"/>
          <p:cNvSpPr txBox="1"/>
          <p:nvPr/>
        </p:nvSpPr>
        <p:spPr>
          <a:xfrm>
            <a:off x="548640" y="13716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Before</a:t>
            </a:r>
            <a:endParaRPr lang="en-US" sz="1400" dirty="0"/>
          </a:p>
        </p:txBody>
      </p:sp>
      <p:sp>
        <p:nvSpPr>
          <p:cNvPr id="5" name="what 0"/>
          <p:cNvSpPr txBox="1"/>
          <p:nvPr/>
        </p:nvSpPr>
        <p:spPr>
          <a:xfrm>
            <a:off x="2194560" y="13716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Identity created and tested: can it read PostedReports and write the web folder? Well Control Group role accounts requested by Janzen (17 Oct).</a:t>
            </a:r>
            <a:endParaRPr lang="en-US" sz="1400" dirty="0"/>
          </a:p>
        </p:txBody>
      </p:sp>
      <p:sp>
        <p:nvSpPr>
          <p:cNvPr id="6" name="when 1"/>
          <p:cNvSpPr/>
          <p:nvPr/>
        </p:nvSpPr>
        <p:spPr>
          <a:xfrm>
            <a:off x="548640" y="214884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7" name="when text 1"/>
          <p:cNvSpPr txBox="1"/>
          <p:nvPr/>
        </p:nvSpPr>
        <p:spPr>
          <a:xfrm>
            <a:off x="548640" y="21488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Hour 1</a:t>
            </a:r>
            <a:endParaRPr lang="en-US" sz="1400" dirty="0"/>
          </a:p>
        </p:txBody>
      </p:sp>
      <p:sp>
        <p:nvSpPr>
          <p:cNvPr id="8" name="what 1"/>
          <p:cNvSpPr txBox="1"/>
          <p:nvPr/>
        </p:nvSpPr>
        <p:spPr>
          <a:xfrm>
            <a:off x="2194560" y="214884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Copy the scanner and config to the host. Point config at the host's paths. Run once by hand with the laptop task paused.</a:t>
            </a:r>
            <a:endParaRPr lang="en-US" sz="1400" dirty="0"/>
          </a:p>
        </p:txBody>
      </p:sp>
      <p:sp>
        <p:nvSpPr>
          <p:cNvPr id="9" name="when 2"/>
          <p:cNvSpPr/>
          <p:nvPr/>
        </p:nvSpPr>
        <p:spPr>
          <a:xfrm>
            <a:off x="548640" y="292608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when text 2"/>
          <p:cNvSpPr txBox="1"/>
          <p:nvPr/>
        </p:nvSpPr>
        <p:spPr>
          <a:xfrm>
            <a:off x="548640" y="29260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Hour 2</a:t>
            </a:r>
            <a:endParaRPr lang="en-US" sz="1400" dirty="0"/>
          </a:p>
        </p:txBody>
      </p:sp>
      <p:sp>
        <p:nvSpPr>
          <p:cNvPr id="11" name="what 2"/>
          <p:cNvSpPr txBox="1"/>
          <p:nvPr/>
        </p:nvSpPr>
        <p:spPr>
          <a:xfrm>
            <a:off x="2194560" y="292608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Compare the host's output with the laptop's: same report count, same Status page. Fix paths, run again.</a:t>
            </a:r>
            <a:endParaRPr lang="en-US" sz="1400" dirty="0"/>
          </a:p>
        </p:txBody>
      </p:sp>
      <p:sp>
        <p:nvSpPr>
          <p:cNvPr id="12" name="when 3"/>
          <p:cNvSpPr/>
          <p:nvPr/>
        </p:nvSpPr>
        <p:spPr>
          <a:xfrm>
            <a:off x="548640" y="370332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3" name="when text 3"/>
          <p:cNvSpPr txBox="1"/>
          <p:nvPr/>
        </p:nvSpPr>
        <p:spPr>
          <a:xfrm>
            <a:off x="548640" y="370332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Hour 3</a:t>
            </a:r>
            <a:endParaRPr lang="en-US" sz="1400" dirty="0"/>
          </a:p>
        </p:txBody>
      </p:sp>
      <p:sp>
        <p:nvSpPr>
          <p:cNvPr id="14" name="what 3"/>
          <p:cNvSpPr txBox="1"/>
          <p:nvPr/>
        </p:nvSpPr>
        <p:spPr>
          <a:xfrm>
            <a:off x="2194560" y="370332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Schedule the task or WebJob. Re-enable nothing on the laptop. Watch three runs.</a:t>
            </a:r>
            <a:endParaRPr lang="en-US" sz="1400" dirty="0"/>
          </a:p>
        </p:txBody>
      </p:sp>
      <p:sp>
        <p:nvSpPr>
          <p:cNvPr id="15" name="when 4"/>
          <p:cNvSpPr/>
          <p:nvPr/>
        </p:nvSpPr>
        <p:spPr>
          <a:xfrm>
            <a:off x="548640" y="448056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when text 4"/>
          <p:cNvSpPr txBox="1"/>
          <p:nvPr/>
        </p:nvSpPr>
        <p:spPr>
          <a:xfrm>
            <a:off x="548640" y="44805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Same day</a:t>
            </a:r>
            <a:endParaRPr lang="en-US" sz="1400" dirty="0"/>
          </a:p>
        </p:txBody>
      </p:sp>
      <p:sp>
        <p:nvSpPr>
          <p:cNvPr id="17" name="what 4"/>
          <p:cNvSpPr txBox="1"/>
          <p:nvPr/>
        </p:nvSpPr>
        <p:spPr>
          <a:xfrm>
            <a:off x="2194560" y="448056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Flows re-pointed if the address changed. Rigs told the address if it changed. Laptop task disabled, script kept.</a:t>
            </a:r>
            <a:endParaRPr lang="en-US" sz="1400" dirty="0"/>
          </a:p>
        </p:txBody>
      </p:sp>
      <p:sp>
        <p:nvSpPr>
          <p:cNvPr id="18" name="when 5"/>
          <p:cNvSpPr/>
          <p:nvPr/>
        </p:nvSpPr>
        <p:spPr>
          <a:xfrm>
            <a:off x="548640" y="5257800"/>
            <a:ext cx="1463040" cy="594360"/>
          </a:xfrm>
          <a:prstGeom prst="roundRect">
            <a:avLst>
              <a:gd name="adj" fmla="val 1230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when text 5"/>
          <p:cNvSpPr txBox="1"/>
          <p:nvPr/>
        </p:nvSpPr>
        <p:spPr>
          <a:xfrm>
            <a:off x="548640" y="52578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Week after</a:t>
            </a:r>
            <a:endParaRPr lang="en-US" sz="1400" dirty="0"/>
          </a:p>
        </p:txBody>
      </p:sp>
      <p:sp>
        <p:nvSpPr>
          <p:cNvPr id="20" name="what 5"/>
          <p:cNvSpPr txBox="1"/>
          <p:nvPr/>
        </p:nvSpPr>
        <p:spPr>
          <a:xfrm>
            <a:off x="2194560" y="52578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Dan's deploy access confirmed, the extract library, HTTPS check from a rig tablet, the role accounts swapped into the flows.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Decisions wanted today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1  Server or web app, and if web app: internet with sign-in, or private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2  The identity: Janzen's two role accounts (requested 17 Oct). Confirm one runs the scanner, or an app registration as well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3  The role accounts' Exchange, Power Automate and Teams licences, and who owns them</a:t>
            </a:r>
            <a:endParaRPr lang="en-US" sz="20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4  The transfer day and the one-hour window with Adam in the room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5  Later, not today: eDocs connector API key (asked of Digital Desk, 17 Oct; Dan's account until the role accounts land), Power BI Pro workspace for the data (Fabric not approved, 17 Oct)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CRED Transfer">
  <a:themeElements>
    <a:clrScheme name="SACRED Transfer">
      <a:dk1>
        <a:srgbClr val="14213D"/>
      </a:dk1>
      <a:lt1>
        <a:srgbClr val="FFFFFF"/>
      </a:lt1>
      <a:dk2>
        <a:srgbClr val="3A4A63"/>
      </a:dk2>
      <a:lt2>
        <a:srgbClr val="EEF2F7"/>
      </a:lt2>
      <a:accent1>
        <a:srgbClr val="0E7C86"/>
      </a:accent1>
      <a:accent2>
        <a:srgbClr val="F4A259"/>
      </a:accent2>
      <a:accent3>
        <a:srgbClr val="8AB6D6"/>
      </a:accent3>
      <a:accent4>
        <a:srgbClr val="C8102E"/>
      </a:accent4>
      <a:accent5>
        <a:srgbClr val="5B8C5A"/>
      </a:accent5>
      <a:accent6>
        <a:srgbClr val="7A6C9F"/>
      </a:accent6>
      <a:hlink>
        <a:srgbClr val="0E7C86"/>
      </a:hlink>
      <a:folHlink>
        <a:srgbClr val="7A6C9F"/>
      </a:folHlink>
    </a:clrScheme>
    <a:fontScheme name="SACRED Transf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SACRED transfer sit-down</dc:title>
  <dc:subject>PptxGenJS Presentation</dc:subject>
  <dc:creator>Dan Plant</dc:creator>
  <cp:lastModifiedBy>Dan Plant</cp:lastModifiedBy>
  <cp:revision>1</cp:revision>
  <dcterms:created xsi:type="dcterms:W3CDTF">2026-10-14T15:30:39Z</dcterms:created>
  <dcterms:modified xsi:type="dcterms:W3CDTF">2026-10-14T15:30:39Z</dcterms:modified>
</cp:coreProperties>
</file>